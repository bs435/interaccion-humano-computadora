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Open Sauce Heavy" charset="1" panose="00000A00000000000000"/>
      <p:regular r:id="rId26"/>
    </p:embeddedFont>
    <p:embeddedFont>
      <p:font typeface="Open Sauce Light" charset="1" panose="00000400000000000000"/>
      <p:regular r:id="rId27"/>
    </p:embeddedFont>
    <p:embeddedFont>
      <p:font typeface="Open Sauce" charset="1" panose="00000500000000000000"/>
      <p:regular r:id="rId28"/>
    </p:embeddedFont>
    <p:embeddedFont>
      <p:font typeface="Open Sauce Bold" charset="1" panose="000008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2" Target="../media/image1.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media/image3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TextBox 3" id="3"/>
          <p:cNvSpPr txBox="true"/>
          <p:nvPr/>
        </p:nvSpPr>
        <p:spPr>
          <a:xfrm rot="0">
            <a:off x="1132972" y="3182993"/>
            <a:ext cx="11656755" cy="5230979"/>
          </a:xfrm>
          <a:prstGeom prst="rect">
            <a:avLst/>
          </a:prstGeom>
        </p:spPr>
        <p:txBody>
          <a:bodyPr anchor="t" rtlCol="false" tIns="0" lIns="0" bIns="0" rIns="0">
            <a:spAutoFit/>
          </a:bodyPr>
          <a:lstStyle/>
          <a:p>
            <a:pPr algn="l">
              <a:lnSpc>
                <a:spcPts val="19673"/>
              </a:lnSpc>
            </a:pPr>
            <a:r>
              <a:rPr lang="en-US" sz="22876" spc="-1075" b="true">
                <a:solidFill>
                  <a:srgbClr val="FFFFFF"/>
                </a:solidFill>
                <a:latin typeface="Open Sauce Heavy"/>
                <a:ea typeface="Open Sauce Heavy"/>
                <a:cs typeface="Open Sauce Heavy"/>
                <a:sym typeface="Open Sauce Heavy"/>
              </a:rPr>
              <a:t>1era </a:t>
            </a:r>
          </a:p>
          <a:p>
            <a:pPr algn="l">
              <a:lnSpc>
                <a:spcPts val="19673"/>
              </a:lnSpc>
            </a:pPr>
            <a:r>
              <a:rPr lang="en-US" sz="22876" spc="-1075" b="true">
                <a:solidFill>
                  <a:srgbClr val="FFFFFF"/>
                </a:solidFill>
                <a:latin typeface="Open Sauce Heavy"/>
                <a:ea typeface="Open Sauce Heavy"/>
                <a:cs typeface="Open Sauce Heavy"/>
                <a:sym typeface="Open Sauce Heavy"/>
              </a:rPr>
              <a:t>Entrega</a:t>
            </a:r>
          </a:p>
        </p:txBody>
      </p:sp>
      <p:grpSp>
        <p:nvGrpSpPr>
          <p:cNvPr name="Group 4" id="4"/>
          <p:cNvGrpSpPr/>
          <p:nvPr/>
        </p:nvGrpSpPr>
        <p:grpSpPr>
          <a:xfrm rot="566727">
            <a:off x="10895260" y="-4368833"/>
            <a:ext cx="11215742" cy="1121574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6" id="6"/>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7" id="7"/>
          <p:cNvGrpSpPr/>
          <p:nvPr/>
        </p:nvGrpSpPr>
        <p:grpSpPr>
          <a:xfrm rot="566727">
            <a:off x="12737741" y="-2526351"/>
            <a:ext cx="7530780" cy="753078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9" id="9"/>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0" id="10"/>
          <p:cNvSpPr txBox="true"/>
          <p:nvPr/>
        </p:nvSpPr>
        <p:spPr>
          <a:xfrm rot="0">
            <a:off x="1132972" y="852689"/>
            <a:ext cx="5168833" cy="372323"/>
          </a:xfrm>
          <a:prstGeom prst="rect">
            <a:avLst/>
          </a:prstGeom>
        </p:spPr>
        <p:txBody>
          <a:bodyPr anchor="t" rtlCol="false" tIns="0" lIns="0" bIns="0" rIns="0">
            <a:spAutoFit/>
          </a:bodyPr>
          <a:lstStyle/>
          <a:p>
            <a:pPr algn="l">
              <a:lnSpc>
                <a:spcPts val="3121"/>
              </a:lnSpc>
            </a:pPr>
            <a:r>
              <a:rPr lang="en-US" sz="2229" spc="-104" b="true">
                <a:solidFill>
                  <a:srgbClr val="FFFFFF"/>
                </a:solidFill>
                <a:latin typeface="Open Sauce Heavy"/>
                <a:ea typeface="Open Sauce Heavy"/>
                <a:cs typeface="Open Sauce Heavy"/>
                <a:sym typeface="Open Sauce Heavy"/>
              </a:rPr>
              <a:t>Interacción Humano Computadora</a:t>
            </a:r>
          </a:p>
        </p:txBody>
      </p:sp>
      <p:sp>
        <p:nvSpPr>
          <p:cNvPr name="TextBox 11" id="11"/>
          <p:cNvSpPr txBox="true"/>
          <p:nvPr/>
        </p:nvSpPr>
        <p:spPr>
          <a:xfrm rot="0">
            <a:off x="1132972" y="1350010"/>
            <a:ext cx="5647751" cy="633209"/>
          </a:xfrm>
          <a:prstGeom prst="rect">
            <a:avLst/>
          </a:prstGeom>
        </p:spPr>
        <p:txBody>
          <a:bodyPr anchor="t" rtlCol="false" tIns="0" lIns="0" bIns="0" rIns="0">
            <a:spAutoFit/>
          </a:bodyPr>
          <a:lstStyle/>
          <a:p>
            <a:pPr algn="l">
              <a:lnSpc>
                <a:spcPts val="5040"/>
              </a:lnSpc>
            </a:pPr>
            <a:r>
              <a:rPr lang="en-US" sz="4000" spc="-224">
                <a:solidFill>
                  <a:srgbClr val="FFFFFF"/>
                </a:solidFill>
                <a:latin typeface="Open Sauce Light"/>
                <a:ea typeface="Open Sauce Light"/>
                <a:cs typeface="Open Sauce Light"/>
                <a:sym typeface="Open Sauce Light"/>
              </a:rPr>
              <a:t>Presentación de Proyecto</a:t>
            </a:r>
          </a:p>
        </p:txBody>
      </p:sp>
      <p:sp>
        <p:nvSpPr>
          <p:cNvPr name="TextBox 12" id="12"/>
          <p:cNvSpPr txBox="true"/>
          <p:nvPr/>
        </p:nvSpPr>
        <p:spPr>
          <a:xfrm rot="0">
            <a:off x="13809146" y="1281739"/>
            <a:ext cx="3450154" cy="318107"/>
          </a:xfrm>
          <a:prstGeom prst="rect">
            <a:avLst/>
          </a:prstGeom>
        </p:spPr>
        <p:txBody>
          <a:bodyPr anchor="t" rtlCol="false" tIns="0" lIns="0" bIns="0" rIns="0">
            <a:spAutoFit/>
          </a:bodyPr>
          <a:lstStyle/>
          <a:p>
            <a:pPr algn="r">
              <a:lnSpc>
                <a:spcPts val="2520"/>
              </a:lnSpc>
            </a:pPr>
            <a:r>
              <a:rPr lang="en-US" sz="2000" spc="-112">
                <a:solidFill>
                  <a:srgbClr val="FFFFFF"/>
                </a:solidFill>
                <a:latin typeface="Open Sauce"/>
                <a:ea typeface="Open Sauce"/>
                <a:cs typeface="Open Sauce"/>
                <a:sym typeface="Open Sauce"/>
              </a:rPr>
              <a:t>2026</a:t>
            </a:r>
          </a:p>
        </p:txBody>
      </p:sp>
      <p:sp>
        <p:nvSpPr>
          <p:cNvPr name="TextBox 13" id="13"/>
          <p:cNvSpPr txBox="true"/>
          <p:nvPr/>
        </p:nvSpPr>
        <p:spPr>
          <a:xfrm rot="0">
            <a:off x="14445008" y="8940193"/>
            <a:ext cx="2814292" cy="318107"/>
          </a:xfrm>
          <a:prstGeom prst="rect">
            <a:avLst/>
          </a:prstGeom>
        </p:spPr>
        <p:txBody>
          <a:bodyPr anchor="t" rtlCol="false" tIns="0" lIns="0" bIns="0" rIns="0">
            <a:spAutoFit/>
          </a:bodyPr>
          <a:lstStyle/>
          <a:p>
            <a:pPr algn="r">
              <a:lnSpc>
                <a:spcPts val="2520"/>
              </a:lnSpc>
            </a:pPr>
            <a:r>
              <a:rPr lang="en-US" sz="2000" spc="-112">
                <a:solidFill>
                  <a:srgbClr val="FFFFFF"/>
                </a:solidFill>
                <a:latin typeface="Open Sauce"/>
                <a:ea typeface="Open Sauce"/>
                <a:cs typeface="Open Sauce"/>
                <a:sym typeface="Open Sauce"/>
              </a:rPr>
              <a:t>26 MAR 2026</a:t>
            </a:r>
          </a:p>
        </p:txBody>
      </p:sp>
      <p:sp>
        <p:nvSpPr>
          <p:cNvPr name="TextBox 14" id="14"/>
          <p:cNvSpPr txBox="true"/>
          <p:nvPr/>
        </p:nvSpPr>
        <p:spPr>
          <a:xfrm rot="0">
            <a:off x="13809146" y="1019175"/>
            <a:ext cx="3450154" cy="281614"/>
          </a:xfrm>
          <a:prstGeom prst="rect">
            <a:avLst/>
          </a:prstGeom>
        </p:spPr>
        <p:txBody>
          <a:bodyPr anchor="t" rtlCol="false" tIns="0" lIns="0" bIns="0" rIns="0">
            <a:spAutoFit/>
          </a:bodyPr>
          <a:lstStyle/>
          <a:p>
            <a:pPr algn="r">
              <a:lnSpc>
                <a:spcPts val="2268"/>
              </a:lnSpc>
            </a:pPr>
            <a:r>
              <a:rPr lang="en-US" b="true" sz="1800" spc="-100">
                <a:solidFill>
                  <a:srgbClr val="FFFFFF"/>
                </a:solidFill>
                <a:latin typeface="Open Sauce Bold"/>
                <a:ea typeface="Open Sauce Bold"/>
                <a:cs typeface="Open Sauce Bold"/>
                <a:sym typeface="Open Sauce Bold"/>
              </a:rPr>
              <a:t>Enero - Junio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TextBox 3" id="3"/>
          <p:cNvSpPr txBox="true"/>
          <p:nvPr/>
        </p:nvSpPr>
        <p:spPr>
          <a:xfrm rot="0">
            <a:off x="1132972" y="2821043"/>
            <a:ext cx="11656755" cy="1442085"/>
          </a:xfrm>
          <a:prstGeom prst="rect">
            <a:avLst/>
          </a:prstGeom>
        </p:spPr>
        <p:txBody>
          <a:bodyPr anchor="t" rtlCol="false" tIns="0" lIns="0" bIns="0" rIns="0">
            <a:spAutoFit/>
          </a:bodyPr>
          <a:lstStyle/>
          <a:p>
            <a:pPr algn="l">
              <a:lnSpc>
                <a:spcPts val="10320"/>
              </a:lnSpc>
            </a:pPr>
            <a:r>
              <a:rPr lang="en-US" sz="12000" spc="-564" b="true">
                <a:solidFill>
                  <a:srgbClr val="FFFFFF"/>
                </a:solidFill>
                <a:latin typeface="Open Sauce Bold"/>
                <a:ea typeface="Open Sauce Bold"/>
                <a:cs typeface="Open Sauce Bold"/>
                <a:sym typeface="Open Sauce Bold"/>
              </a:rPr>
              <a:t>Integrantes:</a:t>
            </a:r>
          </a:p>
        </p:txBody>
      </p:sp>
      <p:grpSp>
        <p:nvGrpSpPr>
          <p:cNvPr name="Group 4" id="4"/>
          <p:cNvGrpSpPr/>
          <p:nvPr/>
        </p:nvGrpSpPr>
        <p:grpSpPr>
          <a:xfrm rot="566727">
            <a:off x="10895260" y="-4368833"/>
            <a:ext cx="11215742" cy="1121574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6" id="6"/>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7" id="7"/>
          <p:cNvGrpSpPr/>
          <p:nvPr/>
        </p:nvGrpSpPr>
        <p:grpSpPr>
          <a:xfrm rot="566727">
            <a:off x="12737741" y="-2526351"/>
            <a:ext cx="7530780" cy="753078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9" id="9"/>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0" id="10"/>
          <p:cNvSpPr txBox="true"/>
          <p:nvPr/>
        </p:nvSpPr>
        <p:spPr>
          <a:xfrm rot="0">
            <a:off x="1132972" y="852689"/>
            <a:ext cx="5168833" cy="372323"/>
          </a:xfrm>
          <a:prstGeom prst="rect">
            <a:avLst/>
          </a:prstGeom>
        </p:spPr>
        <p:txBody>
          <a:bodyPr anchor="t" rtlCol="false" tIns="0" lIns="0" bIns="0" rIns="0">
            <a:spAutoFit/>
          </a:bodyPr>
          <a:lstStyle/>
          <a:p>
            <a:pPr algn="l">
              <a:lnSpc>
                <a:spcPts val="3121"/>
              </a:lnSpc>
            </a:pPr>
            <a:r>
              <a:rPr lang="en-US" sz="2229" spc="-104" b="true">
                <a:solidFill>
                  <a:srgbClr val="FFFFFF"/>
                </a:solidFill>
                <a:latin typeface="Open Sauce Heavy"/>
                <a:ea typeface="Open Sauce Heavy"/>
                <a:cs typeface="Open Sauce Heavy"/>
                <a:sym typeface="Open Sauce Heavy"/>
              </a:rPr>
              <a:t>Interacción Humano Computadora</a:t>
            </a:r>
          </a:p>
        </p:txBody>
      </p:sp>
      <p:sp>
        <p:nvSpPr>
          <p:cNvPr name="TextBox 11" id="11"/>
          <p:cNvSpPr txBox="true"/>
          <p:nvPr/>
        </p:nvSpPr>
        <p:spPr>
          <a:xfrm rot="0">
            <a:off x="1132972" y="1350010"/>
            <a:ext cx="5647751" cy="633209"/>
          </a:xfrm>
          <a:prstGeom prst="rect">
            <a:avLst/>
          </a:prstGeom>
        </p:spPr>
        <p:txBody>
          <a:bodyPr anchor="t" rtlCol="false" tIns="0" lIns="0" bIns="0" rIns="0">
            <a:spAutoFit/>
          </a:bodyPr>
          <a:lstStyle/>
          <a:p>
            <a:pPr algn="l">
              <a:lnSpc>
                <a:spcPts val="5040"/>
              </a:lnSpc>
            </a:pPr>
            <a:r>
              <a:rPr lang="en-US" sz="4000" spc="-224">
                <a:solidFill>
                  <a:srgbClr val="FFFFFF"/>
                </a:solidFill>
                <a:latin typeface="Open Sauce Light"/>
                <a:ea typeface="Open Sauce Light"/>
                <a:cs typeface="Open Sauce Light"/>
                <a:sym typeface="Open Sauce Light"/>
              </a:rPr>
              <a:t>Presentación de Proyecto</a:t>
            </a:r>
          </a:p>
        </p:txBody>
      </p:sp>
      <p:sp>
        <p:nvSpPr>
          <p:cNvPr name="TextBox 12" id="12"/>
          <p:cNvSpPr txBox="true"/>
          <p:nvPr/>
        </p:nvSpPr>
        <p:spPr>
          <a:xfrm rot="0">
            <a:off x="13809146" y="1281739"/>
            <a:ext cx="3450154" cy="318107"/>
          </a:xfrm>
          <a:prstGeom prst="rect">
            <a:avLst/>
          </a:prstGeom>
        </p:spPr>
        <p:txBody>
          <a:bodyPr anchor="t" rtlCol="false" tIns="0" lIns="0" bIns="0" rIns="0">
            <a:spAutoFit/>
          </a:bodyPr>
          <a:lstStyle/>
          <a:p>
            <a:pPr algn="r">
              <a:lnSpc>
                <a:spcPts val="2520"/>
              </a:lnSpc>
            </a:pPr>
            <a:r>
              <a:rPr lang="en-US" sz="2000" spc="-112">
                <a:solidFill>
                  <a:srgbClr val="FFFFFF"/>
                </a:solidFill>
                <a:latin typeface="Open Sauce"/>
                <a:ea typeface="Open Sauce"/>
                <a:cs typeface="Open Sauce"/>
                <a:sym typeface="Open Sauce"/>
              </a:rPr>
              <a:t>2026</a:t>
            </a:r>
          </a:p>
        </p:txBody>
      </p:sp>
      <p:sp>
        <p:nvSpPr>
          <p:cNvPr name="TextBox 13" id="13"/>
          <p:cNvSpPr txBox="true"/>
          <p:nvPr/>
        </p:nvSpPr>
        <p:spPr>
          <a:xfrm rot="0">
            <a:off x="14445008" y="8940193"/>
            <a:ext cx="2814292" cy="318107"/>
          </a:xfrm>
          <a:prstGeom prst="rect">
            <a:avLst/>
          </a:prstGeom>
        </p:spPr>
        <p:txBody>
          <a:bodyPr anchor="t" rtlCol="false" tIns="0" lIns="0" bIns="0" rIns="0">
            <a:spAutoFit/>
          </a:bodyPr>
          <a:lstStyle/>
          <a:p>
            <a:pPr algn="r">
              <a:lnSpc>
                <a:spcPts val="2520"/>
              </a:lnSpc>
            </a:pPr>
            <a:r>
              <a:rPr lang="en-US" sz="2000" spc="-112">
                <a:solidFill>
                  <a:srgbClr val="FFFFFF"/>
                </a:solidFill>
                <a:latin typeface="Open Sauce"/>
                <a:ea typeface="Open Sauce"/>
                <a:cs typeface="Open Sauce"/>
                <a:sym typeface="Open Sauce"/>
              </a:rPr>
              <a:t>26 MAR 2026</a:t>
            </a:r>
          </a:p>
        </p:txBody>
      </p:sp>
      <p:sp>
        <p:nvSpPr>
          <p:cNvPr name="TextBox 14" id="14"/>
          <p:cNvSpPr txBox="true"/>
          <p:nvPr/>
        </p:nvSpPr>
        <p:spPr>
          <a:xfrm rot="0">
            <a:off x="13809146" y="1019175"/>
            <a:ext cx="3450154" cy="281614"/>
          </a:xfrm>
          <a:prstGeom prst="rect">
            <a:avLst/>
          </a:prstGeom>
        </p:spPr>
        <p:txBody>
          <a:bodyPr anchor="t" rtlCol="false" tIns="0" lIns="0" bIns="0" rIns="0">
            <a:spAutoFit/>
          </a:bodyPr>
          <a:lstStyle/>
          <a:p>
            <a:pPr algn="r">
              <a:lnSpc>
                <a:spcPts val="2268"/>
              </a:lnSpc>
            </a:pPr>
            <a:r>
              <a:rPr lang="en-US" b="true" sz="1800" spc="-100">
                <a:solidFill>
                  <a:srgbClr val="FFFFFF"/>
                </a:solidFill>
                <a:latin typeface="Open Sauce Bold"/>
                <a:ea typeface="Open Sauce Bold"/>
                <a:cs typeface="Open Sauce Bold"/>
                <a:sym typeface="Open Sauce Bold"/>
              </a:rPr>
              <a:t>Enero - Junio</a:t>
            </a:r>
          </a:p>
        </p:txBody>
      </p:sp>
      <p:sp>
        <p:nvSpPr>
          <p:cNvPr name="TextBox 15" id="15"/>
          <p:cNvSpPr txBox="true"/>
          <p:nvPr/>
        </p:nvSpPr>
        <p:spPr>
          <a:xfrm rot="0">
            <a:off x="893514" y="5240419"/>
            <a:ext cx="10352070" cy="3188964"/>
          </a:xfrm>
          <a:prstGeom prst="rect">
            <a:avLst/>
          </a:prstGeom>
        </p:spPr>
        <p:txBody>
          <a:bodyPr anchor="t" rtlCol="false" tIns="0" lIns="0" bIns="0" rIns="0">
            <a:spAutoFit/>
          </a:bodyPr>
          <a:lstStyle/>
          <a:p>
            <a:pPr algn="l" marL="863765" indent="-431882" lvl="1">
              <a:lnSpc>
                <a:spcPts val="5040"/>
              </a:lnSpc>
              <a:buFont typeface="Arial"/>
              <a:buChar char="•"/>
            </a:pPr>
            <a:r>
              <a:rPr lang="en-US" sz="4000" spc="-224">
                <a:solidFill>
                  <a:srgbClr val="FFFFFF"/>
                </a:solidFill>
                <a:latin typeface="Open Sauce Light"/>
                <a:ea typeface="Open Sauce Light"/>
                <a:cs typeface="Open Sauce Light"/>
                <a:sym typeface="Open Sauce Light"/>
              </a:rPr>
              <a:t>Aviles Castillo Jesús Alberto</a:t>
            </a:r>
          </a:p>
          <a:p>
            <a:pPr algn="l" marL="863765" indent="-431882" lvl="1">
              <a:lnSpc>
                <a:spcPts val="5040"/>
              </a:lnSpc>
              <a:buFont typeface="Arial"/>
              <a:buChar char="•"/>
            </a:pPr>
            <a:r>
              <a:rPr lang="en-US" sz="4000" spc="-224">
                <a:solidFill>
                  <a:srgbClr val="FFFFFF"/>
                </a:solidFill>
                <a:latin typeface="Open Sauce Light"/>
                <a:ea typeface="Open Sauce Light"/>
                <a:cs typeface="Open Sauce Light"/>
                <a:sym typeface="Open Sauce Light"/>
              </a:rPr>
              <a:t>Loria Pech Rubén Moises</a:t>
            </a:r>
          </a:p>
          <a:p>
            <a:pPr algn="l" marL="863765" indent="-431882" lvl="1">
              <a:lnSpc>
                <a:spcPts val="5040"/>
              </a:lnSpc>
              <a:buFont typeface="Arial"/>
              <a:buChar char="•"/>
            </a:pPr>
            <a:r>
              <a:rPr lang="en-US" sz="4000" spc="-224">
                <a:solidFill>
                  <a:srgbClr val="FFFFFF"/>
                </a:solidFill>
                <a:latin typeface="Open Sauce Light"/>
                <a:ea typeface="Open Sauce Light"/>
                <a:cs typeface="Open Sauce Light"/>
                <a:sym typeface="Open Sauce Light"/>
              </a:rPr>
              <a:t>Maldonado Medina Hansony de Jesús</a:t>
            </a:r>
          </a:p>
          <a:p>
            <a:pPr algn="l" marL="863765" indent="-431882" lvl="1">
              <a:lnSpc>
                <a:spcPts val="5040"/>
              </a:lnSpc>
              <a:buFont typeface="Arial"/>
              <a:buChar char="•"/>
            </a:pPr>
            <a:r>
              <a:rPr lang="en-US" sz="4000" spc="-224">
                <a:solidFill>
                  <a:srgbClr val="FFFFFF"/>
                </a:solidFill>
                <a:latin typeface="Open Sauce Light"/>
                <a:ea typeface="Open Sauce Light"/>
                <a:cs typeface="Open Sauce Light"/>
                <a:sym typeface="Open Sauce Light"/>
              </a:rPr>
              <a:t>Montero Uc José Francisco</a:t>
            </a:r>
          </a:p>
          <a:p>
            <a:pPr algn="l" marL="863765" indent="-431882" lvl="1">
              <a:lnSpc>
                <a:spcPts val="5040"/>
              </a:lnSpc>
              <a:buFont typeface="Arial"/>
              <a:buChar char="•"/>
            </a:pPr>
            <a:r>
              <a:rPr lang="en-US" sz="4000" spc="-224">
                <a:solidFill>
                  <a:srgbClr val="FFFFFF"/>
                </a:solidFill>
                <a:latin typeface="Open Sauce Light"/>
                <a:ea typeface="Open Sauce Light"/>
                <a:cs typeface="Open Sauce Light"/>
                <a:sym typeface="Open Sauce Light"/>
              </a:rPr>
              <a:t>Suárez Balam Brandon Emmanuel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549479" y="1785623"/>
            <a:ext cx="6490960" cy="6276107"/>
            <a:chOff x="0" y="0"/>
            <a:chExt cx="1399869" cy="1353533"/>
          </a:xfrm>
        </p:grpSpPr>
        <p:sp>
          <p:nvSpPr>
            <p:cNvPr name="Freeform 4" id="4"/>
            <p:cNvSpPr/>
            <p:nvPr/>
          </p:nvSpPr>
          <p:spPr>
            <a:xfrm flipH="false" flipV="false" rot="0">
              <a:off x="0" y="0"/>
              <a:ext cx="1399869" cy="1353533"/>
            </a:xfrm>
            <a:custGeom>
              <a:avLst/>
              <a:gdLst/>
              <a:ahLst/>
              <a:cxnLst/>
              <a:rect r="r" b="b" t="t" l="l"/>
              <a:pathLst>
                <a:path h="1353533" w="1399869">
                  <a:moveTo>
                    <a:pt x="47709" y="0"/>
                  </a:moveTo>
                  <a:lnTo>
                    <a:pt x="1352160" y="0"/>
                  </a:lnTo>
                  <a:cubicBezTo>
                    <a:pt x="1364814" y="0"/>
                    <a:pt x="1376949" y="5026"/>
                    <a:pt x="1385896" y="13974"/>
                  </a:cubicBezTo>
                  <a:cubicBezTo>
                    <a:pt x="1394843" y="22921"/>
                    <a:pt x="1399869" y="35056"/>
                    <a:pt x="1399869" y="47709"/>
                  </a:cubicBezTo>
                  <a:lnTo>
                    <a:pt x="1399869" y="1305824"/>
                  </a:lnTo>
                  <a:cubicBezTo>
                    <a:pt x="1399869" y="1318477"/>
                    <a:pt x="1394843" y="1330612"/>
                    <a:pt x="1385896" y="1339559"/>
                  </a:cubicBezTo>
                  <a:cubicBezTo>
                    <a:pt x="1376949" y="1348507"/>
                    <a:pt x="1364814" y="1353533"/>
                    <a:pt x="1352160" y="1353533"/>
                  </a:cubicBezTo>
                  <a:lnTo>
                    <a:pt x="47709" y="1353533"/>
                  </a:lnTo>
                  <a:cubicBezTo>
                    <a:pt x="21360" y="1353533"/>
                    <a:pt x="0" y="1332173"/>
                    <a:pt x="0" y="1305824"/>
                  </a:cubicBezTo>
                  <a:lnTo>
                    <a:pt x="0" y="47709"/>
                  </a:lnTo>
                  <a:cubicBezTo>
                    <a:pt x="0" y="35056"/>
                    <a:pt x="5026" y="22921"/>
                    <a:pt x="13974" y="13974"/>
                  </a:cubicBezTo>
                  <a:cubicBezTo>
                    <a:pt x="22921" y="5026"/>
                    <a:pt x="35056" y="0"/>
                    <a:pt x="47709" y="0"/>
                  </a:cubicBezTo>
                  <a:close/>
                </a:path>
              </a:pathLst>
            </a:custGeom>
            <a:blipFill>
              <a:blip r:embed="rId3"/>
              <a:stretch>
                <a:fillRect l="-3791" t="0" r="-3791" b="0"/>
              </a:stretch>
            </a:blipFill>
            <a:ln w="19050" cap="rnd">
              <a:solidFill>
                <a:srgbClr val="FFFFFF"/>
              </a:solidFill>
              <a:prstDash val="solid"/>
              <a:round/>
            </a:ln>
          </p:spPr>
        </p:sp>
      </p:grpSp>
      <p:sp>
        <p:nvSpPr>
          <p:cNvPr name="Freeform 5" id="5"/>
          <p:cNvSpPr/>
          <p:nvPr/>
        </p:nvSpPr>
        <p:spPr>
          <a:xfrm flipH="false" flipV="true" rot="-5400000">
            <a:off x="2956852" y="6991105"/>
            <a:ext cx="4029852" cy="798643"/>
          </a:xfrm>
          <a:custGeom>
            <a:avLst/>
            <a:gdLst/>
            <a:ahLst/>
            <a:cxnLst/>
            <a:rect r="r" b="b" t="t" l="l"/>
            <a:pathLst>
              <a:path h="798643" w="4029852">
                <a:moveTo>
                  <a:pt x="0" y="798643"/>
                </a:moveTo>
                <a:lnTo>
                  <a:pt x="4029852" y="798643"/>
                </a:lnTo>
                <a:lnTo>
                  <a:pt x="4029852" y="0"/>
                </a:lnTo>
                <a:lnTo>
                  <a:pt x="0" y="0"/>
                </a:lnTo>
                <a:lnTo>
                  <a:pt x="0" y="798643"/>
                </a:lnTo>
                <a:close/>
              </a:path>
            </a:pathLst>
          </a:custGeom>
          <a:blipFill>
            <a:blip r:embed="rId4">
              <a:alphaModFix amt="56000"/>
            </a:blip>
            <a:stretch>
              <a:fillRect l="0" t="0" r="0" b="0"/>
            </a:stretch>
          </a:blipFill>
        </p:spPr>
      </p:sp>
      <p:grpSp>
        <p:nvGrpSpPr>
          <p:cNvPr name="Group 6" id="6"/>
          <p:cNvGrpSpPr/>
          <p:nvPr/>
        </p:nvGrpSpPr>
        <p:grpSpPr>
          <a:xfrm rot="-9278497">
            <a:off x="12218214" y="-6527792"/>
            <a:ext cx="9966661" cy="99666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8" id="8"/>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9" id="9"/>
          <p:cNvGrpSpPr/>
          <p:nvPr/>
        </p:nvGrpSpPr>
        <p:grpSpPr>
          <a:xfrm rot="-9278497">
            <a:off x="14620041" y="-3792460"/>
            <a:ext cx="5213104" cy="521310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2" id="12"/>
          <p:cNvSpPr txBox="true"/>
          <p:nvPr/>
        </p:nvSpPr>
        <p:spPr>
          <a:xfrm rot="0">
            <a:off x="8204956" y="442130"/>
            <a:ext cx="10083044" cy="3241795"/>
          </a:xfrm>
          <a:prstGeom prst="rect">
            <a:avLst/>
          </a:prstGeom>
        </p:spPr>
        <p:txBody>
          <a:bodyPr anchor="t" rtlCol="false" tIns="0" lIns="0" bIns="0" rIns="0">
            <a:spAutoFit/>
          </a:bodyPr>
          <a:lstStyle/>
          <a:p>
            <a:pPr algn="l">
              <a:lnSpc>
                <a:spcPts val="12711"/>
              </a:lnSpc>
            </a:pPr>
            <a:r>
              <a:rPr lang="en-US" b="true" sz="10864" spc="-456">
                <a:solidFill>
                  <a:srgbClr val="FFFFFF"/>
                </a:solidFill>
                <a:latin typeface="Open Sauce Bold"/>
                <a:ea typeface="Open Sauce Bold"/>
                <a:cs typeface="Open Sauce Bold"/>
                <a:sym typeface="Open Sauce Bold"/>
              </a:rPr>
              <a:t>Descripción Kitchen Magic</a:t>
            </a:r>
          </a:p>
        </p:txBody>
      </p:sp>
      <p:sp>
        <p:nvSpPr>
          <p:cNvPr name="TextBox 13" id="13"/>
          <p:cNvSpPr txBox="true"/>
          <p:nvPr/>
        </p:nvSpPr>
        <p:spPr>
          <a:xfrm rot="0">
            <a:off x="7879243" y="4563199"/>
            <a:ext cx="9164406" cy="3306827"/>
          </a:xfrm>
          <a:prstGeom prst="rect">
            <a:avLst/>
          </a:prstGeom>
        </p:spPr>
        <p:txBody>
          <a:bodyPr anchor="t" rtlCol="false" tIns="0" lIns="0" bIns="0" rIns="0">
            <a:spAutoFit/>
          </a:bodyPr>
          <a:lstStyle/>
          <a:p>
            <a:pPr algn="l">
              <a:lnSpc>
                <a:spcPts val="4351"/>
              </a:lnSpc>
            </a:pPr>
            <a:r>
              <a:rPr lang="en-US" sz="3199" spc="-73">
                <a:solidFill>
                  <a:srgbClr val="FFFFFF"/>
                </a:solidFill>
                <a:latin typeface="Open Sauce Light"/>
                <a:ea typeface="Open Sauce Light"/>
                <a:cs typeface="Open Sauce Light"/>
                <a:sym typeface="Open Sauce Light"/>
              </a:rPr>
              <a:t>Es una aplicación móvil interactiva que ayuda a las personas a decidir qué cocinar basándose en los ingredientes que tienen en su refrigerador en ese momento. Es la herramienta ideal para quienes buscan variedad, rapidez y una guía que nunca los deje solos frente a la estufa.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9278497">
            <a:off x="12218214" y="-6527792"/>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4620041" y="-3792460"/>
            <a:ext cx="5213104" cy="52131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9" id="9"/>
          <p:cNvSpPr/>
          <p:nvPr/>
        </p:nvSpPr>
        <p:spPr>
          <a:xfrm flipH="false" flipV="false" rot="0">
            <a:off x="11827414" y="6547447"/>
            <a:ext cx="5841842" cy="3355112"/>
          </a:xfrm>
          <a:custGeom>
            <a:avLst/>
            <a:gdLst/>
            <a:ahLst/>
            <a:cxnLst/>
            <a:rect r="r" b="b" t="t" l="l"/>
            <a:pathLst>
              <a:path h="3355112" w="5841842">
                <a:moveTo>
                  <a:pt x="0" y="0"/>
                </a:moveTo>
                <a:lnTo>
                  <a:pt x="5841842" y="0"/>
                </a:lnTo>
                <a:lnTo>
                  <a:pt x="5841842" y="3355112"/>
                </a:lnTo>
                <a:lnTo>
                  <a:pt x="0" y="3355112"/>
                </a:lnTo>
                <a:lnTo>
                  <a:pt x="0" y="0"/>
                </a:lnTo>
                <a:close/>
              </a:path>
            </a:pathLst>
          </a:custGeom>
          <a:blipFill>
            <a:blip r:embed="rId3"/>
            <a:stretch>
              <a:fillRect l="0" t="0" r="0" b="0"/>
            </a:stretch>
          </a:blipFill>
        </p:spPr>
      </p:sp>
      <p:sp>
        <p:nvSpPr>
          <p:cNvPr name="TextBox 10" id="10"/>
          <p:cNvSpPr txBox="true"/>
          <p:nvPr/>
        </p:nvSpPr>
        <p:spPr>
          <a:xfrm rot="0">
            <a:off x="4911958" y="222190"/>
            <a:ext cx="10083044" cy="1632070"/>
          </a:xfrm>
          <a:prstGeom prst="rect">
            <a:avLst/>
          </a:prstGeom>
        </p:spPr>
        <p:txBody>
          <a:bodyPr anchor="t" rtlCol="false" tIns="0" lIns="0" bIns="0" rIns="0">
            <a:spAutoFit/>
          </a:bodyPr>
          <a:lstStyle/>
          <a:p>
            <a:pPr algn="l">
              <a:lnSpc>
                <a:spcPts val="12711"/>
              </a:lnSpc>
            </a:pPr>
            <a:r>
              <a:rPr lang="en-US" b="true" sz="10864" spc="-456">
                <a:solidFill>
                  <a:srgbClr val="FFFFFF"/>
                </a:solidFill>
                <a:latin typeface="Open Sauce Bold"/>
                <a:ea typeface="Open Sauce Bold"/>
                <a:cs typeface="Open Sauce Bold"/>
                <a:sym typeface="Open Sauce Bold"/>
              </a:rPr>
              <a:t>Justificación</a:t>
            </a:r>
          </a:p>
        </p:txBody>
      </p:sp>
      <p:sp>
        <p:nvSpPr>
          <p:cNvPr name="TextBox 11" id="11"/>
          <p:cNvSpPr txBox="true"/>
          <p:nvPr/>
        </p:nvSpPr>
        <p:spPr>
          <a:xfrm rot="0">
            <a:off x="662303" y="1973925"/>
            <a:ext cx="17364321" cy="5377180"/>
          </a:xfrm>
          <a:prstGeom prst="rect">
            <a:avLst/>
          </a:prstGeom>
        </p:spPr>
        <p:txBody>
          <a:bodyPr anchor="t" rtlCol="false" tIns="0" lIns="0" bIns="0" rIns="0">
            <a:spAutoFit/>
          </a:bodyPr>
          <a:lstStyle/>
          <a:p>
            <a:pPr algn="l">
              <a:lnSpc>
                <a:spcPts val="4760"/>
              </a:lnSpc>
            </a:pPr>
            <a:r>
              <a:rPr lang="en-US" sz="3500" spc="-80">
                <a:solidFill>
                  <a:srgbClr val="FFFFFF"/>
                </a:solidFill>
                <a:latin typeface="Open Sauce Light"/>
                <a:ea typeface="Open Sauce Light"/>
                <a:cs typeface="Open Sauce Light"/>
                <a:sym typeface="Open Sauce Light"/>
              </a:rPr>
              <a:t>Kitchen Magic surge de la necesidad de cerrar la brecha entre la disponibilidad de recursos alimentarios en el hogar y la capacidad del usuario para transformarlos en una comida saludable y eficiente</a:t>
            </a:r>
          </a:p>
          <a:p>
            <a:pPr algn="l">
              <a:lnSpc>
                <a:spcPts val="4760"/>
              </a:lnSpc>
            </a:pPr>
          </a:p>
          <a:p>
            <a:pPr algn="l">
              <a:lnSpc>
                <a:spcPts val="4760"/>
              </a:lnSpc>
            </a:pPr>
            <a:r>
              <a:rPr lang="en-US" sz="3500" spc="-80">
                <a:solidFill>
                  <a:srgbClr val="FFFFFF"/>
                </a:solidFill>
                <a:latin typeface="Open Sauce Light"/>
                <a:ea typeface="Open Sauce Light"/>
                <a:cs typeface="Open Sauce Light"/>
                <a:sym typeface="Open Sauce Light"/>
              </a:rPr>
              <a:t>En un enfoque social, la aplicación aborda dos pilares fundamentales:</a:t>
            </a:r>
          </a:p>
          <a:p>
            <a:pPr algn="l">
              <a:lnSpc>
                <a:spcPts val="4760"/>
              </a:lnSpc>
            </a:pPr>
          </a:p>
          <a:p>
            <a:pPr algn="l" marL="755651" indent="-377825" lvl="1">
              <a:lnSpc>
                <a:spcPts val="4760"/>
              </a:lnSpc>
              <a:buFont typeface="Arial"/>
              <a:buChar char="•"/>
            </a:pPr>
            <a:r>
              <a:rPr lang="en-US" sz="3500" spc="-80">
                <a:solidFill>
                  <a:srgbClr val="FFFFFF"/>
                </a:solidFill>
                <a:latin typeface="Open Sauce Light"/>
                <a:ea typeface="Open Sauce Light"/>
                <a:cs typeface="Open Sauce Light"/>
                <a:sym typeface="Open Sauce Light"/>
              </a:rPr>
              <a:t>Sostenibilidad y Reducción del Desperdicio</a:t>
            </a:r>
          </a:p>
          <a:p>
            <a:pPr algn="l">
              <a:lnSpc>
                <a:spcPts val="4760"/>
              </a:lnSpc>
            </a:pPr>
          </a:p>
          <a:p>
            <a:pPr algn="l" marL="755651" indent="-377825" lvl="1">
              <a:lnSpc>
                <a:spcPts val="4760"/>
              </a:lnSpc>
              <a:buFont typeface="Arial"/>
              <a:buChar char="•"/>
            </a:pPr>
            <a:r>
              <a:rPr lang="en-US" sz="3500" spc="-80">
                <a:solidFill>
                  <a:srgbClr val="FFFFFF"/>
                </a:solidFill>
                <a:latin typeface="Open Sauce Light"/>
                <a:ea typeface="Open Sauce Light"/>
                <a:cs typeface="Open Sauce Light"/>
                <a:sym typeface="Open Sauce Light"/>
              </a:rPr>
              <a:t>Educación y Salud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sp>
        <p:nvSpPr>
          <p:cNvPr name="Freeform 3" id="3"/>
          <p:cNvSpPr/>
          <p:nvPr/>
        </p:nvSpPr>
        <p:spPr>
          <a:xfrm flipH="false" flipV="false" rot="0">
            <a:off x="1920057" y="6208710"/>
            <a:ext cx="3522995" cy="3369265"/>
          </a:xfrm>
          <a:custGeom>
            <a:avLst/>
            <a:gdLst/>
            <a:ahLst/>
            <a:cxnLst/>
            <a:rect r="r" b="b" t="t" l="l"/>
            <a:pathLst>
              <a:path h="3369265" w="3522995">
                <a:moveTo>
                  <a:pt x="0" y="0"/>
                </a:moveTo>
                <a:lnTo>
                  <a:pt x="3522995" y="0"/>
                </a:lnTo>
                <a:lnTo>
                  <a:pt x="3522995" y="3369265"/>
                </a:lnTo>
                <a:lnTo>
                  <a:pt x="0" y="3369265"/>
                </a:lnTo>
                <a:lnTo>
                  <a:pt x="0" y="0"/>
                </a:lnTo>
                <a:close/>
              </a:path>
            </a:pathLst>
          </a:custGeom>
          <a:blipFill>
            <a:blip r:embed="rId3"/>
            <a:stretch>
              <a:fillRect l="0" t="0" r="0" b="0"/>
            </a:stretch>
          </a:blipFill>
        </p:spPr>
      </p:sp>
      <p:sp>
        <p:nvSpPr>
          <p:cNvPr name="Freeform 4" id="4"/>
          <p:cNvSpPr/>
          <p:nvPr/>
        </p:nvSpPr>
        <p:spPr>
          <a:xfrm flipH="false" flipV="false" rot="0">
            <a:off x="10956367" y="2323363"/>
            <a:ext cx="4008517" cy="3644106"/>
          </a:xfrm>
          <a:custGeom>
            <a:avLst/>
            <a:gdLst/>
            <a:ahLst/>
            <a:cxnLst/>
            <a:rect r="r" b="b" t="t" l="l"/>
            <a:pathLst>
              <a:path h="3644106" w="4008517">
                <a:moveTo>
                  <a:pt x="0" y="0"/>
                </a:moveTo>
                <a:lnTo>
                  <a:pt x="4008517" y="0"/>
                </a:lnTo>
                <a:lnTo>
                  <a:pt x="4008517" y="3644106"/>
                </a:lnTo>
                <a:lnTo>
                  <a:pt x="0" y="3644106"/>
                </a:lnTo>
                <a:lnTo>
                  <a:pt x="0" y="0"/>
                </a:lnTo>
                <a:close/>
              </a:path>
            </a:pathLst>
          </a:custGeom>
          <a:blipFill>
            <a:blip r:embed="rId4"/>
            <a:stretch>
              <a:fillRect l="0" t="0" r="0" b="0"/>
            </a:stretch>
          </a:blipFill>
        </p:spPr>
      </p:sp>
      <p:sp>
        <p:nvSpPr>
          <p:cNvPr name="TextBox 5" id="5"/>
          <p:cNvSpPr txBox="true"/>
          <p:nvPr/>
        </p:nvSpPr>
        <p:spPr>
          <a:xfrm rot="0">
            <a:off x="786391" y="468168"/>
            <a:ext cx="16230600" cy="1206750"/>
          </a:xfrm>
          <a:prstGeom prst="rect">
            <a:avLst/>
          </a:prstGeom>
        </p:spPr>
        <p:txBody>
          <a:bodyPr anchor="t" rtlCol="false" tIns="0" lIns="0" bIns="0" rIns="0">
            <a:spAutoFit/>
          </a:bodyPr>
          <a:lstStyle/>
          <a:p>
            <a:pPr algn="l">
              <a:lnSpc>
                <a:spcPts val="8668"/>
              </a:lnSpc>
            </a:pPr>
            <a:r>
              <a:rPr lang="en-US" sz="10079" spc="-473" b="true">
                <a:solidFill>
                  <a:srgbClr val="FFFFFF"/>
                </a:solidFill>
                <a:latin typeface="Open Sauce Bold"/>
                <a:ea typeface="Open Sauce Bold"/>
                <a:cs typeface="Open Sauce Bold"/>
                <a:sym typeface="Open Sauce Bold"/>
              </a:rPr>
              <a:t>Funcionalidades Generales</a:t>
            </a:r>
          </a:p>
        </p:txBody>
      </p:sp>
      <p:sp>
        <p:nvSpPr>
          <p:cNvPr name="TextBox 6" id="6"/>
          <p:cNvSpPr txBox="true"/>
          <p:nvPr/>
        </p:nvSpPr>
        <p:spPr>
          <a:xfrm rot="0">
            <a:off x="403496" y="1958632"/>
            <a:ext cx="8929691" cy="3344645"/>
          </a:xfrm>
          <a:prstGeom prst="rect">
            <a:avLst/>
          </a:prstGeom>
        </p:spPr>
        <p:txBody>
          <a:bodyPr anchor="t" rtlCol="false" tIns="0" lIns="0" bIns="0" rIns="0">
            <a:spAutoFit/>
          </a:bodyPr>
          <a:lstStyle/>
          <a:p>
            <a:pPr algn="l" marL="530183" indent="-265092" lvl="1">
              <a:lnSpc>
                <a:spcPts val="3339"/>
              </a:lnSpc>
              <a:buAutoNum type="arabicPeriod" startAt="1"/>
            </a:pPr>
            <a:r>
              <a:rPr lang="en-US" sz="2455" spc="-56">
                <a:solidFill>
                  <a:srgbClr val="FFFFFF"/>
                </a:solidFill>
                <a:latin typeface="Open Sauce Light"/>
                <a:ea typeface="Open Sauce Light"/>
                <a:cs typeface="Open Sauce Light"/>
                <a:sym typeface="Open Sauce Light"/>
              </a:rPr>
              <a:t>Gestión de Inventario y Parámetros de Búsqueda</a:t>
            </a:r>
          </a:p>
          <a:p>
            <a:pPr algn="l" marL="530183" indent="-265092" lvl="1">
              <a:lnSpc>
                <a:spcPts val="3339"/>
              </a:lnSpc>
              <a:buFont typeface="Arial"/>
              <a:buChar char="•"/>
            </a:pPr>
            <a:r>
              <a:rPr lang="en-US" sz="2455" spc="-56">
                <a:solidFill>
                  <a:srgbClr val="FFFFFF"/>
                </a:solidFill>
                <a:latin typeface="Open Sauce Light"/>
                <a:ea typeface="Open Sauce Light"/>
                <a:cs typeface="Open Sauce Light"/>
                <a:sym typeface="Open Sauce Light"/>
              </a:rPr>
              <a:t>F1. Registro manual de insumos.</a:t>
            </a:r>
          </a:p>
          <a:p>
            <a:pPr algn="l" marL="530183" indent="-265092" lvl="1">
              <a:lnSpc>
                <a:spcPts val="3339"/>
              </a:lnSpc>
              <a:buFont typeface="Arial"/>
              <a:buChar char="•"/>
            </a:pPr>
            <a:r>
              <a:rPr lang="en-US" sz="2455" spc="-56">
                <a:solidFill>
                  <a:srgbClr val="FFFFFF"/>
                </a:solidFill>
                <a:latin typeface="Open Sauce Light"/>
                <a:ea typeface="Open Sauce Light"/>
                <a:cs typeface="Open Sauce Light"/>
                <a:sym typeface="Open Sauce Light"/>
              </a:rPr>
              <a:t>F2. Selección de ingredientes para emparejamiento.</a:t>
            </a:r>
          </a:p>
          <a:p>
            <a:pPr algn="l" marL="530183" indent="-265092" lvl="1">
              <a:lnSpc>
                <a:spcPts val="3339"/>
              </a:lnSpc>
              <a:buFont typeface="Arial"/>
              <a:buChar char="•"/>
            </a:pPr>
            <a:r>
              <a:rPr lang="en-US" sz="2455" spc="-56">
                <a:solidFill>
                  <a:srgbClr val="FFFFFF"/>
                </a:solidFill>
                <a:latin typeface="Open Sauce Light"/>
                <a:ea typeface="Open Sauce Light"/>
                <a:cs typeface="Open Sauce Light"/>
                <a:sym typeface="Open Sauce Light"/>
              </a:rPr>
              <a:t>F3. Filtro de tiempo de preparación.</a:t>
            </a:r>
          </a:p>
          <a:p>
            <a:pPr algn="l" marL="530183" indent="-265092" lvl="1">
              <a:lnSpc>
                <a:spcPts val="3339"/>
              </a:lnSpc>
              <a:buAutoNum type="arabicPeriod" startAt="1"/>
            </a:pPr>
            <a:r>
              <a:rPr lang="en-US" sz="2455" spc="-56">
                <a:solidFill>
                  <a:srgbClr val="FFFFFF"/>
                </a:solidFill>
                <a:latin typeface="Open Sauce Light"/>
                <a:ea typeface="Open Sauce Light"/>
                <a:cs typeface="Open Sauce Light"/>
                <a:sym typeface="Open Sauce Light"/>
              </a:rPr>
              <a:t>Motor de Información y Visualización de Datos</a:t>
            </a:r>
          </a:p>
          <a:p>
            <a:pPr algn="l" marL="530183" indent="-265092" lvl="1">
              <a:lnSpc>
                <a:spcPts val="3339"/>
              </a:lnSpc>
              <a:buFont typeface="Arial"/>
              <a:buChar char="•"/>
            </a:pPr>
            <a:r>
              <a:rPr lang="en-US" sz="2455" spc="-56">
                <a:solidFill>
                  <a:srgbClr val="FFFFFF"/>
                </a:solidFill>
                <a:latin typeface="Open Sauce Light"/>
                <a:ea typeface="Open Sauce Light"/>
                <a:cs typeface="Open Sauce Light"/>
                <a:sym typeface="Open Sauce Light"/>
              </a:rPr>
              <a:t>F5. Despliegue de catálogo dinámico.</a:t>
            </a:r>
          </a:p>
          <a:p>
            <a:pPr algn="l" marL="530183" indent="-265092" lvl="1">
              <a:lnSpc>
                <a:spcPts val="3339"/>
              </a:lnSpc>
              <a:buFont typeface="Arial"/>
              <a:buChar char="•"/>
            </a:pPr>
            <a:r>
              <a:rPr lang="en-US" sz="2455" spc="-56">
                <a:solidFill>
                  <a:srgbClr val="FFFFFF"/>
                </a:solidFill>
                <a:latin typeface="Open Sauce Light"/>
                <a:ea typeface="Open Sauce Light"/>
                <a:cs typeface="Open Sauce Light"/>
                <a:sym typeface="Open Sauce Light"/>
              </a:rPr>
              <a:t>F6. Cálculo dinámico de calorías.</a:t>
            </a:r>
          </a:p>
          <a:p>
            <a:pPr algn="l" marL="530183" indent="-265092" lvl="1">
              <a:lnSpc>
                <a:spcPts val="3339"/>
              </a:lnSpc>
              <a:buFont typeface="Arial"/>
              <a:buChar char="•"/>
            </a:pPr>
            <a:r>
              <a:rPr lang="en-US" sz="2455" spc="-56">
                <a:solidFill>
                  <a:srgbClr val="FFFFFF"/>
                </a:solidFill>
                <a:latin typeface="Open Sauce Light"/>
                <a:ea typeface="Open Sauce Light"/>
                <a:cs typeface="Open Sauce Light"/>
                <a:sym typeface="Open Sauce Light"/>
              </a:rPr>
              <a:t>F7. Visualización de ficha técnica.</a:t>
            </a:r>
          </a:p>
        </p:txBody>
      </p:sp>
      <p:sp>
        <p:nvSpPr>
          <p:cNvPr name="TextBox 7" id="7"/>
          <p:cNvSpPr txBox="true"/>
          <p:nvPr/>
        </p:nvSpPr>
        <p:spPr>
          <a:xfrm rot="0">
            <a:off x="9960842" y="6577814"/>
            <a:ext cx="9144000" cy="3000160"/>
          </a:xfrm>
          <a:prstGeom prst="rect">
            <a:avLst/>
          </a:prstGeom>
        </p:spPr>
        <p:txBody>
          <a:bodyPr anchor="t" rtlCol="false" tIns="0" lIns="0" bIns="0" rIns="0">
            <a:spAutoFit/>
          </a:bodyPr>
          <a:lstStyle/>
          <a:p>
            <a:pPr algn="l" marL="542908" indent="-271454" lvl="1">
              <a:lnSpc>
                <a:spcPts val="3419"/>
              </a:lnSpc>
              <a:buAutoNum type="arabicPeriod" startAt="1"/>
            </a:pPr>
            <a:r>
              <a:rPr lang="en-US" sz="2514" spc="-57">
                <a:solidFill>
                  <a:srgbClr val="FFFFFF"/>
                </a:solidFill>
                <a:latin typeface="Open Sauce Light"/>
                <a:ea typeface="Open Sauce Light"/>
                <a:cs typeface="Open Sauce Light"/>
                <a:sym typeface="Open Sauce Light"/>
              </a:rPr>
              <a:t>Asistente de Ejecución Interactivo</a:t>
            </a:r>
          </a:p>
          <a:p>
            <a:pPr algn="l" marL="542908" indent="-271454" lvl="1">
              <a:lnSpc>
                <a:spcPts val="3419"/>
              </a:lnSpc>
              <a:buFont typeface="Arial"/>
              <a:buChar char="•"/>
            </a:pPr>
            <a:r>
              <a:rPr lang="en-US" sz="2514" spc="-57">
                <a:solidFill>
                  <a:srgbClr val="FFFFFF"/>
                </a:solidFill>
                <a:latin typeface="Open Sauce Light"/>
                <a:ea typeface="Open Sauce Light"/>
                <a:cs typeface="Open Sauce Light"/>
                <a:sym typeface="Open Sauce Light"/>
              </a:rPr>
              <a:t>F8. Navegación por comandos de voz.</a:t>
            </a:r>
          </a:p>
          <a:p>
            <a:pPr algn="l" marL="542908" indent="-271454" lvl="1">
              <a:lnSpc>
                <a:spcPts val="3419"/>
              </a:lnSpc>
              <a:buFont typeface="Arial"/>
              <a:buChar char="•"/>
            </a:pPr>
            <a:r>
              <a:rPr lang="en-US" sz="2514" spc="-57">
                <a:solidFill>
                  <a:srgbClr val="FFFFFF"/>
                </a:solidFill>
                <a:latin typeface="Open Sauce Light"/>
                <a:ea typeface="Open Sauce Light"/>
                <a:cs typeface="Open Sauce Light"/>
                <a:sym typeface="Open Sauce Light"/>
              </a:rPr>
              <a:t>F9. Reproducción de micro-videos.</a:t>
            </a:r>
          </a:p>
          <a:p>
            <a:pPr algn="l" marL="542908" indent="-271454" lvl="1">
              <a:lnSpc>
                <a:spcPts val="3419"/>
              </a:lnSpc>
              <a:buFont typeface="Arial"/>
              <a:buChar char="•"/>
            </a:pPr>
            <a:r>
              <a:rPr lang="en-US" sz="2514" spc="-57">
                <a:solidFill>
                  <a:srgbClr val="FFFFFF"/>
                </a:solidFill>
                <a:latin typeface="Open Sauce Light"/>
                <a:ea typeface="Open Sauce Light"/>
                <a:cs typeface="Open Sauce Light"/>
                <a:sym typeface="Open Sauce Light"/>
              </a:rPr>
              <a:t>F10. Modo lectura asistida.</a:t>
            </a:r>
          </a:p>
          <a:p>
            <a:pPr algn="l" marL="542908" indent="-271454" lvl="1">
              <a:lnSpc>
                <a:spcPts val="3419"/>
              </a:lnSpc>
              <a:buAutoNum type="arabicPeriod" startAt="1"/>
            </a:pPr>
            <a:r>
              <a:rPr lang="en-US" sz="2514" spc="-57">
                <a:solidFill>
                  <a:srgbClr val="FFFFFF"/>
                </a:solidFill>
                <a:latin typeface="Open Sauce Light"/>
                <a:ea typeface="Open Sauce Light"/>
                <a:cs typeface="Open Sauce Light"/>
                <a:sym typeface="Open Sauce Light"/>
              </a:rPr>
              <a:t>Pe</a:t>
            </a:r>
            <a:r>
              <a:rPr lang="en-US" sz="2514" spc="-57">
                <a:solidFill>
                  <a:srgbClr val="FFFFFF"/>
                </a:solidFill>
                <a:latin typeface="Open Sauce Light"/>
                <a:ea typeface="Open Sauce Light"/>
                <a:cs typeface="Open Sauce Light"/>
                <a:sym typeface="Open Sauce Light"/>
              </a:rPr>
              <a:t>rsonalización y Social</a:t>
            </a:r>
          </a:p>
          <a:p>
            <a:pPr algn="l" marL="542908" indent="-271454" lvl="1">
              <a:lnSpc>
                <a:spcPts val="3419"/>
              </a:lnSpc>
              <a:buFont typeface="Arial"/>
              <a:buChar char="•"/>
            </a:pPr>
            <a:r>
              <a:rPr lang="en-US" sz="2514" spc="-57">
                <a:solidFill>
                  <a:srgbClr val="FFFFFF"/>
                </a:solidFill>
                <a:latin typeface="Open Sauce Light"/>
                <a:ea typeface="Open Sauce Light"/>
                <a:cs typeface="Open Sauce Light"/>
                <a:sym typeface="Open Sauce Light"/>
              </a:rPr>
              <a:t>F12. Guardado en "Mis Favoritos".</a:t>
            </a:r>
          </a:p>
          <a:p>
            <a:pPr algn="l" marL="542908" indent="-271454" lvl="1">
              <a:lnSpc>
                <a:spcPts val="3419"/>
              </a:lnSpc>
              <a:buFont typeface="Arial"/>
              <a:buChar char="•"/>
            </a:pPr>
            <a:r>
              <a:rPr lang="en-US" sz="2514" spc="-57">
                <a:solidFill>
                  <a:srgbClr val="FFFFFF"/>
                </a:solidFill>
                <a:latin typeface="Open Sauce Light"/>
                <a:ea typeface="Open Sauce Light"/>
                <a:cs typeface="Open Sauce Light"/>
                <a:sym typeface="Open Sauce Light"/>
              </a:rPr>
              <a:t>F13. Historial de cocción.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sp>
        <p:nvSpPr>
          <p:cNvPr name="Freeform 3" id="3"/>
          <p:cNvSpPr/>
          <p:nvPr/>
        </p:nvSpPr>
        <p:spPr>
          <a:xfrm flipH="false" flipV="false" rot="0">
            <a:off x="13801442" y="1027450"/>
            <a:ext cx="3457858" cy="2892027"/>
          </a:xfrm>
          <a:custGeom>
            <a:avLst/>
            <a:gdLst/>
            <a:ahLst/>
            <a:cxnLst/>
            <a:rect r="r" b="b" t="t" l="l"/>
            <a:pathLst>
              <a:path h="2892027" w="3457858">
                <a:moveTo>
                  <a:pt x="0" y="0"/>
                </a:moveTo>
                <a:lnTo>
                  <a:pt x="3457858" y="0"/>
                </a:lnTo>
                <a:lnTo>
                  <a:pt x="3457858" y="2892027"/>
                </a:lnTo>
                <a:lnTo>
                  <a:pt x="0" y="28920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482064" y="451747"/>
            <a:ext cx="14866577" cy="982145"/>
          </a:xfrm>
          <a:prstGeom prst="rect">
            <a:avLst/>
          </a:prstGeom>
        </p:spPr>
        <p:txBody>
          <a:bodyPr anchor="t" rtlCol="false" tIns="0" lIns="0" bIns="0" rIns="0">
            <a:spAutoFit/>
          </a:bodyPr>
          <a:lstStyle/>
          <a:p>
            <a:pPr algn="ctr">
              <a:lnSpc>
                <a:spcPts val="7018"/>
              </a:lnSpc>
            </a:pPr>
            <a:r>
              <a:rPr lang="en-US" b="true" sz="8161" spc="-383">
                <a:solidFill>
                  <a:srgbClr val="FFFFFF"/>
                </a:solidFill>
                <a:latin typeface="Open Sauce Bold"/>
                <a:ea typeface="Open Sauce Bold"/>
                <a:cs typeface="Open Sauce Bold"/>
                <a:sym typeface="Open Sauce Bold"/>
              </a:rPr>
              <a:t>Trabajos Relacionados</a:t>
            </a:r>
          </a:p>
        </p:txBody>
      </p:sp>
      <p:sp>
        <p:nvSpPr>
          <p:cNvPr name="TextBox 5" id="5"/>
          <p:cNvSpPr txBox="true"/>
          <p:nvPr/>
        </p:nvSpPr>
        <p:spPr>
          <a:xfrm rot="0">
            <a:off x="518174" y="1943613"/>
            <a:ext cx="14315131" cy="1012076"/>
          </a:xfrm>
          <a:prstGeom prst="rect">
            <a:avLst/>
          </a:prstGeom>
        </p:spPr>
        <p:txBody>
          <a:bodyPr anchor="t" rtlCol="false" tIns="0" lIns="0" bIns="0" rIns="0">
            <a:spAutoFit/>
          </a:bodyPr>
          <a:lstStyle/>
          <a:p>
            <a:pPr algn="l">
              <a:lnSpc>
                <a:spcPts val="4068"/>
              </a:lnSpc>
            </a:pPr>
            <a:r>
              <a:rPr lang="en-US" sz="2991" spc="-68">
                <a:solidFill>
                  <a:srgbClr val="FFFFFF"/>
                </a:solidFill>
                <a:latin typeface="Open Sauce Light"/>
                <a:ea typeface="Open Sauce Light"/>
                <a:cs typeface="Open Sauce Light"/>
                <a:sym typeface="Open Sauce Light"/>
              </a:rPr>
              <a:t>Freyne, J., Berkovsky, S., “Intelligent Food Planning: Personalized Recipe Recommendation”.</a:t>
            </a:r>
          </a:p>
        </p:txBody>
      </p:sp>
      <p:sp>
        <p:nvSpPr>
          <p:cNvPr name="TextBox 6" id="6"/>
          <p:cNvSpPr txBox="true"/>
          <p:nvPr/>
        </p:nvSpPr>
        <p:spPr>
          <a:xfrm rot="0">
            <a:off x="4330237" y="4357339"/>
            <a:ext cx="14315131" cy="1524698"/>
          </a:xfrm>
          <a:prstGeom prst="rect">
            <a:avLst/>
          </a:prstGeom>
        </p:spPr>
        <p:txBody>
          <a:bodyPr anchor="t" rtlCol="false" tIns="0" lIns="0" bIns="0" rIns="0">
            <a:spAutoFit/>
          </a:bodyPr>
          <a:lstStyle/>
          <a:p>
            <a:pPr algn="l">
              <a:lnSpc>
                <a:spcPts val="4068"/>
              </a:lnSpc>
            </a:pPr>
            <a:r>
              <a:rPr lang="en-US" sz="2991" spc="-68">
                <a:solidFill>
                  <a:srgbClr val="FFFFFF"/>
                </a:solidFill>
                <a:latin typeface="Open Sauce Light"/>
                <a:ea typeface="Open Sauce Light"/>
                <a:cs typeface="Open Sauce Light"/>
                <a:sym typeface="Open Sauce Light"/>
              </a:rPr>
              <a:t>Starke, A. D., Musto, C., Rapp, A., Semeraro, G., Trattner, C., “Tell Me Why: Using Natural Language Justifications in a Recipe Recommender System</a:t>
            </a:r>
            <a:r>
              <a:rPr lang="en-US" sz="2991" spc="-68">
                <a:solidFill>
                  <a:srgbClr val="FFFFFF"/>
                </a:solidFill>
                <a:latin typeface="Open Sauce Light"/>
                <a:ea typeface="Open Sauce Light"/>
                <a:cs typeface="Open Sauce Light"/>
                <a:sym typeface="Open Sauce Light"/>
              </a:rPr>
              <a:t> to Support Healthier Food Choices”.</a:t>
            </a:r>
          </a:p>
        </p:txBody>
      </p:sp>
      <p:sp>
        <p:nvSpPr>
          <p:cNvPr name="TextBox 7" id="7"/>
          <p:cNvSpPr txBox="true"/>
          <p:nvPr/>
        </p:nvSpPr>
        <p:spPr>
          <a:xfrm rot="0">
            <a:off x="313964" y="7687031"/>
            <a:ext cx="14315131" cy="1012076"/>
          </a:xfrm>
          <a:prstGeom prst="rect">
            <a:avLst/>
          </a:prstGeom>
        </p:spPr>
        <p:txBody>
          <a:bodyPr anchor="t" rtlCol="false" tIns="0" lIns="0" bIns="0" rIns="0">
            <a:spAutoFit/>
          </a:bodyPr>
          <a:lstStyle/>
          <a:p>
            <a:pPr algn="l">
              <a:lnSpc>
                <a:spcPts val="4068"/>
              </a:lnSpc>
            </a:pPr>
            <a:r>
              <a:rPr lang="en-US" sz="2991" spc="-68">
                <a:solidFill>
                  <a:srgbClr val="FFFFFF"/>
                </a:solidFill>
                <a:latin typeface="Open Sauce Light"/>
                <a:ea typeface="Open Sauce Light"/>
                <a:cs typeface="Open Sauce Light"/>
                <a:sym typeface="Open Sauce Light"/>
              </a:rPr>
              <a:t>Hamari, J., Koivisto, J., “Why Do People Use Gamification Service</a:t>
            </a:r>
            <a:r>
              <a:rPr lang="en-US" sz="2991" spc="-68">
                <a:solidFill>
                  <a:srgbClr val="FFFFFF"/>
                </a:solidFill>
                <a:latin typeface="Open Sauce Light"/>
                <a:ea typeface="Open Sauce Light"/>
                <a:cs typeface="Open Sauce Light"/>
                <a:sym typeface="Open Sauce Light"/>
              </a:rPr>
              <a:t>s?”, International Journal of Information Management, Vol. 35, No. 4, 2015, pp. 419–431.</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8463395">
            <a:off x="-1200863" y="-4604429"/>
            <a:ext cx="20689726" cy="19495858"/>
          </a:xfrm>
          <a:custGeom>
            <a:avLst/>
            <a:gdLst/>
            <a:ahLst/>
            <a:cxnLst/>
            <a:rect r="r" b="b" t="t" l="l"/>
            <a:pathLst>
              <a:path h="19495858" w="20689726">
                <a:moveTo>
                  <a:pt x="6465919" y="19495858"/>
                </a:moveTo>
                <a:lnTo>
                  <a:pt x="20689726" y="8000892"/>
                </a:lnTo>
                <a:lnTo>
                  <a:pt x="14223807" y="0"/>
                </a:lnTo>
                <a:lnTo>
                  <a:pt x="0" y="11494966"/>
                </a:lnTo>
                <a:lnTo>
                  <a:pt x="6465919" y="19495858"/>
                </a:lnTo>
                <a:close/>
              </a:path>
            </a:pathLst>
          </a:custGeom>
          <a:blipFill>
            <a:blip r:embed="rId2"/>
            <a:stretch>
              <a:fillRect l="-4483" t="0" r="-36949" b="0"/>
            </a:stretch>
          </a:blipFill>
        </p:spPr>
      </p:sp>
      <p:sp>
        <p:nvSpPr>
          <p:cNvPr name="Freeform 3" id="3"/>
          <p:cNvSpPr/>
          <p:nvPr/>
        </p:nvSpPr>
        <p:spPr>
          <a:xfrm flipH="false" flipV="true" rot="-5400000">
            <a:off x="-992411" y="3116939"/>
            <a:ext cx="4121715" cy="816849"/>
          </a:xfrm>
          <a:custGeom>
            <a:avLst/>
            <a:gdLst/>
            <a:ahLst/>
            <a:cxnLst/>
            <a:rect r="r" b="b" t="t" l="l"/>
            <a:pathLst>
              <a:path h="816849" w="4121715">
                <a:moveTo>
                  <a:pt x="0" y="816849"/>
                </a:moveTo>
                <a:lnTo>
                  <a:pt x="4121715" y="816849"/>
                </a:lnTo>
                <a:lnTo>
                  <a:pt x="4121715" y="0"/>
                </a:lnTo>
                <a:lnTo>
                  <a:pt x="0" y="0"/>
                </a:lnTo>
                <a:lnTo>
                  <a:pt x="0" y="816849"/>
                </a:lnTo>
                <a:close/>
              </a:path>
            </a:pathLst>
          </a:custGeom>
          <a:blipFill>
            <a:blip r:embed="rId3">
              <a:alphaModFix amt="56000"/>
            </a:blip>
            <a:stretch>
              <a:fillRect l="0" t="0" r="0" b="0"/>
            </a:stretch>
          </a:blipFill>
        </p:spPr>
      </p:sp>
      <p:sp>
        <p:nvSpPr>
          <p:cNvPr name="Freeform 4" id="4"/>
          <p:cNvSpPr/>
          <p:nvPr/>
        </p:nvSpPr>
        <p:spPr>
          <a:xfrm flipH="false" flipV="true" rot="-10800000">
            <a:off x="939548" y="1480240"/>
            <a:ext cx="5855897" cy="1160532"/>
          </a:xfrm>
          <a:custGeom>
            <a:avLst/>
            <a:gdLst/>
            <a:ahLst/>
            <a:cxnLst/>
            <a:rect r="r" b="b" t="t" l="l"/>
            <a:pathLst>
              <a:path h="1160532" w="5855897">
                <a:moveTo>
                  <a:pt x="0" y="1160532"/>
                </a:moveTo>
                <a:lnTo>
                  <a:pt x="5855896" y="1160532"/>
                </a:lnTo>
                <a:lnTo>
                  <a:pt x="5855896" y="0"/>
                </a:lnTo>
                <a:lnTo>
                  <a:pt x="0" y="0"/>
                </a:lnTo>
                <a:lnTo>
                  <a:pt x="0" y="1160532"/>
                </a:lnTo>
                <a:close/>
              </a:path>
            </a:pathLst>
          </a:custGeom>
          <a:blipFill>
            <a:blip r:embed="rId3">
              <a:alphaModFix amt="56000"/>
            </a:blip>
            <a:stretch>
              <a:fillRect l="0" t="0" r="0" b="0"/>
            </a:stretch>
          </a:blipFill>
        </p:spPr>
      </p:sp>
      <p:grpSp>
        <p:nvGrpSpPr>
          <p:cNvPr name="Group 5" id="5"/>
          <p:cNvGrpSpPr/>
          <p:nvPr/>
        </p:nvGrpSpPr>
        <p:grpSpPr>
          <a:xfrm rot="0">
            <a:off x="1161059" y="1773952"/>
            <a:ext cx="6101658" cy="3322423"/>
            <a:chOff x="0" y="0"/>
            <a:chExt cx="2245493" cy="1222697"/>
          </a:xfrm>
        </p:grpSpPr>
        <p:sp>
          <p:nvSpPr>
            <p:cNvPr name="Freeform 6" id="6"/>
            <p:cNvSpPr/>
            <p:nvPr/>
          </p:nvSpPr>
          <p:spPr>
            <a:xfrm flipH="false" flipV="false" rot="0">
              <a:off x="0" y="0"/>
              <a:ext cx="2245493" cy="1222697"/>
            </a:xfrm>
            <a:custGeom>
              <a:avLst/>
              <a:gdLst/>
              <a:ahLst/>
              <a:cxnLst/>
              <a:rect r="r" b="b" t="t" l="l"/>
              <a:pathLst>
                <a:path h="1222697" w="2245493">
                  <a:moveTo>
                    <a:pt x="64710" y="0"/>
                  </a:moveTo>
                  <a:lnTo>
                    <a:pt x="2180783" y="0"/>
                  </a:lnTo>
                  <a:cubicBezTo>
                    <a:pt x="2216521" y="0"/>
                    <a:pt x="2245493" y="28972"/>
                    <a:pt x="2245493" y="64710"/>
                  </a:cubicBezTo>
                  <a:lnTo>
                    <a:pt x="2245493" y="1157987"/>
                  </a:lnTo>
                  <a:cubicBezTo>
                    <a:pt x="2245493" y="1193725"/>
                    <a:pt x="2216521" y="1222697"/>
                    <a:pt x="2180783" y="1222697"/>
                  </a:cubicBezTo>
                  <a:lnTo>
                    <a:pt x="64710" y="1222697"/>
                  </a:lnTo>
                  <a:cubicBezTo>
                    <a:pt x="28972" y="1222697"/>
                    <a:pt x="0" y="1193725"/>
                    <a:pt x="0" y="1157987"/>
                  </a:cubicBezTo>
                  <a:lnTo>
                    <a:pt x="0" y="64710"/>
                  </a:lnTo>
                  <a:cubicBezTo>
                    <a:pt x="0" y="28972"/>
                    <a:pt x="28972" y="0"/>
                    <a:pt x="64710" y="0"/>
                  </a:cubicBezTo>
                  <a:close/>
                </a:path>
              </a:pathLst>
            </a:custGeom>
            <a:gradFill rotWithShape="true">
              <a:gsLst>
                <a:gs pos="0">
                  <a:srgbClr val="FFFFFF">
                    <a:alpha val="100000"/>
                  </a:srgbClr>
                </a:gs>
                <a:gs pos="100000">
                  <a:srgbClr val="DBD8D8">
                    <a:alpha val="100000"/>
                  </a:srgbClr>
                </a:gs>
              </a:gsLst>
              <a:lin ang="5400000"/>
            </a:gradFill>
            <a:ln w="19050" cap="rnd">
              <a:gradFill>
                <a:gsLst>
                  <a:gs pos="0">
                    <a:srgbClr val="C55CD1">
                      <a:alpha val="100000"/>
                    </a:srgbClr>
                  </a:gs>
                  <a:gs pos="100000">
                    <a:srgbClr val="923ACD">
                      <a:alpha val="100000"/>
                    </a:srgbClr>
                  </a:gs>
                </a:gsLst>
                <a:lin ang="2700000"/>
              </a:gradFill>
              <a:prstDash val="solid"/>
              <a:round/>
            </a:ln>
          </p:spPr>
        </p:sp>
        <p:sp>
          <p:nvSpPr>
            <p:cNvPr name="TextBox 7" id="7"/>
            <p:cNvSpPr txBox="true"/>
            <p:nvPr/>
          </p:nvSpPr>
          <p:spPr>
            <a:xfrm>
              <a:off x="0" y="85725"/>
              <a:ext cx="2245493" cy="1136972"/>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8" id="8"/>
          <p:cNvSpPr txBox="true"/>
          <p:nvPr/>
        </p:nvSpPr>
        <p:spPr>
          <a:xfrm rot="0">
            <a:off x="2870960" y="270564"/>
            <a:ext cx="12546080" cy="930916"/>
          </a:xfrm>
          <a:prstGeom prst="rect">
            <a:avLst/>
          </a:prstGeom>
        </p:spPr>
        <p:txBody>
          <a:bodyPr anchor="t" rtlCol="false" tIns="0" lIns="0" bIns="0" rIns="0">
            <a:spAutoFit/>
          </a:bodyPr>
          <a:lstStyle/>
          <a:p>
            <a:pPr algn="ctr">
              <a:lnSpc>
                <a:spcPts val="7237"/>
              </a:lnSpc>
            </a:pPr>
            <a:r>
              <a:rPr lang="en-US" b="true" sz="6186" spc="-259">
                <a:solidFill>
                  <a:srgbClr val="FFFFFF"/>
                </a:solidFill>
                <a:latin typeface="Open Sauce Bold"/>
                <a:ea typeface="Open Sauce Bold"/>
                <a:cs typeface="Open Sauce Bold"/>
                <a:sym typeface="Open Sauce Bold"/>
              </a:rPr>
              <a:t>Fuentes de Información</a:t>
            </a:r>
          </a:p>
        </p:txBody>
      </p:sp>
      <p:sp>
        <p:nvSpPr>
          <p:cNvPr name="TextBox 9" id="9"/>
          <p:cNvSpPr txBox="true"/>
          <p:nvPr/>
        </p:nvSpPr>
        <p:spPr>
          <a:xfrm rot="0">
            <a:off x="1643611" y="2159063"/>
            <a:ext cx="4475079" cy="610074"/>
          </a:xfrm>
          <a:prstGeom prst="rect">
            <a:avLst/>
          </a:prstGeom>
        </p:spPr>
        <p:txBody>
          <a:bodyPr anchor="t" rtlCol="false" tIns="0" lIns="0" bIns="0" rIns="0">
            <a:spAutoFit/>
          </a:bodyPr>
          <a:lstStyle/>
          <a:p>
            <a:pPr algn="l">
              <a:lnSpc>
                <a:spcPts val="4786"/>
              </a:lnSpc>
            </a:pPr>
            <a:r>
              <a:rPr lang="en-US" b="true" sz="4091" spc="-171">
                <a:solidFill>
                  <a:srgbClr val="0E0637"/>
                </a:solidFill>
                <a:latin typeface="Open Sauce Bold"/>
                <a:ea typeface="Open Sauce Bold"/>
                <a:cs typeface="Open Sauce Bold"/>
                <a:sym typeface="Open Sauce Bold"/>
              </a:rPr>
              <a:t>Fuentes Primarias</a:t>
            </a:r>
          </a:p>
        </p:txBody>
      </p:sp>
      <p:sp>
        <p:nvSpPr>
          <p:cNvPr name="TextBox 10" id="10"/>
          <p:cNvSpPr txBox="true"/>
          <p:nvPr/>
        </p:nvSpPr>
        <p:spPr>
          <a:xfrm rot="0">
            <a:off x="1268617" y="3041102"/>
            <a:ext cx="5849112" cy="2055274"/>
          </a:xfrm>
          <a:prstGeom prst="rect">
            <a:avLst/>
          </a:prstGeom>
        </p:spPr>
        <p:txBody>
          <a:bodyPr anchor="t" rtlCol="false" tIns="0" lIns="0" bIns="0" rIns="0">
            <a:spAutoFit/>
          </a:bodyPr>
          <a:lstStyle/>
          <a:p>
            <a:pPr algn="l" marL="370079" indent="-185040" lvl="1">
              <a:lnSpc>
                <a:spcPts val="2331"/>
              </a:lnSpc>
              <a:buFont typeface="Arial"/>
              <a:buChar char="•"/>
            </a:pPr>
            <a:r>
              <a:rPr lang="en-US" sz="1714" spc="-39">
                <a:solidFill>
                  <a:srgbClr val="0E0637"/>
                </a:solidFill>
                <a:latin typeface="Open Sauce Light"/>
                <a:ea typeface="Open Sauce Light"/>
                <a:cs typeface="Open Sauce Light"/>
                <a:sym typeface="Open Sauce Light"/>
              </a:rPr>
              <a:t>Usuarios objetivo: Estudiantes, jóvenes independientes y padres de familia.</a:t>
            </a:r>
          </a:p>
          <a:p>
            <a:pPr algn="l" marL="370079" indent="-185040" lvl="1">
              <a:lnSpc>
                <a:spcPts val="2331"/>
              </a:lnSpc>
              <a:buFont typeface="Arial"/>
              <a:buChar char="•"/>
            </a:pPr>
            <a:r>
              <a:rPr lang="en-US" sz="1714" spc="-39">
                <a:solidFill>
                  <a:srgbClr val="0E0637"/>
                </a:solidFill>
                <a:latin typeface="Open Sauce Light"/>
                <a:ea typeface="Open Sauce Light"/>
                <a:cs typeface="Open Sauce Light"/>
                <a:sym typeface="Open Sauce Light"/>
              </a:rPr>
              <a:t>Encuestas: Aplicadas a una muestra de usuarios para recopilar información cuantitativa.</a:t>
            </a:r>
          </a:p>
          <a:p>
            <a:pPr algn="l" marL="370079" indent="-185040" lvl="1">
              <a:lnSpc>
                <a:spcPts val="2331"/>
              </a:lnSpc>
              <a:buFont typeface="Arial"/>
              <a:buChar char="•"/>
            </a:pPr>
            <a:r>
              <a:rPr lang="en-US" sz="1714" spc="-39">
                <a:solidFill>
                  <a:srgbClr val="0E0637"/>
                </a:solidFill>
                <a:latin typeface="Open Sauce Light"/>
                <a:ea typeface="Open Sauce Light"/>
                <a:cs typeface="Open Sauce Light"/>
                <a:sym typeface="Open Sauce Light"/>
              </a:rPr>
              <a:t>Entrevistas: Realizadas a usuarios representativos para obtener información cualitativa.</a:t>
            </a:r>
          </a:p>
          <a:p>
            <a:pPr algn="l">
              <a:lnSpc>
                <a:spcPts val="2331"/>
              </a:lnSpc>
            </a:pPr>
          </a:p>
        </p:txBody>
      </p:sp>
      <p:sp>
        <p:nvSpPr>
          <p:cNvPr name="AutoShape 11" id="11"/>
          <p:cNvSpPr/>
          <p:nvPr/>
        </p:nvSpPr>
        <p:spPr>
          <a:xfrm flipV="true">
            <a:off x="1476871" y="2887899"/>
            <a:ext cx="5151833" cy="0"/>
          </a:xfrm>
          <a:prstGeom prst="line">
            <a:avLst/>
          </a:prstGeom>
          <a:ln cap="flat" w="19050">
            <a:solidFill>
              <a:srgbClr val="0E0637"/>
            </a:solidFill>
            <a:prstDash val="solid"/>
            <a:headEnd type="none" len="sm" w="sm"/>
            <a:tailEnd type="none" len="sm" w="sm"/>
          </a:ln>
        </p:spPr>
      </p:sp>
      <p:sp>
        <p:nvSpPr>
          <p:cNvPr name="Freeform 12" id="12"/>
          <p:cNvSpPr/>
          <p:nvPr/>
        </p:nvSpPr>
        <p:spPr>
          <a:xfrm flipH="false" flipV="true" rot="-10800000">
            <a:off x="10936131" y="3060152"/>
            <a:ext cx="5855897" cy="1160532"/>
          </a:xfrm>
          <a:custGeom>
            <a:avLst/>
            <a:gdLst/>
            <a:ahLst/>
            <a:cxnLst/>
            <a:rect r="r" b="b" t="t" l="l"/>
            <a:pathLst>
              <a:path h="1160532" w="5855897">
                <a:moveTo>
                  <a:pt x="0" y="1160532"/>
                </a:moveTo>
                <a:lnTo>
                  <a:pt x="5855897" y="1160532"/>
                </a:lnTo>
                <a:lnTo>
                  <a:pt x="5855897" y="0"/>
                </a:lnTo>
                <a:lnTo>
                  <a:pt x="0" y="0"/>
                </a:lnTo>
                <a:lnTo>
                  <a:pt x="0" y="1160532"/>
                </a:lnTo>
                <a:close/>
              </a:path>
            </a:pathLst>
          </a:custGeom>
          <a:blipFill>
            <a:blip r:embed="rId3">
              <a:alphaModFix amt="56000"/>
            </a:blip>
            <a:stretch>
              <a:fillRect l="0" t="0" r="0" b="0"/>
            </a:stretch>
          </a:blipFill>
        </p:spPr>
      </p:sp>
      <p:grpSp>
        <p:nvGrpSpPr>
          <p:cNvPr name="Group 13" id="13"/>
          <p:cNvGrpSpPr/>
          <p:nvPr/>
        </p:nvGrpSpPr>
        <p:grpSpPr>
          <a:xfrm rot="0">
            <a:off x="11157642" y="3353863"/>
            <a:ext cx="6101658" cy="3914153"/>
            <a:chOff x="0" y="0"/>
            <a:chExt cx="2245493" cy="1440461"/>
          </a:xfrm>
        </p:grpSpPr>
        <p:sp>
          <p:nvSpPr>
            <p:cNvPr name="Freeform 14" id="14"/>
            <p:cNvSpPr/>
            <p:nvPr/>
          </p:nvSpPr>
          <p:spPr>
            <a:xfrm flipH="false" flipV="false" rot="0">
              <a:off x="0" y="0"/>
              <a:ext cx="2245493" cy="1440461"/>
            </a:xfrm>
            <a:custGeom>
              <a:avLst/>
              <a:gdLst/>
              <a:ahLst/>
              <a:cxnLst/>
              <a:rect r="r" b="b" t="t" l="l"/>
              <a:pathLst>
                <a:path h="1440461" w="2245493">
                  <a:moveTo>
                    <a:pt x="64710" y="0"/>
                  </a:moveTo>
                  <a:lnTo>
                    <a:pt x="2180783" y="0"/>
                  </a:lnTo>
                  <a:cubicBezTo>
                    <a:pt x="2216521" y="0"/>
                    <a:pt x="2245493" y="28972"/>
                    <a:pt x="2245493" y="64710"/>
                  </a:cubicBezTo>
                  <a:lnTo>
                    <a:pt x="2245493" y="1375751"/>
                  </a:lnTo>
                  <a:cubicBezTo>
                    <a:pt x="2245493" y="1411490"/>
                    <a:pt x="2216521" y="1440461"/>
                    <a:pt x="2180783" y="1440461"/>
                  </a:cubicBezTo>
                  <a:lnTo>
                    <a:pt x="64710" y="1440461"/>
                  </a:lnTo>
                  <a:cubicBezTo>
                    <a:pt x="28972" y="1440461"/>
                    <a:pt x="0" y="1411490"/>
                    <a:pt x="0" y="1375751"/>
                  </a:cubicBezTo>
                  <a:lnTo>
                    <a:pt x="0" y="64710"/>
                  </a:lnTo>
                  <a:cubicBezTo>
                    <a:pt x="0" y="28972"/>
                    <a:pt x="28972" y="0"/>
                    <a:pt x="64710" y="0"/>
                  </a:cubicBezTo>
                  <a:close/>
                </a:path>
              </a:pathLst>
            </a:custGeom>
            <a:gradFill rotWithShape="true">
              <a:gsLst>
                <a:gs pos="0">
                  <a:srgbClr val="C55CD1">
                    <a:alpha val="100000"/>
                  </a:srgbClr>
                </a:gs>
                <a:gs pos="100000">
                  <a:srgbClr val="923ACD">
                    <a:alpha val="100000"/>
                  </a:srgbClr>
                </a:gs>
              </a:gsLst>
              <a:lin ang="2700000"/>
            </a:gradFill>
            <a:ln w="19050" cap="rnd">
              <a:gradFill>
                <a:gsLst>
                  <a:gs pos="0">
                    <a:srgbClr val="C55CD1">
                      <a:alpha val="100000"/>
                    </a:srgbClr>
                  </a:gs>
                  <a:gs pos="100000">
                    <a:srgbClr val="923ACD">
                      <a:alpha val="100000"/>
                    </a:srgbClr>
                  </a:gs>
                </a:gsLst>
                <a:lin ang="2700000"/>
              </a:gradFill>
              <a:prstDash val="solid"/>
              <a:round/>
            </a:ln>
          </p:spPr>
        </p:sp>
        <p:sp>
          <p:nvSpPr>
            <p:cNvPr name="TextBox 15" id="15"/>
            <p:cNvSpPr txBox="true"/>
            <p:nvPr/>
          </p:nvSpPr>
          <p:spPr>
            <a:xfrm>
              <a:off x="0" y="85725"/>
              <a:ext cx="2245493" cy="1354736"/>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6" id="16"/>
          <p:cNvSpPr txBox="true"/>
          <p:nvPr/>
        </p:nvSpPr>
        <p:spPr>
          <a:xfrm rot="0">
            <a:off x="11640194" y="3738974"/>
            <a:ext cx="5474118" cy="610074"/>
          </a:xfrm>
          <a:prstGeom prst="rect">
            <a:avLst/>
          </a:prstGeom>
        </p:spPr>
        <p:txBody>
          <a:bodyPr anchor="t" rtlCol="false" tIns="0" lIns="0" bIns="0" rIns="0">
            <a:spAutoFit/>
          </a:bodyPr>
          <a:lstStyle/>
          <a:p>
            <a:pPr algn="l">
              <a:lnSpc>
                <a:spcPts val="4786"/>
              </a:lnSpc>
            </a:pPr>
            <a:r>
              <a:rPr lang="en-US" b="true" sz="4091" spc="-171">
                <a:solidFill>
                  <a:srgbClr val="0E0637"/>
                </a:solidFill>
                <a:latin typeface="Open Sauce Bold"/>
                <a:ea typeface="Open Sauce Bold"/>
                <a:cs typeface="Open Sauce Bold"/>
                <a:sym typeface="Open Sauce Bold"/>
              </a:rPr>
              <a:t>Fuentes Secundarias</a:t>
            </a:r>
          </a:p>
        </p:txBody>
      </p:sp>
      <p:sp>
        <p:nvSpPr>
          <p:cNvPr name="TextBox 17" id="17"/>
          <p:cNvSpPr txBox="true"/>
          <p:nvPr/>
        </p:nvSpPr>
        <p:spPr>
          <a:xfrm rot="0">
            <a:off x="11265200" y="4621013"/>
            <a:ext cx="5849112" cy="2647004"/>
          </a:xfrm>
          <a:prstGeom prst="rect">
            <a:avLst/>
          </a:prstGeom>
        </p:spPr>
        <p:txBody>
          <a:bodyPr anchor="t" rtlCol="false" tIns="0" lIns="0" bIns="0" rIns="0">
            <a:spAutoFit/>
          </a:bodyPr>
          <a:lstStyle/>
          <a:p>
            <a:pPr algn="l" marL="370079" indent="-185040" lvl="1">
              <a:lnSpc>
                <a:spcPts val="2331"/>
              </a:lnSpc>
              <a:buFont typeface="Arial"/>
              <a:buChar char="•"/>
            </a:pPr>
            <a:r>
              <a:rPr lang="en-US" sz="1714" spc="-39">
                <a:solidFill>
                  <a:srgbClr val="0E0637"/>
                </a:solidFill>
                <a:latin typeface="Open Sauce Light"/>
                <a:ea typeface="Open Sauce Light"/>
                <a:cs typeface="Open Sauce Light"/>
                <a:sym typeface="Open Sauce Light"/>
              </a:rPr>
              <a:t>Artículos académicos y trabajos de investigación: </a:t>
            </a:r>
            <a:r>
              <a:rPr lang="en-US" sz="1714" spc="-39">
                <a:solidFill>
                  <a:srgbClr val="0E0637"/>
                </a:solidFill>
                <a:latin typeface="Open Sauce Light"/>
                <a:ea typeface="Open Sauce Light"/>
                <a:cs typeface="Open Sauce Light"/>
                <a:sym typeface="Open Sauce Light"/>
              </a:rPr>
              <a:t>Se consultaron estudios con el fin de identificar enfoques, metodologías y tecnologías aplicables. </a:t>
            </a:r>
          </a:p>
          <a:p>
            <a:pPr algn="l" marL="370079" indent="-185040" lvl="1">
              <a:lnSpc>
                <a:spcPts val="2331"/>
              </a:lnSpc>
              <a:buFont typeface="Arial"/>
              <a:buChar char="•"/>
            </a:pPr>
            <a:r>
              <a:rPr lang="en-US" sz="1714" spc="-39">
                <a:solidFill>
                  <a:srgbClr val="0E0637"/>
                </a:solidFill>
                <a:latin typeface="Open Sauce Light"/>
                <a:ea typeface="Open Sauce Light"/>
                <a:cs typeface="Open Sauce Light"/>
                <a:sym typeface="Open Sauce Light"/>
              </a:rPr>
              <a:t>Aplicaciones existentes (benchmarking): Análisis de aplicaciones similares.</a:t>
            </a:r>
          </a:p>
          <a:p>
            <a:pPr algn="l" marL="370079" indent="-185040" lvl="1">
              <a:lnSpc>
                <a:spcPts val="2331"/>
              </a:lnSpc>
              <a:buFont typeface="Arial"/>
              <a:buChar char="•"/>
            </a:pPr>
            <a:r>
              <a:rPr lang="en-US" sz="1714" spc="-39">
                <a:solidFill>
                  <a:srgbClr val="0E0637"/>
                </a:solidFill>
                <a:latin typeface="Open Sauce Light"/>
                <a:ea typeface="Open Sauce Light"/>
                <a:cs typeface="Open Sauce Light"/>
                <a:sym typeface="Open Sauce Light"/>
              </a:rPr>
              <a:t>Documentación técnica y tendencias tecnológicas:</a:t>
            </a:r>
          </a:p>
          <a:p>
            <a:pPr algn="l" marL="370079" indent="-185040" lvl="1">
              <a:lnSpc>
                <a:spcPts val="2331"/>
              </a:lnSpc>
              <a:buFont typeface="Arial"/>
              <a:buChar char="•"/>
            </a:pPr>
            <a:r>
              <a:rPr lang="en-US" sz="1714" spc="-39">
                <a:solidFill>
                  <a:srgbClr val="0E0637"/>
                </a:solidFill>
                <a:latin typeface="Open Sauce Light"/>
                <a:ea typeface="Open Sauce Light"/>
                <a:cs typeface="Open Sauce Light"/>
                <a:sym typeface="Open Sauce Light"/>
              </a:rPr>
              <a:t> Revisión de documentación para definir posibles tecnologías a implementar. </a:t>
            </a:r>
          </a:p>
          <a:p>
            <a:pPr algn="l">
              <a:lnSpc>
                <a:spcPts val="2331"/>
              </a:lnSpc>
            </a:pPr>
          </a:p>
        </p:txBody>
      </p:sp>
      <p:sp>
        <p:nvSpPr>
          <p:cNvPr name="AutoShape 18" id="18"/>
          <p:cNvSpPr/>
          <p:nvPr/>
        </p:nvSpPr>
        <p:spPr>
          <a:xfrm flipV="true">
            <a:off x="11473454" y="4467810"/>
            <a:ext cx="5151833" cy="0"/>
          </a:xfrm>
          <a:prstGeom prst="line">
            <a:avLst/>
          </a:prstGeom>
          <a:ln cap="flat" w="19050">
            <a:solidFill>
              <a:srgbClr val="0E0637"/>
            </a:solidFill>
            <a:prstDash val="solid"/>
            <a:headEnd type="none" len="sm" w="sm"/>
            <a:tailEnd type="none" len="sm" w="sm"/>
          </a:ln>
        </p:spPr>
      </p:sp>
      <p:sp>
        <p:nvSpPr>
          <p:cNvPr name="Freeform 19" id="19"/>
          <p:cNvSpPr/>
          <p:nvPr/>
        </p:nvSpPr>
        <p:spPr>
          <a:xfrm flipH="false" flipV="true" rot="-10800000">
            <a:off x="794560" y="6157721"/>
            <a:ext cx="5855897" cy="1160532"/>
          </a:xfrm>
          <a:custGeom>
            <a:avLst/>
            <a:gdLst/>
            <a:ahLst/>
            <a:cxnLst/>
            <a:rect r="r" b="b" t="t" l="l"/>
            <a:pathLst>
              <a:path h="1160532" w="5855897">
                <a:moveTo>
                  <a:pt x="0" y="1160532"/>
                </a:moveTo>
                <a:lnTo>
                  <a:pt x="5855896" y="1160532"/>
                </a:lnTo>
                <a:lnTo>
                  <a:pt x="5855896" y="0"/>
                </a:lnTo>
                <a:lnTo>
                  <a:pt x="0" y="0"/>
                </a:lnTo>
                <a:lnTo>
                  <a:pt x="0" y="1160532"/>
                </a:lnTo>
                <a:close/>
              </a:path>
            </a:pathLst>
          </a:custGeom>
          <a:blipFill>
            <a:blip r:embed="rId3">
              <a:alphaModFix amt="56000"/>
            </a:blip>
            <a:stretch>
              <a:fillRect l="0" t="0" r="0" b="0"/>
            </a:stretch>
          </a:blipFill>
        </p:spPr>
      </p:sp>
      <p:grpSp>
        <p:nvGrpSpPr>
          <p:cNvPr name="Group 20" id="20"/>
          <p:cNvGrpSpPr/>
          <p:nvPr/>
        </p:nvGrpSpPr>
        <p:grpSpPr>
          <a:xfrm rot="0">
            <a:off x="1016071" y="6451432"/>
            <a:ext cx="6101658" cy="3314411"/>
            <a:chOff x="0" y="0"/>
            <a:chExt cx="2245493" cy="1219748"/>
          </a:xfrm>
        </p:grpSpPr>
        <p:sp>
          <p:nvSpPr>
            <p:cNvPr name="Freeform 21" id="21"/>
            <p:cNvSpPr/>
            <p:nvPr/>
          </p:nvSpPr>
          <p:spPr>
            <a:xfrm flipH="false" flipV="false" rot="0">
              <a:off x="0" y="0"/>
              <a:ext cx="2245493" cy="1219748"/>
            </a:xfrm>
            <a:custGeom>
              <a:avLst/>
              <a:gdLst/>
              <a:ahLst/>
              <a:cxnLst/>
              <a:rect r="r" b="b" t="t" l="l"/>
              <a:pathLst>
                <a:path h="1219748" w="2245493">
                  <a:moveTo>
                    <a:pt x="64710" y="0"/>
                  </a:moveTo>
                  <a:lnTo>
                    <a:pt x="2180783" y="0"/>
                  </a:lnTo>
                  <a:cubicBezTo>
                    <a:pt x="2216521" y="0"/>
                    <a:pt x="2245493" y="28972"/>
                    <a:pt x="2245493" y="64710"/>
                  </a:cubicBezTo>
                  <a:lnTo>
                    <a:pt x="2245493" y="1155038"/>
                  </a:lnTo>
                  <a:cubicBezTo>
                    <a:pt x="2245493" y="1190777"/>
                    <a:pt x="2216521" y="1219748"/>
                    <a:pt x="2180783" y="1219748"/>
                  </a:cubicBezTo>
                  <a:lnTo>
                    <a:pt x="64710" y="1219748"/>
                  </a:lnTo>
                  <a:cubicBezTo>
                    <a:pt x="28972" y="1219748"/>
                    <a:pt x="0" y="1190777"/>
                    <a:pt x="0" y="1155038"/>
                  </a:cubicBezTo>
                  <a:lnTo>
                    <a:pt x="0" y="64710"/>
                  </a:lnTo>
                  <a:cubicBezTo>
                    <a:pt x="0" y="28972"/>
                    <a:pt x="28972" y="0"/>
                    <a:pt x="64710" y="0"/>
                  </a:cubicBezTo>
                  <a:close/>
                </a:path>
              </a:pathLst>
            </a:custGeom>
            <a:gradFill rotWithShape="true">
              <a:gsLst>
                <a:gs pos="0">
                  <a:srgbClr val="C55CD1">
                    <a:alpha val="100000"/>
                  </a:srgbClr>
                </a:gs>
                <a:gs pos="100000">
                  <a:srgbClr val="923ACD">
                    <a:alpha val="100000"/>
                  </a:srgbClr>
                </a:gs>
              </a:gsLst>
              <a:lin ang="2700000"/>
            </a:gradFill>
            <a:ln w="19050" cap="rnd">
              <a:gradFill>
                <a:gsLst>
                  <a:gs pos="0">
                    <a:srgbClr val="C55CD1">
                      <a:alpha val="100000"/>
                    </a:srgbClr>
                  </a:gs>
                  <a:gs pos="100000">
                    <a:srgbClr val="923ACD">
                      <a:alpha val="100000"/>
                    </a:srgbClr>
                  </a:gs>
                </a:gsLst>
                <a:lin ang="2700000"/>
              </a:gradFill>
              <a:prstDash val="solid"/>
              <a:round/>
            </a:ln>
          </p:spPr>
        </p:sp>
        <p:sp>
          <p:nvSpPr>
            <p:cNvPr name="TextBox 22" id="22"/>
            <p:cNvSpPr txBox="true"/>
            <p:nvPr/>
          </p:nvSpPr>
          <p:spPr>
            <a:xfrm>
              <a:off x="0" y="85725"/>
              <a:ext cx="2245493" cy="1134023"/>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23" id="23"/>
          <p:cNvSpPr txBox="true"/>
          <p:nvPr/>
        </p:nvSpPr>
        <p:spPr>
          <a:xfrm rot="0">
            <a:off x="1498623" y="6836543"/>
            <a:ext cx="5474118" cy="610074"/>
          </a:xfrm>
          <a:prstGeom prst="rect">
            <a:avLst/>
          </a:prstGeom>
        </p:spPr>
        <p:txBody>
          <a:bodyPr anchor="t" rtlCol="false" tIns="0" lIns="0" bIns="0" rIns="0">
            <a:spAutoFit/>
          </a:bodyPr>
          <a:lstStyle/>
          <a:p>
            <a:pPr algn="l">
              <a:lnSpc>
                <a:spcPts val="4786"/>
              </a:lnSpc>
            </a:pPr>
            <a:r>
              <a:rPr lang="en-US" b="true" sz="4091" spc="-171">
                <a:solidFill>
                  <a:srgbClr val="0E0637"/>
                </a:solidFill>
                <a:latin typeface="Open Sauce Bold"/>
                <a:ea typeface="Open Sauce Bold"/>
                <a:cs typeface="Open Sauce Bold"/>
                <a:sym typeface="Open Sauce Bold"/>
              </a:rPr>
              <a:t>Fuentes Terciarias</a:t>
            </a:r>
          </a:p>
        </p:txBody>
      </p:sp>
      <p:sp>
        <p:nvSpPr>
          <p:cNvPr name="TextBox 24" id="24"/>
          <p:cNvSpPr txBox="true"/>
          <p:nvPr/>
        </p:nvSpPr>
        <p:spPr>
          <a:xfrm rot="0">
            <a:off x="1123629" y="7718582"/>
            <a:ext cx="5849112" cy="1755869"/>
          </a:xfrm>
          <a:prstGeom prst="rect">
            <a:avLst/>
          </a:prstGeom>
        </p:spPr>
        <p:txBody>
          <a:bodyPr anchor="t" rtlCol="false" tIns="0" lIns="0" bIns="0" rIns="0">
            <a:spAutoFit/>
          </a:bodyPr>
          <a:lstStyle/>
          <a:p>
            <a:pPr algn="l" marL="370080" indent="-185040" lvl="1">
              <a:lnSpc>
                <a:spcPts val="2331"/>
              </a:lnSpc>
              <a:buFont typeface="Arial"/>
              <a:buChar char="•"/>
            </a:pPr>
            <a:r>
              <a:rPr lang="en-US" sz="1714" spc="-39">
                <a:solidFill>
                  <a:srgbClr val="0E0637"/>
                </a:solidFill>
                <a:latin typeface="Open Sauce Light"/>
                <a:ea typeface="Open Sauce Light"/>
                <a:cs typeface="Open Sauce Light"/>
                <a:sym typeface="Open Sauce Light"/>
              </a:rPr>
              <a:t>Reportes y estadísticas sobre hábitos alimenticios: I</a:t>
            </a:r>
            <a:r>
              <a:rPr lang="en-US" sz="1714" spc="-39">
                <a:solidFill>
                  <a:srgbClr val="0E0637"/>
                </a:solidFill>
                <a:latin typeface="Open Sauce Light"/>
                <a:ea typeface="Open Sauce Light"/>
                <a:cs typeface="Open Sauce Light"/>
                <a:sym typeface="Open Sauce Light"/>
              </a:rPr>
              <a:t>nformación sobre comportamiento de consumo, desperdicio de alimentos y uso de tecnología en el hogar. </a:t>
            </a:r>
          </a:p>
          <a:p>
            <a:pPr algn="l" marL="370080" indent="-185040" lvl="1">
              <a:lnSpc>
                <a:spcPts val="2331"/>
              </a:lnSpc>
              <a:buFont typeface="Arial"/>
              <a:buChar char="•"/>
            </a:pPr>
            <a:r>
              <a:rPr lang="en-US" sz="1714" spc="-39">
                <a:solidFill>
                  <a:srgbClr val="0E0637"/>
                </a:solidFill>
                <a:latin typeface="Open Sauce Light"/>
                <a:ea typeface="Open Sauce Light"/>
                <a:cs typeface="Open Sauce Light"/>
                <a:sym typeface="Open Sauce Light"/>
              </a:rPr>
              <a:t>Normas y buenas prácticas de desarrollo de software:</a:t>
            </a:r>
          </a:p>
          <a:p>
            <a:pPr algn="l">
              <a:lnSpc>
                <a:spcPts val="2331"/>
              </a:lnSpc>
            </a:pPr>
            <a:r>
              <a:rPr lang="en-US" sz="1714" spc="-39">
                <a:solidFill>
                  <a:srgbClr val="0E0637"/>
                </a:solidFill>
                <a:latin typeface="Open Sauce Light"/>
                <a:ea typeface="Open Sauce Light"/>
                <a:cs typeface="Open Sauce Light"/>
                <a:sym typeface="Open Sauce Light"/>
              </a:rPr>
              <a:t> Referencias como la ISO/IEC 12207.</a:t>
            </a:r>
          </a:p>
        </p:txBody>
      </p:sp>
      <p:sp>
        <p:nvSpPr>
          <p:cNvPr name="AutoShape 25" id="25"/>
          <p:cNvSpPr/>
          <p:nvPr/>
        </p:nvSpPr>
        <p:spPr>
          <a:xfrm>
            <a:off x="1331883" y="7565379"/>
            <a:ext cx="5151833" cy="0"/>
          </a:xfrm>
          <a:prstGeom prst="line">
            <a:avLst/>
          </a:prstGeom>
          <a:ln cap="flat" w="19050">
            <a:solidFill>
              <a:srgbClr val="0E0637"/>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sp>
        <p:nvSpPr>
          <p:cNvPr name="Freeform 3" id="3"/>
          <p:cNvSpPr/>
          <p:nvPr/>
        </p:nvSpPr>
        <p:spPr>
          <a:xfrm flipH="false" flipV="false" rot="0">
            <a:off x="9155151" y="1914242"/>
            <a:ext cx="8737992" cy="8229600"/>
          </a:xfrm>
          <a:custGeom>
            <a:avLst/>
            <a:gdLst/>
            <a:ahLst/>
            <a:cxnLst/>
            <a:rect r="r" b="b" t="t" l="l"/>
            <a:pathLst>
              <a:path h="8229600" w="8737992">
                <a:moveTo>
                  <a:pt x="0" y="0"/>
                </a:moveTo>
                <a:lnTo>
                  <a:pt x="8737992" y="0"/>
                </a:lnTo>
                <a:lnTo>
                  <a:pt x="8737992" y="8229600"/>
                </a:lnTo>
                <a:lnTo>
                  <a:pt x="0" y="8229600"/>
                </a:lnTo>
                <a:lnTo>
                  <a:pt x="0" y="0"/>
                </a:lnTo>
                <a:close/>
              </a:path>
            </a:pathLst>
          </a:custGeom>
          <a:blipFill>
            <a:blip r:embed="rId3"/>
            <a:stretch>
              <a:fillRect l="0" t="0" r="0" b="0"/>
            </a:stretch>
          </a:blipFill>
        </p:spPr>
      </p:sp>
      <p:sp>
        <p:nvSpPr>
          <p:cNvPr name="TextBox 4" id="4"/>
          <p:cNvSpPr txBox="true"/>
          <p:nvPr/>
        </p:nvSpPr>
        <p:spPr>
          <a:xfrm rot="0">
            <a:off x="786391" y="468168"/>
            <a:ext cx="16230600" cy="2302125"/>
          </a:xfrm>
          <a:prstGeom prst="rect">
            <a:avLst/>
          </a:prstGeom>
        </p:spPr>
        <p:txBody>
          <a:bodyPr anchor="t" rtlCol="false" tIns="0" lIns="0" bIns="0" rIns="0">
            <a:spAutoFit/>
          </a:bodyPr>
          <a:lstStyle/>
          <a:p>
            <a:pPr algn="l">
              <a:lnSpc>
                <a:spcPts val="8668"/>
              </a:lnSpc>
            </a:pPr>
            <a:r>
              <a:rPr lang="en-US" sz="10079" spc="-473" b="true">
                <a:solidFill>
                  <a:srgbClr val="FFFFFF"/>
                </a:solidFill>
                <a:latin typeface="Open Sauce Heavy"/>
                <a:ea typeface="Open Sauce Heavy"/>
                <a:cs typeface="Open Sauce Heavy"/>
                <a:sym typeface="Open Sauce Heavy"/>
              </a:rPr>
              <a:t>Requerimientos de usuario</a:t>
            </a:r>
          </a:p>
          <a:p>
            <a:pPr algn="l">
              <a:lnSpc>
                <a:spcPts val="8668"/>
              </a:lnSpc>
            </a:pPr>
          </a:p>
        </p:txBody>
      </p:sp>
      <p:sp>
        <p:nvSpPr>
          <p:cNvPr name="TextBox 5" id="5"/>
          <p:cNvSpPr txBox="true"/>
          <p:nvPr/>
        </p:nvSpPr>
        <p:spPr>
          <a:xfrm rot="0">
            <a:off x="1028700" y="2722668"/>
            <a:ext cx="11085865" cy="3306374"/>
          </a:xfrm>
          <a:prstGeom prst="rect">
            <a:avLst/>
          </a:prstGeom>
        </p:spPr>
        <p:txBody>
          <a:bodyPr anchor="t" rtlCol="false" tIns="0" lIns="0" bIns="0" rIns="0">
            <a:spAutoFit/>
          </a:bodyPr>
          <a:lstStyle/>
          <a:p>
            <a:pPr algn="l">
              <a:lnSpc>
                <a:spcPts val="4397"/>
              </a:lnSpc>
            </a:pPr>
            <a:r>
              <a:rPr lang="en-US" sz="3233" spc="-74">
                <a:solidFill>
                  <a:srgbClr val="FFFFFF"/>
                </a:solidFill>
                <a:latin typeface="Open Sauce Light"/>
                <a:ea typeface="Open Sauce Light"/>
                <a:cs typeface="Open Sauce Light"/>
                <a:sym typeface="Open Sauce Light"/>
              </a:rPr>
              <a:t>El sistema debe permitir:</a:t>
            </a:r>
          </a:p>
          <a:p>
            <a:pPr algn="l" marL="698150" indent="-349075" lvl="1">
              <a:lnSpc>
                <a:spcPts val="4397"/>
              </a:lnSpc>
              <a:buFont typeface="Arial"/>
              <a:buChar char="•"/>
            </a:pPr>
            <a:r>
              <a:rPr lang="en-US" sz="3233" spc="-74">
                <a:solidFill>
                  <a:srgbClr val="FFFFFF"/>
                </a:solidFill>
                <a:latin typeface="Open Sauce Light"/>
                <a:ea typeface="Open Sauce Light"/>
                <a:cs typeface="Open Sauce Light"/>
                <a:sym typeface="Open Sauce Light"/>
              </a:rPr>
              <a:t>registrar ingredientes</a:t>
            </a:r>
          </a:p>
          <a:p>
            <a:pPr algn="l" marL="698150" indent="-349075" lvl="1">
              <a:lnSpc>
                <a:spcPts val="4397"/>
              </a:lnSpc>
              <a:buFont typeface="Arial"/>
              <a:buChar char="•"/>
            </a:pPr>
            <a:r>
              <a:rPr lang="en-US" sz="3233" spc="-74">
                <a:solidFill>
                  <a:srgbClr val="FFFFFF"/>
                </a:solidFill>
                <a:latin typeface="Open Sauce Light"/>
                <a:ea typeface="Open Sauce Light"/>
                <a:cs typeface="Open Sauce Light"/>
                <a:sym typeface="Open Sauce Light"/>
              </a:rPr>
              <a:t> consultar recetas sugeridas</a:t>
            </a:r>
          </a:p>
          <a:p>
            <a:pPr algn="l" marL="698150" indent="-349075" lvl="1">
              <a:lnSpc>
                <a:spcPts val="4397"/>
              </a:lnSpc>
              <a:buFont typeface="Arial"/>
              <a:buChar char="•"/>
            </a:pPr>
            <a:r>
              <a:rPr lang="en-US" sz="3233" spc="-74">
                <a:solidFill>
                  <a:srgbClr val="FFFFFF"/>
                </a:solidFill>
                <a:latin typeface="Open Sauce Light"/>
                <a:ea typeface="Open Sauce Light"/>
                <a:cs typeface="Open Sauce Light"/>
                <a:sym typeface="Open Sauce Light"/>
              </a:rPr>
              <a:t> guardar recetas favoritas</a:t>
            </a:r>
          </a:p>
          <a:p>
            <a:pPr algn="l" marL="698150" indent="-349075" lvl="1">
              <a:lnSpc>
                <a:spcPts val="4397"/>
              </a:lnSpc>
              <a:buFont typeface="Arial"/>
              <a:buChar char="•"/>
            </a:pPr>
            <a:r>
              <a:rPr lang="en-US" sz="3233" spc="-74">
                <a:solidFill>
                  <a:srgbClr val="FFFFFF"/>
                </a:solidFill>
                <a:latin typeface="Open Sauce Light"/>
                <a:ea typeface="Open Sauce Light"/>
                <a:cs typeface="Open Sauce Light"/>
                <a:sym typeface="Open Sauce Light"/>
              </a:rPr>
              <a:t> visualizar pasos de preparación</a:t>
            </a:r>
          </a:p>
          <a:p>
            <a:pPr algn="l">
              <a:lnSpc>
                <a:spcPts val="4397"/>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sp>
        <p:nvSpPr>
          <p:cNvPr name="TextBox 3" id="3"/>
          <p:cNvSpPr txBox="true"/>
          <p:nvPr/>
        </p:nvSpPr>
        <p:spPr>
          <a:xfrm rot="0">
            <a:off x="786391" y="468168"/>
            <a:ext cx="17501609" cy="2302125"/>
          </a:xfrm>
          <a:prstGeom prst="rect">
            <a:avLst/>
          </a:prstGeom>
        </p:spPr>
        <p:txBody>
          <a:bodyPr anchor="t" rtlCol="false" tIns="0" lIns="0" bIns="0" rIns="0">
            <a:spAutoFit/>
          </a:bodyPr>
          <a:lstStyle/>
          <a:p>
            <a:pPr algn="l">
              <a:lnSpc>
                <a:spcPts val="8668"/>
              </a:lnSpc>
            </a:pPr>
            <a:r>
              <a:rPr lang="en-US" sz="10079" spc="-473" b="true">
                <a:solidFill>
                  <a:srgbClr val="FFFFFF"/>
                </a:solidFill>
                <a:latin typeface="Open Sauce Heavy"/>
                <a:ea typeface="Open Sauce Heavy"/>
                <a:cs typeface="Open Sauce Heavy"/>
                <a:sym typeface="Open Sauce Heavy"/>
              </a:rPr>
              <a:t>Requerimientos funcionales</a:t>
            </a:r>
          </a:p>
          <a:p>
            <a:pPr algn="l">
              <a:lnSpc>
                <a:spcPts val="8668"/>
              </a:lnSpc>
            </a:pPr>
          </a:p>
        </p:txBody>
      </p:sp>
      <p:sp>
        <p:nvSpPr>
          <p:cNvPr name="TextBox 4" id="4"/>
          <p:cNvSpPr txBox="true"/>
          <p:nvPr/>
        </p:nvSpPr>
        <p:spPr>
          <a:xfrm rot="0">
            <a:off x="758715" y="2555969"/>
            <a:ext cx="8385285" cy="2922099"/>
          </a:xfrm>
          <a:prstGeom prst="rect">
            <a:avLst/>
          </a:prstGeom>
        </p:spPr>
        <p:txBody>
          <a:bodyPr anchor="t" rtlCol="false" tIns="0" lIns="0" bIns="0" rIns="0">
            <a:spAutoFit/>
          </a:bodyPr>
          <a:lstStyle/>
          <a:p>
            <a:pPr algn="l">
              <a:lnSpc>
                <a:spcPts val="3326"/>
              </a:lnSpc>
            </a:pPr>
            <a:r>
              <a:rPr lang="en-US" sz="2445" spc="-56">
                <a:solidFill>
                  <a:srgbClr val="FFFFFF"/>
                </a:solidFill>
                <a:latin typeface="Open Sauce Light"/>
                <a:ea typeface="Open Sauce Light"/>
                <a:cs typeface="Open Sauce Light"/>
                <a:sym typeface="Open Sauce Light"/>
              </a:rPr>
              <a:t>El sistema debe:</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permitir registro de usuario</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almacenar ingredientes disponibles</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generar recomendaciones automáticas</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mostrar instrucciones de recetas</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guardar historial de uso</a:t>
            </a:r>
          </a:p>
          <a:p>
            <a:pPr algn="l">
              <a:lnSpc>
                <a:spcPts val="3326"/>
              </a:lnSpc>
            </a:pPr>
          </a:p>
        </p:txBody>
      </p:sp>
      <p:pic>
        <p:nvPicPr>
          <p:cNvPr name="Picture 5" id="5"/>
          <p:cNvPicPr>
            <a:picLocks noChangeAspect="true"/>
          </p:cNvPicPr>
          <p:nvPr/>
        </p:nvPicPr>
        <p:blipFill>
          <a:blip r:embed="rId3"/>
          <a:stretch>
            <a:fillRect/>
          </a:stretch>
        </p:blipFill>
        <p:spPr>
          <a:xfrm rot="0">
            <a:off x="4903938" y="5440471"/>
            <a:ext cx="5054464" cy="4957211"/>
          </a:xfrm>
          <a:prstGeom prst="rect">
            <a:avLst/>
          </a:prstGeom>
        </p:spPr>
      </p:pic>
      <p:pic>
        <p:nvPicPr>
          <p:cNvPr name="Picture 6" id="6"/>
          <p:cNvPicPr>
            <a:picLocks noChangeAspect="true"/>
          </p:cNvPicPr>
          <p:nvPr/>
        </p:nvPicPr>
        <p:blipFill>
          <a:blip r:embed="rId4"/>
          <a:stretch>
            <a:fillRect/>
          </a:stretch>
        </p:blipFill>
        <p:spPr>
          <a:xfrm rot="0">
            <a:off x="8300356" y="1567188"/>
            <a:ext cx="4705506" cy="4937760"/>
          </a:xfrm>
          <a:prstGeom prst="rect">
            <a:avLst/>
          </a:prstGeom>
        </p:spPr>
      </p:pic>
      <p:pic>
        <p:nvPicPr>
          <p:cNvPr name="Picture 7" id="7"/>
          <p:cNvPicPr>
            <a:picLocks noChangeAspect="true"/>
          </p:cNvPicPr>
          <p:nvPr/>
        </p:nvPicPr>
        <p:blipFill>
          <a:blip r:embed="rId5"/>
          <a:stretch>
            <a:fillRect/>
          </a:stretch>
        </p:blipFill>
        <p:spPr>
          <a:xfrm rot="0">
            <a:off x="13349195" y="4899494"/>
            <a:ext cx="4705506" cy="4937760"/>
          </a:xfrm>
          <a:prstGeom prst="rect">
            <a:avLst/>
          </a:prstGeom>
        </p:spPr>
      </p:pic>
      <p:sp>
        <p:nvSpPr>
          <p:cNvPr name="Freeform 8" id="8"/>
          <p:cNvSpPr/>
          <p:nvPr/>
        </p:nvSpPr>
        <p:spPr>
          <a:xfrm flipH="false" flipV="false" rot="2212963">
            <a:off x="11466816" y="2954479"/>
            <a:ext cx="4312400" cy="1180520"/>
          </a:xfrm>
          <a:custGeom>
            <a:avLst/>
            <a:gdLst/>
            <a:ahLst/>
            <a:cxnLst/>
            <a:rect r="r" b="b" t="t" l="l"/>
            <a:pathLst>
              <a:path h="1180520" w="4312400">
                <a:moveTo>
                  <a:pt x="0" y="0"/>
                </a:moveTo>
                <a:lnTo>
                  <a:pt x="4312400" y="0"/>
                </a:lnTo>
                <a:lnTo>
                  <a:pt x="4312400" y="1180520"/>
                </a:lnTo>
                <a:lnTo>
                  <a:pt x="0" y="1180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635482">
            <a:off x="10187390" y="8668040"/>
            <a:ext cx="4312400" cy="1180520"/>
          </a:xfrm>
          <a:custGeom>
            <a:avLst/>
            <a:gdLst/>
            <a:ahLst/>
            <a:cxnLst/>
            <a:rect r="r" b="b" t="t" l="l"/>
            <a:pathLst>
              <a:path h="1180520" w="4312400">
                <a:moveTo>
                  <a:pt x="0" y="0"/>
                </a:moveTo>
                <a:lnTo>
                  <a:pt x="4312400" y="0"/>
                </a:lnTo>
                <a:lnTo>
                  <a:pt x="4312400" y="1180520"/>
                </a:lnTo>
                <a:lnTo>
                  <a:pt x="0" y="1180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sp>
        <p:nvSpPr>
          <p:cNvPr name="TextBox 3" id="3"/>
          <p:cNvSpPr txBox="true"/>
          <p:nvPr/>
        </p:nvSpPr>
        <p:spPr>
          <a:xfrm rot="0">
            <a:off x="78117" y="441843"/>
            <a:ext cx="18360705" cy="3397500"/>
          </a:xfrm>
          <a:prstGeom prst="rect">
            <a:avLst/>
          </a:prstGeom>
        </p:spPr>
        <p:txBody>
          <a:bodyPr anchor="t" rtlCol="false" tIns="0" lIns="0" bIns="0" rIns="0">
            <a:spAutoFit/>
          </a:bodyPr>
          <a:lstStyle/>
          <a:p>
            <a:pPr algn="ctr">
              <a:lnSpc>
                <a:spcPts val="8668"/>
              </a:lnSpc>
            </a:pPr>
            <a:r>
              <a:rPr lang="en-US" b="true" sz="10079" spc="-473">
                <a:solidFill>
                  <a:srgbClr val="FFFFFF"/>
                </a:solidFill>
                <a:latin typeface="Open Sauce Heavy"/>
                <a:ea typeface="Open Sauce Heavy"/>
                <a:cs typeface="Open Sauce Heavy"/>
                <a:sym typeface="Open Sauce Heavy"/>
              </a:rPr>
              <a:t>Requerimientos no funcionales (IHC)</a:t>
            </a:r>
          </a:p>
          <a:p>
            <a:pPr algn="ctr">
              <a:lnSpc>
                <a:spcPts val="8668"/>
              </a:lnSpc>
            </a:pPr>
          </a:p>
        </p:txBody>
      </p:sp>
      <p:sp>
        <p:nvSpPr>
          <p:cNvPr name="TextBox 4" id="4"/>
          <p:cNvSpPr txBox="true"/>
          <p:nvPr/>
        </p:nvSpPr>
        <p:spPr>
          <a:xfrm rot="0">
            <a:off x="1028700" y="3653876"/>
            <a:ext cx="10256449" cy="3575184"/>
          </a:xfrm>
          <a:prstGeom prst="rect">
            <a:avLst/>
          </a:prstGeom>
        </p:spPr>
        <p:txBody>
          <a:bodyPr anchor="t" rtlCol="false" tIns="0" lIns="0" bIns="0" rIns="0">
            <a:spAutoFit/>
          </a:bodyPr>
          <a:lstStyle/>
          <a:p>
            <a:pPr algn="l">
              <a:lnSpc>
                <a:spcPts val="4068"/>
              </a:lnSpc>
            </a:pPr>
            <a:r>
              <a:rPr lang="en-US" sz="2991" spc="-68">
                <a:solidFill>
                  <a:srgbClr val="FFFFFF"/>
                </a:solidFill>
                <a:latin typeface="Open Sauce Light"/>
                <a:ea typeface="Open Sauce Light"/>
                <a:cs typeface="Open Sauce Light"/>
                <a:sym typeface="Open Sauce Light"/>
              </a:rPr>
              <a:t>El sistema debe ser:</a:t>
            </a:r>
          </a:p>
          <a:p>
            <a:pPr algn="l" marL="645916" indent="-322958" lvl="1">
              <a:lnSpc>
                <a:spcPts val="4068"/>
              </a:lnSpc>
              <a:buFont typeface="Arial"/>
              <a:buChar char="•"/>
            </a:pPr>
            <a:r>
              <a:rPr lang="en-US" sz="2991" spc="-68">
                <a:solidFill>
                  <a:srgbClr val="FFFFFF"/>
                </a:solidFill>
                <a:latin typeface="Open Sauce Light"/>
                <a:ea typeface="Open Sauce Light"/>
                <a:cs typeface="Open Sauce Light"/>
                <a:sym typeface="Open Sauce Light"/>
              </a:rPr>
              <a:t>intuitivo</a:t>
            </a:r>
          </a:p>
          <a:p>
            <a:pPr algn="l" marL="645916" indent="-322958" lvl="1">
              <a:lnSpc>
                <a:spcPts val="4068"/>
              </a:lnSpc>
              <a:buFont typeface="Arial"/>
              <a:buChar char="•"/>
            </a:pPr>
            <a:r>
              <a:rPr lang="en-US" sz="2991" spc="-68">
                <a:solidFill>
                  <a:srgbClr val="FFFFFF"/>
                </a:solidFill>
                <a:latin typeface="Open Sauce Light"/>
                <a:ea typeface="Open Sauce Light"/>
                <a:cs typeface="Open Sauce Light"/>
                <a:sym typeface="Open Sauce Light"/>
              </a:rPr>
              <a:t> rápido</a:t>
            </a:r>
          </a:p>
          <a:p>
            <a:pPr algn="l" marL="645916" indent="-322958" lvl="1">
              <a:lnSpc>
                <a:spcPts val="4068"/>
              </a:lnSpc>
              <a:buFont typeface="Arial"/>
              <a:buChar char="•"/>
            </a:pPr>
            <a:r>
              <a:rPr lang="en-US" sz="2991" spc="-68">
                <a:solidFill>
                  <a:srgbClr val="FFFFFF"/>
                </a:solidFill>
                <a:latin typeface="Open Sauce Light"/>
                <a:ea typeface="Open Sauce Light"/>
                <a:cs typeface="Open Sauce Light"/>
                <a:sym typeface="Open Sauce Light"/>
              </a:rPr>
              <a:t> accesible desde móvil y web</a:t>
            </a:r>
          </a:p>
          <a:p>
            <a:pPr algn="l" marL="645916" indent="-322958" lvl="1">
              <a:lnSpc>
                <a:spcPts val="4068"/>
              </a:lnSpc>
              <a:buFont typeface="Arial"/>
              <a:buChar char="•"/>
            </a:pPr>
            <a:r>
              <a:rPr lang="en-US" sz="2991" spc="-68">
                <a:solidFill>
                  <a:srgbClr val="FFFFFF"/>
                </a:solidFill>
                <a:latin typeface="Open Sauce Light"/>
                <a:ea typeface="Open Sauce Light"/>
                <a:cs typeface="Open Sauce Light"/>
                <a:sym typeface="Open Sauce Light"/>
              </a:rPr>
              <a:t> seguro en manejo de datos</a:t>
            </a:r>
          </a:p>
          <a:p>
            <a:pPr algn="l" marL="645916" indent="-322958" lvl="1">
              <a:lnSpc>
                <a:spcPts val="4068"/>
              </a:lnSpc>
              <a:buFont typeface="Arial"/>
              <a:buChar char="•"/>
            </a:pPr>
            <a:r>
              <a:rPr lang="en-US" sz="2991" spc="-68">
                <a:solidFill>
                  <a:srgbClr val="FFFFFF"/>
                </a:solidFill>
                <a:latin typeface="Open Sauce Light"/>
                <a:ea typeface="Open Sauce Light"/>
                <a:cs typeface="Open Sauce Light"/>
                <a:sym typeface="Open Sauce Light"/>
              </a:rPr>
              <a:t> fácil de aprender en menos de 5 minutos</a:t>
            </a:r>
          </a:p>
          <a:p>
            <a:pPr algn="l">
              <a:lnSpc>
                <a:spcPts val="4068"/>
              </a:lnSpc>
            </a:pPr>
          </a:p>
        </p:txBody>
      </p:sp>
      <p:sp>
        <p:nvSpPr>
          <p:cNvPr name="Freeform 5" id="5"/>
          <p:cNvSpPr/>
          <p:nvPr/>
        </p:nvSpPr>
        <p:spPr>
          <a:xfrm flipH="false" flipV="false" rot="0">
            <a:off x="11285149" y="4500186"/>
            <a:ext cx="4119159" cy="4114800"/>
          </a:xfrm>
          <a:custGeom>
            <a:avLst/>
            <a:gdLst/>
            <a:ahLst/>
            <a:cxnLst/>
            <a:rect r="r" b="b" t="t" l="l"/>
            <a:pathLst>
              <a:path h="4114800" w="4119159">
                <a:moveTo>
                  <a:pt x="0" y="0"/>
                </a:moveTo>
                <a:lnTo>
                  <a:pt x="4119159" y="0"/>
                </a:lnTo>
                <a:lnTo>
                  <a:pt x="411915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272407" y="2448222"/>
            <a:ext cx="17743186" cy="5665682"/>
            <a:chOff x="0" y="0"/>
            <a:chExt cx="6678582" cy="2132578"/>
          </a:xfrm>
        </p:grpSpPr>
        <p:sp>
          <p:nvSpPr>
            <p:cNvPr name="Freeform 10" id="10"/>
            <p:cNvSpPr/>
            <p:nvPr/>
          </p:nvSpPr>
          <p:spPr>
            <a:xfrm flipH="false" flipV="false" rot="0">
              <a:off x="0" y="0"/>
              <a:ext cx="6678582" cy="2132578"/>
            </a:xfrm>
            <a:custGeom>
              <a:avLst/>
              <a:gdLst/>
              <a:ahLst/>
              <a:cxnLst/>
              <a:rect r="r" b="b" t="t" l="l"/>
              <a:pathLst>
                <a:path h="2132578" w="6678582">
                  <a:moveTo>
                    <a:pt x="22253" y="0"/>
                  </a:moveTo>
                  <a:lnTo>
                    <a:pt x="6656329" y="0"/>
                  </a:lnTo>
                  <a:cubicBezTo>
                    <a:pt x="6662231" y="0"/>
                    <a:pt x="6667891" y="2344"/>
                    <a:pt x="6672065" y="6518"/>
                  </a:cubicBezTo>
                  <a:cubicBezTo>
                    <a:pt x="6676237" y="10691"/>
                    <a:pt x="6678582" y="16351"/>
                    <a:pt x="6678582" y="22253"/>
                  </a:cubicBezTo>
                  <a:lnTo>
                    <a:pt x="6678582" y="2110325"/>
                  </a:lnTo>
                  <a:cubicBezTo>
                    <a:pt x="6678582" y="2116227"/>
                    <a:pt x="6676237" y="2121887"/>
                    <a:pt x="6672065" y="2126060"/>
                  </a:cubicBezTo>
                  <a:cubicBezTo>
                    <a:pt x="6667891" y="2130233"/>
                    <a:pt x="6662231" y="2132578"/>
                    <a:pt x="6656329" y="2132578"/>
                  </a:cubicBezTo>
                  <a:lnTo>
                    <a:pt x="22253" y="2132578"/>
                  </a:lnTo>
                  <a:cubicBezTo>
                    <a:pt x="9963" y="2132578"/>
                    <a:pt x="0" y="2122615"/>
                    <a:pt x="0" y="2110325"/>
                  </a:cubicBezTo>
                  <a:lnTo>
                    <a:pt x="0" y="22253"/>
                  </a:lnTo>
                  <a:cubicBezTo>
                    <a:pt x="0" y="16351"/>
                    <a:pt x="2344" y="10691"/>
                    <a:pt x="6518" y="6518"/>
                  </a:cubicBezTo>
                  <a:cubicBezTo>
                    <a:pt x="10691" y="2344"/>
                    <a:pt x="16351" y="0"/>
                    <a:pt x="22253"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1" id="11"/>
            <p:cNvSpPr txBox="true"/>
            <p:nvPr/>
          </p:nvSpPr>
          <p:spPr>
            <a:xfrm>
              <a:off x="0" y="85725"/>
              <a:ext cx="6678582" cy="2046853"/>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2" id="12"/>
          <p:cNvGrpSpPr/>
          <p:nvPr/>
        </p:nvGrpSpPr>
        <p:grpSpPr>
          <a:xfrm rot="0">
            <a:off x="16971505" y="329856"/>
            <a:ext cx="228733" cy="22873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DBD8D8">
                    <a:alpha val="100000"/>
                  </a:srgbClr>
                </a:gs>
              </a:gsLst>
              <a:lin ang="5400000"/>
            </a:gradFill>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15" id="15"/>
          <p:cNvGrpSpPr/>
          <p:nvPr/>
        </p:nvGrpSpPr>
        <p:grpSpPr>
          <a:xfrm rot="0">
            <a:off x="17271954" y="329856"/>
            <a:ext cx="228733" cy="22873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DBD8D8">
                    <a:alpha val="100000"/>
                  </a:srgbClr>
                </a:gs>
              </a:gsLst>
              <a:lin ang="5400000"/>
            </a:gradFill>
          </p:spPr>
        </p:sp>
        <p:sp>
          <p:nvSpPr>
            <p:cNvPr name="TextBox 17" id="17"/>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TextBox 18" id="18"/>
          <p:cNvSpPr txBox="true"/>
          <p:nvPr/>
        </p:nvSpPr>
        <p:spPr>
          <a:xfrm rot="0">
            <a:off x="5264539" y="358431"/>
            <a:ext cx="8547528" cy="1124334"/>
          </a:xfrm>
          <a:prstGeom prst="rect">
            <a:avLst/>
          </a:prstGeom>
        </p:spPr>
        <p:txBody>
          <a:bodyPr anchor="t" rtlCol="false" tIns="0" lIns="0" bIns="0" rIns="0">
            <a:spAutoFit/>
          </a:bodyPr>
          <a:lstStyle/>
          <a:p>
            <a:pPr algn="l">
              <a:lnSpc>
                <a:spcPts val="8892"/>
              </a:lnSpc>
            </a:pPr>
            <a:r>
              <a:rPr lang="en-US" b="true" sz="7600" spc="-319">
                <a:solidFill>
                  <a:srgbClr val="FFFFFF"/>
                </a:solidFill>
                <a:latin typeface="Open Sauce Bold"/>
                <a:ea typeface="Open Sauce Bold"/>
                <a:cs typeface="Open Sauce Bold"/>
                <a:sym typeface="Open Sauce Bold"/>
              </a:rPr>
              <a:t>Perfiles de usuario</a:t>
            </a:r>
          </a:p>
        </p:txBody>
      </p:sp>
      <p:grpSp>
        <p:nvGrpSpPr>
          <p:cNvPr name="Group 19" id="19"/>
          <p:cNvGrpSpPr/>
          <p:nvPr/>
        </p:nvGrpSpPr>
        <p:grpSpPr>
          <a:xfrm rot="0">
            <a:off x="17572403" y="329856"/>
            <a:ext cx="228733" cy="22873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DBD8D8">
                    <a:alpha val="100000"/>
                  </a:srgbClr>
                </a:gs>
              </a:gsLst>
              <a:lin ang="5400000"/>
            </a:gradFill>
          </p:spPr>
        </p:sp>
        <p:sp>
          <p:nvSpPr>
            <p:cNvPr name="TextBox 21" id="2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grpSp>
        <p:nvGrpSpPr>
          <p:cNvPr name="Group 22" id="22"/>
          <p:cNvGrpSpPr/>
          <p:nvPr/>
        </p:nvGrpSpPr>
        <p:grpSpPr>
          <a:xfrm rot="0">
            <a:off x="1007981" y="2689061"/>
            <a:ext cx="7844860" cy="2257980"/>
            <a:chOff x="0" y="0"/>
            <a:chExt cx="2952826" cy="849910"/>
          </a:xfrm>
        </p:grpSpPr>
        <p:sp>
          <p:nvSpPr>
            <p:cNvPr name="Freeform 23" id="23"/>
            <p:cNvSpPr/>
            <p:nvPr/>
          </p:nvSpPr>
          <p:spPr>
            <a:xfrm flipH="false" flipV="false" rot="0">
              <a:off x="0" y="0"/>
              <a:ext cx="2952826" cy="849910"/>
            </a:xfrm>
            <a:custGeom>
              <a:avLst/>
              <a:gdLst/>
              <a:ahLst/>
              <a:cxnLst/>
              <a:rect r="r" b="b" t="t" l="l"/>
              <a:pathLst>
                <a:path h="849910" w="2952826">
                  <a:moveTo>
                    <a:pt x="50331" y="0"/>
                  </a:moveTo>
                  <a:lnTo>
                    <a:pt x="2902495" y="0"/>
                  </a:lnTo>
                  <a:cubicBezTo>
                    <a:pt x="2930292" y="0"/>
                    <a:pt x="2952826" y="22534"/>
                    <a:pt x="2952826" y="50331"/>
                  </a:cubicBezTo>
                  <a:lnTo>
                    <a:pt x="2952826" y="799579"/>
                  </a:lnTo>
                  <a:cubicBezTo>
                    <a:pt x="2952826" y="812928"/>
                    <a:pt x="2947523" y="825729"/>
                    <a:pt x="2938085" y="835168"/>
                  </a:cubicBezTo>
                  <a:cubicBezTo>
                    <a:pt x="2928646" y="844607"/>
                    <a:pt x="2915844" y="849910"/>
                    <a:pt x="2902495" y="849910"/>
                  </a:cubicBezTo>
                  <a:lnTo>
                    <a:pt x="50331" y="849910"/>
                  </a:lnTo>
                  <a:cubicBezTo>
                    <a:pt x="22534" y="849910"/>
                    <a:pt x="0" y="827376"/>
                    <a:pt x="0" y="799579"/>
                  </a:cubicBezTo>
                  <a:lnTo>
                    <a:pt x="0" y="50331"/>
                  </a:lnTo>
                  <a:cubicBezTo>
                    <a:pt x="0" y="22534"/>
                    <a:pt x="22534" y="0"/>
                    <a:pt x="50331" y="0"/>
                  </a:cubicBezTo>
                  <a:close/>
                </a:path>
              </a:pathLst>
            </a:custGeom>
            <a:gradFill rotWithShape="true">
              <a:gsLst>
                <a:gs pos="0">
                  <a:srgbClr val="FFFFFF">
                    <a:alpha val="100000"/>
                  </a:srgbClr>
                </a:gs>
                <a:gs pos="100000">
                  <a:srgbClr val="DBD8D8">
                    <a:alpha val="100000"/>
                  </a:srgbClr>
                </a:gs>
              </a:gsLst>
              <a:lin ang="5400000"/>
            </a:gradFill>
            <a:ln w="19050" cap="rnd">
              <a:solidFill>
                <a:srgbClr val="FFFFFF"/>
              </a:solidFill>
              <a:prstDash val="solid"/>
              <a:round/>
            </a:ln>
          </p:spPr>
        </p:sp>
        <p:sp>
          <p:nvSpPr>
            <p:cNvPr name="TextBox 24" id="24"/>
            <p:cNvSpPr txBox="true"/>
            <p:nvPr/>
          </p:nvSpPr>
          <p:spPr>
            <a:xfrm>
              <a:off x="0" y="85725"/>
              <a:ext cx="2952826" cy="76418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25" id="25"/>
          <p:cNvSpPr txBox="true"/>
          <p:nvPr/>
        </p:nvSpPr>
        <p:spPr>
          <a:xfrm rot="0">
            <a:off x="1363522" y="2723398"/>
            <a:ext cx="7133778" cy="2130425"/>
          </a:xfrm>
          <a:prstGeom prst="rect">
            <a:avLst/>
          </a:prstGeom>
        </p:spPr>
        <p:txBody>
          <a:bodyPr anchor="t" rtlCol="false" tIns="0" lIns="0" bIns="0" rIns="0">
            <a:spAutoFit/>
          </a:bodyPr>
          <a:lstStyle/>
          <a:p>
            <a:pPr algn="l">
              <a:lnSpc>
                <a:spcPts val="3399"/>
              </a:lnSpc>
            </a:pPr>
            <a:r>
              <a:rPr lang="en-US" sz="2499" spc="-57">
                <a:solidFill>
                  <a:srgbClr val="0E0637"/>
                </a:solidFill>
                <a:latin typeface="Open Sauce Light"/>
                <a:ea typeface="Open Sauce Light"/>
                <a:cs typeface="Open Sauce Light"/>
                <a:sym typeface="Open Sauce Light"/>
              </a:rPr>
              <a:t>El Joven que empieza a independisarse </a:t>
            </a:r>
          </a:p>
          <a:p>
            <a:pPr algn="l">
              <a:lnSpc>
                <a:spcPts val="3399"/>
              </a:lnSpc>
            </a:pPr>
            <a:r>
              <a:rPr lang="en-US" sz="2499" spc="-57">
                <a:solidFill>
                  <a:srgbClr val="0E0637"/>
                </a:solidFill>
                <a:latin typeface="Open Sauce Light"/>
                <a:ea typeface="Open Sauce Light"/>
                <a:cs typeface="Open Sauce Light"/>
                <a:sym typeface="Open Sauce Light"/>
              </a:rPr>
              <a:t>25-35 años</a:t>
            </a:r>
          </a:p>
          <a:p>
            <a:pPr algn="l">
              <a:lnSpc>
                <a:spcPts val="3399"/>
              </a:lnSpc>
            </a:pPr>
            <a:r>
              <a:rPr lang="en-US" sz="2499" spc="-57">
                <a:solidFill>
                  <a:srgbClr val="0E0637"/>
                </a:solidFill>
                <a:latin typeface="Open Sauce Light"/>
                <a:ea typeface="Open Sauce Light"/>
                <a:cs typeface="Open Sauce Light"/>
                <a:sym typeface="Open Sauce Light"/>
              </a:rPr>
              <a:t>Vive solo, nativo digital.</a:t>
            </a:r>
          </a:p>
          <a:p>
            <a:pPr algn="l">
              <a:lnSpc>
                <a:spcPts val="3399"/>
              </a:lnSpc>
            </a:pPr>
            <a:r>
              <a:rPr lang="en-US" sz="2499" spc="-57">
                <a:solidFill>
                  <a:srgbClr val="0E0637"/>
                </a:solidFill>
                <a:latin typeface="Open Sauce Light"/>
                <a:ea typeface="Open Sauce Light"/>
                <a:cs typeface="Open Sauce Light"/>
                <a:sym typeface="Open Sauce Light"/>
              </a:rPr>
              <a:t>Busca optimizar tiempo y evitar comida rápida por tratar de comer saludable.</a:t>
            </a:r>
          </a:p>
        </p:txBody>
      </p:sp>
      <p:grpSp>
        <p:nvGrpSpPr>
          <p:cNvPr name="Group 26" id="26"/>
          <p:cNvGrpSpPr/>
          <p:nvPr/>
        </p:nvGrpSpPr>
        <p:grpSpPr>
          <a:xfrm rot="-9278497">
            <a:off x="-5647074" y="-6955142"/>
            <a:ext cx="9966661" cy="996666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28" id="28"/>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29" id="29"/>
          <p:cNvGrpSpPr/>
          <p:nvPr/>
        </p:nvGrpSpPr>
        <p:grpSpPr>
          <a:xfrm rot="-9278497">
            <a:off x="-2997112" y="-1545956"/>
            <a:ext cx="5213104" cy="521310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31" id="31"/>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32" id="32"/>
          <p:cNvGrpSpPr/>
          <p:nvPr/>
        </p:nvGrpSpPr>
        <p:grpSpPr>
          <a:xfrm rot="0">
            <a:off x="1028700" y="5629982"/>
            <a:ext cx="7844860" cy="2257980"/>
            <a:chOff x="0" y="0"/>
            <a:chExt cx="2952826" cy="849910"/>
          </a:xfrm>
        </p:grpSpPr>
        <p:sp>
          <p:nvSpPr>
            <p:cNvPr name="Freeform 33" id="33"/>
            <p:cNvSpPr/>
            <p:nvPr/>
          </p:nvSpPr>
          <p:spPr>
            <a:xfrm flipH="false" flipV="false" rot="0">
              <a:off x="0" y="0"/>
              <a:ext cx="2952826" cy="849910"/>
            </a:xfrm>
            <a:custGeom>
              <a:avLst/>
              <a:gdLst/>
              <a:ahLst/>
              <a:cxnLst/>
              <a:rect r="r" b="b" t="t" l="l"/>
              <a:pathLst>
                <a:path h="849910" w="2952826">
                  <a:moveTo>
                    <a:pt x="50331" y="0"/>
                  </a:moveTo>
                  <a:lnTo>
                    <a:pt x="2902495" y="0"/>
                  </a:lnTo>
                  <a:cubicBezTo>
                    <a:pt x="2930292" y="0"/>
                    <a:pt x="2952826" y="22534"/>
                    <a:pt x="2952826" y="50331"/>
                  </a:cubicBezTo>
                  <a:lnTo>
                    <a:pt x="2952826" y="799579"/>
                  </a:lnTo>
                  <a:cubicBezTo>
                    <a:pt x="2952826" y="812928"/>
                    <a:pt x="2947523" y="825729"/>
                    <a:pt x="2938085" y="835168"/>
                  </a:cubicBezTo>
                  <a:cubicBezTo>
                    <a:pt x="2928646" y="844607"/>
                    <a:pt x="2915844" y="849910"/>
                    <a:pt x="2902495" y="849910"/>
                  </a:cubicBezTo>
                  <a:lnTo>
                    <a:pt x="50331" y="849910"/>
                  </a:lnTo>
                  <a:cubicBezTo>
                    <a:pt x="22534" y="849910"/>
                    <a:pt x="0" y="827376"/>
                    <a:pt x="0" y="799579"/>
                  </a:cubicBezTo>
                  <a:lnTo>
                    <a:pt x="0" y="50331"/>
                  </a:lnTo>
                  <a:cubicBezTo>
                    <a:pt x="0" y="22534"/>
                    <a:pt x="22534" y="0"/>
                    <a:pt x="50331" y="0"/>
                  </a:cubicBezTo>
                  <a:close/>
                </a:path>
              </a:pathLst>
            </a:custGeom>
            <a:gradFill rotWithShape="true">
              <a:gsLst>
                <a:gs pos="0">
                  <a:srgbClr val="FFFFFF">
                    <a:alpha val="100000"/>
                  </a:srgbClr>
                </a:gs>
                <a:gs pos="100000">
                  <a:srgbClr val="DBD8D8">
                    <a:alpha val="100000"/>
                  </a:srgbClr>
                </a:gs>
              </a:gsLst>
              <a:lin ang="5400000"/>
            </a:gradFill>
            <a:ln w="19050" cap="rnd">
              <a:solidFill>
                <a:srgbClr val="FFFFFF"/>
              </a:solidFill>
              <a:prstDash val="solid"/>
              <a:round/>
            </a:ln>
          </p:spPr>
        </p:sp>
        <p:sp>
          <p:nvSpPr>
            <p:cNvPr name="TextBox 34" id="34"/>
            <p:cNvSpPr txBox="true"/>
            <p:nvPr/>
          </p:nvSpPr>
          <p:spPr>
            <a:xfrm>
              <a:off x="0" y="85725"/>
              <a:ext cx="2952826" cy="76418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35" id="35"/>
          <p:cNvSpPr txBox="true"/>
          <p:nvPr/>
        </p:nvSpPr>
        <p:spPr>
          <a:xfrm rot="0">
            <a:off x="1363522" y="5757537"/>
            <a:ext cx="6533174" cy="2130425"/>
          </a:xfrm>
          <a:prstGeom prst="rect">
            <a:avLst/>
          </a:prstGeom>
        </p:spPr>
        <p:txBody>
          <a:bodyPr anchor="t" rtlCol="false" tIns="0" lIns="0" bIns="0" rIns="0">
            <a:spAutoFit/>
          </a:bodyPr>
          <a:lstStyle/>
          <a:p>
            <a:pPr algn="l">
              <a:lnSpc>
                <a:spcPts val="3399"/>
              </a:lnSpc>
            </a:pPr>
            <a:r>
              <a:rPr lang="en-US" sz="2499" spc="-57">
                <a:solidFill>
                  <a:srgbClr val="0E0637"/>
                </a:solidFill>
                <a:latin typeface="Open Sauce Light"/>
                <a:ea typeface="Open Sauce Light"/>
                <a:cs typeface="Open Sauce Light"/>
                <a:sym typeface="Open Sauce Light"/>
              </a:rPr>
              <a:t>El Estudiante Foráneo</a:t>
            </a:r>
          </a:p>
          <a:p>
            <a:pPr algn="l">
              <a:lnSpc>
                <a:spcPts val="3399"/>
              </a:lnSpc>
            </a:pPr>
            <a:r>
              <a:rPr lang="en-US" sz="2499" spc="-57">
                <a:solidFill>
                  <a:srgbClr val="0E0637"/>
                </a:solidFill>
                <a:latin typeface="Open Sauce Light"/>
                <a:ea typeface="Open Sauce Light"/>
                <a:cs typeface="Open Sauce Light"/>
                <a:sym typeface="Open Sauce Light"/>
              </a:rPr>
              <a:t>18-24 años</a:t>
            </a:r>
          </a:p>
          <a:p>
            <a:pPr algn="l">
              <a:lnSpc>
                <a:spcPts val="3399"/>
              </a:lnSpc>
            </a:pPr>
            <a:r>
              <a:rPr lang="en-US" sz="2499" spc="-57">
                <a:solidFill>
                  <a:srgbClr val="0E0637"/>
                </a:solidFill>
                <a:latin typeface="Open Sauce Light"/>
                <a:ea typeface="Open Sauce Light"/>
                <a:cs typeface="Open Sauce Light"/>
                <a:sym typeface="Open Sauce Light"/>
              </a:rPr>
              <a:t>Presupuesto limitado.</a:t>
            </a:r>
          </a:p>
          <a:p>
            <a:pPr algn="l">
              <a:lnSpc>
                <a:spcPts val="3399"/>
              </a:lnSpc>
            </a:pPr>
            <a:r>
              <a:rPr lang="en-US" sz="2499" spc="-57">
                <a:solidFill>
                  <a:srgbClr val="0E0637"/>
                </a:solidFill>
                <a:latin typeface="Open Sauce Light"/>
                <a:ea typeface="Open Sauce Light"/>
                <a:cs typeface="Open Sauce Light"/>
                <a:sym typeface="Open Sauce Light"/>
              </a:rPr>
              <a:t>Aprovecha al máximo los pocos ingredientes que tiene.</a:t>
            </a:r>
          </a:p>
        </p:txBody>
      </p:sp>
      <p:grpSp>
        <p:nvGrpSpPr>
          <p:cNvPr name="Group 36" id="36"/>
          <p:cNvGrpSpPr/>
          <p:nvPr/>
        </p:nvGrpSpPr>
        <p:grpSpPr>
          <a:xfrm rot="0">
            <a:off x="10101738" y="2595843"/>
            <a:ext cx="7844860" cy="2257980"/>
            <a:chOff x="0" y="0"/>
            <a:chExt cx="2952826" cy="849910"/>
          </a:xfrm>
        </p:grpSpPr>
        <p:sp>
          <p:nvSpPr>
            <p:cNvPr name="Freeform 37" id="37"/>
            <p:cNvSpPr/>
            <p:nvPr/>
          </p:nvSpPr>
          <p:spPr>
            <a:xfrm flipH="false" flipV="false" rot="0">
              <a:off x="0" y="0"/>
              <a:ext cx="2952826" cy="849910"/>
            </a:xfrm>
            <a:custGeom>
              <a:avLst/>
              <a:gdLst/>
              <a:ahLst/>
              <a:cxnLst/>
              <a:rect r="r" b="b" t="t" l="l"/>
              <a:pathLst>
                <a:path h="849910" w="2952826">
                  <a:moveTo>
                    <a:pt x="50331" y="0"/>
                  </a:moveTo>
                  <a:lnTo>
                    <a:pt x="2902495" y="0"/>
                  </a:lnTo>
                  <a:cubicBezTo>
                    <a:pt x="2930292" y="0"/>
                    <a:pt x="2952826" y="22534"/>
                    <a:pt x="2952826" y="50331"/>
                  </a:cubicBezTo>
                  <a:lnTo>
                    <a:pt x="2952826" y="799579"/>
                  </a:lnTo>
                  <a:cubicBezTo>
                    <a:pt x="2952826" y="812928"/>
                    <a:pt x="2947523" y="825729"/>
                    <a:pt x="2938085" y="835168"/>
                  </a:cubicBezTo>
                  <a:cubicBezTo>
                    <a:pt x="2928646" y="844607"/>
                    <a:pt x="2915844" y="849910"/>
                    <a:pt x="2902495" y="849910"/>
                  </a:cubicBezTo>
                  <a:lnTo>
                    <a:pt x="50331" y="849910"/>
                  </a:lnTo>
                  <a:cubicBezTo>
                    <a:pt x="22534" y="849910"/>
                    <a:pt x="0" y="827376"/>
                    <a:pt x="0" y="799579"/>
                  </a:cubicBezTo>
                  <a:lnTo>
                    <a:pt x="0" y="50331"/>
                  </a:lnTo>
                  <a:cubicBezTo>
                    <a:pt x="0" y="22534"/>
                    <a:pt x="22534" y="0"/>
                    <a:pt x="50331" y="0"/>
                  </a:cubicBezTo>
                  <a:close/>
                </a:path>
              </a:pathLst>
            </a:custGeom>
            <a:gradFill rotWithShape="true">
              <a:gsLst>
                <a:gs pos="0">
                  <a:srgbClr val="FFFFFF">
                    <a:alpha val="100000"/>
                  </a:srgbClr>
                </a:gs>
                <a:gs pos="100000">
                  <a:srgbClr val="DBD8D8">
                    <a:alpha val="100000"/>
                  </a:srgbClr>
                </a:gs>
              </a:gsLst>
              <a:lin ang="5400000"/>
            </a:gradFill>
            <a:ln w="19050" cap="rnd">
              <a:solidFill>
                <a:srgbClr val="FFFFFF"/>
              </a:solidFill>
              <a:prstDash val="solid"/>
              <a:round/>
            </a:ln>
          </p:spPr>
        </p:sp>
        <p:sp>
          <p:nvSpPr>
            <p:cNvPr name="TextBox 38" id="38"/>
            <p:cNvSpPr txBox="true"/>
            <p:nvPr/>
          </p:nvSpPr>
          <p:spPr>
            <a:xfrm>
              <a:off x="0" y="85725"/>
              <a:ext cx="2952826" cy="76418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39" id="39"/>
          <p:cNvSpPr txBox="true"/>
          <p:nvPr/>
        </p:nvSpPr>
        <p:spPr>
          <a:xfrm rot="0">
            <a:off x="10436560" y="2733788"/>
            <a:ext cx="7364576" cy="2130425"/>
          </a:xfrm>
          <a:prstGeom prst="rect">
            <a:avLst/>
          </a:prstGeom>
        </p:spPr>
        <p:txBody>
          <a:bodyPr anchor="t" rtlCol="false" tIns="0" lIns="0" bIns="0" rIns="0">
            <a:spAutoFit/>
          </a:bodyPr>
          <a:lstStyle/>
          <a:p>
            <a:pPr algn="l">
              <a:lnSpc>
                <a:spcPts val="3399"/>
              </a:lnSpc>
            </a:pPr>
            <a:r>
              <a:rPr lang="en-US" sz="2499" spc="-57">
                <a:solidFill>
                  <a:srgbClr val="0E0637"/>
                </a:solidFill>
                <a:latin typeface="Open Sauce Light"/>
                <a:ea typeface="Open Sauce Light"/>
                <a:cs typeface="Open Sauce Light"/>
                <a:sym typeface="Open Sauce Light"/>
              </a:rPr>
              <a:t>El Padre/Madre Principiante</a:t>
            </a:r>
          </a:p>
          <a:p>
            <a:pPr algn="l">
              <a:lnSpc>
                <a:spcPts val="3399"/>
              </a:lnSpc>
            </a:pPr>
            <a:r>
              <a:rPr lang="en-US" sz="2499" spc="-57">
                <a:solidFill>
                  <a:srgbClr val="0E0637"/>
                </a:solidFill>
                <a:latin typeface="Open Sauce Light"/>
                <a:ea typeface="Open Sauce Light"/>
                <a:cs typeface="Open Sauce Light"/>
                <a:sym typeface="Open Sauce Light"/>
              </a:rPr>
              <a:t>20-40 años</a:t>
            </a:r>
          </a:p>
          <a:p>
            <a:pPr algn="l">
              <a:lnSpc>
                <a:spcPts val="3399"/>
              </a:lnSpc>
            </a:pPr>
            <a:r>
              <a:rPr lang="en-US" sz="2499" spc="-57">
                <a:solidFill>
                  <a:srgbClr val="0E0637"/>
                </a:solidFill>
                <a:latin typeface="Open Sauce Light"/>
                <a:ea typeface="Open Sauce Light"/>
                <a:cs typeface="Open Sauce Light"/>
                <a:sym typeface="Open Sauce Light"/>
              </a:rPr>
              <a:t>Busca recetas saludables para su(s) hijo(s).</a:t>
            </a:r>
          </a:p>
          <a:p>
            <a:pPr algn="l">
              <a:lnSpc>
                <a:spcPts val="3399"/>
              </a:lnSpc>
            </a:pPr>
            <a:r>
              <a:rPr lang="en-US" sz="2499" spc="-57">
                <a:solidFill>
                  <a:srgbClr val="0E0637"/>
                </a:solidFill>
                <a:latin typeface="Open Sauce Light"/>
                <a:ea typeface="Open Sauce Light"/>
                <a:cs typeface="Open Sauce Light"/>
                <a:sym typeface="Open Sauce Light"/>
              </a:rPr>
              <a:t>Quiere cocinar sano de forma guiada sin complicaciones.</a:t>
            </a:r>
          </a:p>
        </p:txBody>
      </p:sp>
      <p:grpSp>
        <p:nvGrpSpPr>
          <p:cNvPr name="Group 40" id="40"/>
          <p:cNvGrpSpPr/>
          <p:nvPr/>
        </p:nvGrpSpPr>
        <p:grpSpPr>
          <a:xfrm rot="0">
            <a:off x="10101738" y="5500562"/>
            <a:ext cx="7844860" cy="2257980"/>
            <a:chOff x="0" y="0"/>
            <a:chExt cx="2952826" cy="849910"/>
          </a:xfrm>
        </p:grpSpPr>
        <p:sp>
          <p:nvSpPr>
            <p:cNvPr name="Freeform 41" id="41"/>
            <p:cNvSpPr/>
            <p:nvPr/>
          </p:nvSpPr>
          <p:spPr>
            <a:xfrm flipH="false" flipV="false" rot="0">
              <a:off x="0" y="0"/>
              <a:ext cx="2952826" cy="849910"/>
            </a:xfrm>
            <a:custGeom>
              <a:avLst/>
              <a:gdLst/>
              <a:ahLst/>
              <a:cxnLst/>
              <a:rect r="r" b="b" t="t" l="l"/>
              <a:pathLst>
                <a:path h="849910" w="2952826">
                  <a:moveTo>
                    <a:pt x="50331" y="0"/>
                  </a:moveTo>
                  <a:lnTo>
                    <a:pt x="2902495" y="0"/>
                  </a:lnTo>
                  <a:cubicBezTo>
                    <a:pt x="2930292" y="0"/>
                    <a:pt x="2952826" y="22534"/>
                    <a:pt x="2952826" y="50331"/>
                  </a:cubicBezTo>
                  <a:lnTo>
                    <a:pt x="2952826" y="799579"/>
                  </a:lnTo>
                  <a:cubicBezTo>
                    <a:pt x="2952826" y="812928"/>
                    <a:pt x="2947523" y="825729"/>
                    <a:pt x="2938085" y="835168"/>
                  </a:cubicBezTo>
                  <a:cubicBezTo>
                    <a:pt x="2928646" y="844607"/>
                    <a:pt x="2915844" y="849910"/>
                    <a:pt x="2902495" y="849910"/>
                  </a:cubicBezTo>
                  <a:lnTo>
                    <a:pt x="50331" y="849910"/>
                  </a:lnTo>
                  <a:cubicBezTo>
                    <a:pt x="22534" y="849910"/>
                    <a:pt x="0" y="827376"/>
                    <a:pt x="0" y="799579"/>
                  </a:cubicBezTo>
                  <a:lnTo>
                    <a:pt x="0" y="50331"/>
                  </a:lnTo>
                  <a:cubicBezTo>
                    <a:pt x="0" y="22534"/>
                    <a:pt x="22534" y="0"/>
                    <a:pt x="50331" y="0"/>
                  </a:cubicBezTo>
                  <a:close/>
                </a:path>
              </a:pathLst>
            </a:custGeom>
            <a:gradFill rotWithShape="true">
              <a:gsLst>
                <a:gs pos="0">
                  <a:srgbClr val="FFFFFF">
                    <a:alpha val="100000"/>
                  </a:srgbClr>
                </a:gs>
                <a:gs pos="100000">
                  <a:srgbClr val="DBD8D8">
                    <a:alpha val="100000"/>
                  </a:srgbClr>
                </a:gs>
              </a:gsLst>
              <a:lin ang="5400000"/>
            </a:gradFill>
            <a:ln w="19050" cap="rnd">
              <a:solidFill>
                <a:srgbClr val="FFFFFF"/>
              </a:solidFill>
              <a:prstDash val="solid"/>
              <a:round/>
            </a:ln>
          </p:spPr>
        </p:sp>
        <p:sp>
          <p:nvSpPr>
            <p:cNvPr name="TextBox 42" id="42"/>
            <p:cNvSpPr txBox="true"/>
            <p:nvPr/>
          </p:nvSpPr>
          <p:spPr>
            <a:xfrm>
              <a:off x="0" y="85725"/>
              <a:ext cx="2952826" cy="76418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43" id="43"/>
          <p:cNvSpPr txBox="true"/>
          <p:nvPr/>
        </p:nvSpPr>
        <p:spPr>
          <a:xfrm rot="0">
            <a:off x="10300298" y="5591882"/>
            <a:ext cx="7086023" cy="2130425"/>
          </a:xfrm>
          <a:prstGeom prst="rect">
            <a:avLst/>
          </a:prstGeom>
        </p:spPr>
        <p:txBody>
          <a:bodyPr anchor="t" rtlCol="false" tIns="0" lIns="0" bIns="0" rIns="0">
            <a:spAutoFit/>
          </a:bodyPr>
          <a:lstStyle/>
          <a:p>
            <a:pPr algn="l">
              <a:lnSpc>
                <a:spcPts val="3399"/>
              </a:lnSpc>
            </a:pPr>
            <a:r>
              <a:rPr lang="en-US" sz="2499" spc="-57">
                <a:solidFill>
                  <a:srgbClr val="0E0637"/>
                </a:solidFill>
                <a:latin typeface="Open Sauce"/>
                <a:ea typeface="Open Sauce"/>
                <a:cs typeface="Open Sauce"/>
                <a:sym typeface="Open Sauce"/>
              </a:rPr>
              <a:t>Aprendíz de cocinero</a:t>
            </a:r>
          </a:p>
          <a:p>
            <a:pPr algn="l">
              <a:lnSpc>
                <a:spcPts val="3399"/>
              </a:lnSpc>
            </a:pPr>
            <a:r>
              <a:rPr lang="en-US" sz="2499" spc="-57">
                <a:solidFill>
                  <a:srgbClr val="0E0637"/>
                </a:solidFill>
                <a:latin typeface="Open Sauce Light"/>
                <a:ea typeface="Open Sauce Light"/>
                <a:cs typeface="Open Sauce Light"/>
                <a:sym typeface="Open Sauce Light"/>
              </a:rPr>
              <a:t>18-34 años</a:t>
            </a:r>
          </a:p>
          <a:p>
            <a:pPr algn="l">
              <a:lnSpc>
                <a:spcPts val="3399"/>
              </a:lnSpc>
            </a:pPr>
            <a:r>
              <a:rPr lang="en-US" sz="2499" spc="-57">
                <a:solidFill>
                  <a:srgbClr val="0E0637"/>
                </a:solidFill>
                <a:latin typeface="Open Sauce Light"/>
                <a:ea typeface="Open Sauce Light"/>
                <a:cs typeface="Open Sauce Light"/>
                <a:sym typeface="Open Sauce Light"/>
              </a:rPr>
              <a:t>No le gusta desperdiciar comida</a:t>
            </a:r>
          </a:p>
          <a:p>
            <a:pPr algn="l">
              <a:lnSpc>
                <a:spcPts val="3399"/>
              </a:lnSpc>
            </a:pPr>
            <a:r>
              <a:rPr lang="en-US" sz="2499" spc="-57">
                <a:solidFill>
                  <a:srgbClr val="0E0637"/>
                </a:solidFill>
                <a:latin typeface="Open Sauce Light"/>
                <a:ea typeface="Open Sauce Light"/>
                <a:cs typeface="Open Sauce Light"/>
                <a:sym typeface="Open Sauce Light"/>
              </a:rPr>
              <a:t>Busca lograr preparar comidas inusuales y deliciosas para impresionar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8768940">
            <a:off x="-1315101" y="-4221648"/>
            <a:ext cx="20918202" cy="18730295"/>
          </a:xfrm>
          <a:custGeom>
            <a:avLst/>
            <a:gdLst/>
            <a:ahLst/>
            <a:cxnLst/>
            <a:rect r="r" b="b" t="t" l="l"/>
            <a:pathLst>
              <a:path h="18730295" w="20918202">
                <a:moveTo>
                  <a:pt x="15187984" y="0"/>
                </a:moveTo>
                <a:lnTo>
                  <a:pt x="0" y="10187054"/>
                </a:lnTo>
                <a:lnTo>
                  <a:pt x="5730218" y="18730296"/>
                </a:lnTo>
                <a:lnTo>
                  <a:pt x="20918202" y="8543242"/>
                </a:lnTo>
                <a:lnTo>
                  <a:pt x="15187984" y="0"/>
                </a:lnTo>
                <a:close/>
              </a:path>
            </a:pathLst>
          </a:custGeom>
          <a:blipFill>
            <a:blip r:embed="rId2"/>
            <a:stretch>
              <a:fillRect l="-2753" t="0" r="-31641" b="0"/>
            </a:stretch>
          </a:blipFill>
        </p:spPr>
      </p:sp>
      <p:grpSp>
        <p:nvGrpSpPr>
          <p:cNvPr name="Group 3" id="3"/>
          <p:cNvGrpSpPr/>
          <p:nvPr/>
        </p:nvGrpSpPr>
        <p:grpSpPr>
          <a:xfrm rot="0">
            <a:off x="1028700" y="1910079"/>
            <a:ext cx="7744995" cy="7348221"/>
            <a:chOff x="0" y="0"/>
            <a:chExt cx="2170314" cy="2059129"/>
          </a:xfrm>
        </p:grpSpPr>
        <p:sp>
          <p:nvSpPr>
            <p:cNvPr name="Freeform 4" id="4"/>
            <p:cNvSpPr/>
            <p:nvPr/>
          </p:nvSpPr>
          <p:spPr>
            <a:xfrm flipH="false" flipV="false" rot="0">
              <a:off x="0" y="0"/>
              <a:ext cx="2170313" cy="2059129"/>
            </a:xfrm>
            <a:custGeom>
              <a:avLst/>
              <a:gdLst/>
              <a:ahLst/>
              <a:cxnLst/>
              <a:rect r="r" b="b" t="t" l="l"/>
              <a:pathLst>
                <a:path h="2059129" w="2170313">
                  <a:moveTo>
                    <a:pt x="50980" y="0"/>
                  </a:moveTo>
                  <a:lnTo>
                    <a:pt x="2119334" y="0"/>
                  </a:lnTo>
                  <a:cubicBezTo>
                    <a:pt x="2147489" y="0"/>
                    <a:pt x="2170313" y="22824"/>
                    <a:pt x="2170313" y="50980"/>
                  </a:cubicBezTo>
                  <a:lnTo>
                    <a:pt x="2170313" y="2008149"/>
                  </a:lnTo>
                  <a:cubicBezTo>
                    <a:pt x="2170313" y="2036305"/>
                    <a:pt x="2147489" y="2059129"/>
                    <a:pt x="2119334" y="2059129"/>
                  </a:cubicBezTo>
                  <a:lnTo>
                    <a:pt x="50980" y="2059129"/>
                  </a:lnTo>
                  <a:cubicBezTo>
                    <a:pt x="22824" y="2059129"/>
                    <a:pt x="0" y="2036305"/>
                    <a:pt x="0" y="2008149"/>
                  </a:cubicBezTo>
                  <a:lnTo>
                    <a:pt x="0" y="50980"/>
                  </a:lnTo>
                  <a:cubicBezTo>
                    <a:pt x="0" y="22824"/>
                    <a:pt x="22824" y="0"/>
                    <a:pt x="50980" y="0"/>
                  </a:cubicBezTo>
                  <a:close/>
                </a:path>
              </a:pathLst>
            </a:custGeom>
            <a:gradFill rotWithShape="true">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name="TextBox 5" id="5"/>
            <p:cNvSpPr txBox="true"/>
            <p:nvPr/>
          </p:nvSpPr>
          <p:spPr>
            <a:xfrm>
              <a:off x="0" y="85725"/>
              <a:ext cx="2170314" cy="1973404"/>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6" id="6"/>
          <p:cNvSpPr/>
          <p:nvPr/>
        </p:nvSpPr>
        <p:spPr>
          <a:xfrm flipH="false" flipV="false" rot="0">
            <a:off x="9417854" y="2627478"/>
            <a:ext cx="8294823" cy="5529882"/>
          </a:xfrm>
          <a:custGeom>
            <a:avLst/>
            <a:gdLst/>
            <a:ahLst/>
            <a:cxnLst/>
            <a:rect r="r" b="b" t="t" l="l"/>
            <a:pathLst>
              <a:path h="5529882" w="8294823">
                <a:moveTo>
                  <a:pt x="0" y="0"/>
                </a:moveTo>
                <a:lnTo>
                  <a:pt x="8294824" y="0"/>
                </a:lnTo>
                <a:lnTo>
                  <a:pt x="8294824" y="5529883"/>
                </a:lnTo>
                <a:lnTo>
                  <a:pt x="0" y="5529883"/>
                </a:lnTo>
                <a:lnTo>
                  <a:pt x="0" y="0"/>
                </a:lnTo>
                <a:close/>
              </a:path>
            </a:pathLst>
          </a:custGeom>
          <a:blipFill>
            <a:blip r:embed="rId3"/>
            <a:stretch>
              <a:fillRect l="0" t="0" r="0" b="0"/>
            </a:stretch>
          </a:blipFill>
        </p:spPr>
      </p:sp>
      <p:sp>
        <p:nvSpPr>
          <p:cNvPr name="TextBox 7" id="7"/>
          <p:cNvSpPr txBox="true"/>
          <p:nvPr/>
        </p:nvSpPr>
        <p:spPr>
          <a:xfrm rot="0">
            <a:off x="1334833" y="28575"/>
            <a:ext cx="15317172" cy="1538738"/>
          </a:xfrm>
          <a:prstGeom prst="rect">
            <a:avLst/>
          </a:prstGeom>
        </p:spPr>
        <p:txBody>
          <a:bodyPr anchor="t" rtlCol="false" tIns="0" lIns="0" bIns="0" rIns="0">
            <a:spAutoFit/>
          </a:bodyPr>
          <a:lstStyle/>
          <a:p>
            <a:pPr algn="ctr">
              <a:lnSpc>
                <a:spcPts val="12035"/>
              </a:lnSpc>
            </a:pPr>
            <a:r>
              <a:rPr lang="en-US" b="true" sz="10286" spc="-432">
                <a:solidFill>
                  <a:srgbClr val="FFFFFF"/>
                </a:solidFill>
                <a:latin typeface="Open Sauce Bold"/>
                <a:ea typeface="Open Sauce Bold"/>
                <a:cs typeface="Open Sauce Bold"/>
                <a:sym typeface="Open Sauce Bold"/>
              </a:rPr>
              <a:t>Personaje Primario</a:t>
            </a:r>
          </a:p>
        </p:txBody>
      </p:sp>
      <p:sp>
        <p:nvSpPr>
          <p:cNvPr name="TextBox 8" id="8"/>
          <p:cNvSpPr txBox="true"/>
          <p:nvPr/>
        </p:nvSpPr>
        <p:spPr>
          <a:xfrm rot="0">
            <a:off x="3030480" y="2280382"/>
            <a:ext cx="3741435" cy="515553"/>
          </a:xfrm>
          <a:prstGeom prst="rect">
            <a:avLst/>
          </a:prstGeom>
        </p:spPr>
        <p:txBody>
          <a:bodyPr anchor="t" rtlCol="false" tIns="0" lIns="0" bIns="0" rIns="0">
            <a:spAutoFit/>
          </a:bodyPr>
          <a:lstStyle/>
          <a:p>
            <a:pPr algn="l">
              <a:lnSpc>
                <a:spcPts val="4086"/>
              </a:lnSpc>
            </a:pPr>
            <a:r>
              <a:rPr lang="en-US" b="true" sz="3492" spc="-146">
                <a:solidFill>
                  <a:srgbClr val="0E0637"/>
                </a:solidFill>
                <a:latin typeface="Open Sauce Bold"/>
                <a:ea typeface="Open Sauce Bold"/>
                <a:cs typeface="Open Sauce Bold"/>
                <a:sym typeface="Open Sauce Bold"/>
              </a:rPr>
              <a:t>Roberto García</a:t>
            </a:r>
          </a:p>
        </p:txBody>
      </p:sp>
      <p:sp>
        <p:nvSpPr>
          <p:cNvPr name="TextBox 9" id="9"/>
          <p:cNvSpPr txBox="true"/>
          <p:nvPr/>
        </p:nvSpPr>
        <p:spPr>
          <a:xfrm rot="0">
            <a:off x="1115109" y="3470903"/>
            <a:ext cx="7658586" cy="4978798"/>
          </a:xfrm>
          <a:prstGeom prst="rect">
            <a:avLst/>
          </a:prstGeom>
        </p:spPr>
        <p:txBody>
          <a:bodyPr anchor="t" rtlCol="false" tIns="0" lIns="0" bIns="0" rIns="0">
            <a:spAutoFit/>
          </a:bodyPr>
          <a:lstStyle/>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Edad: 28 años</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Trabajo: Analista de Datos (Home Office)</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Ingresos: $15,000 MXN/mes</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Tecnología: Usuario avanzado, usa Smart Watch y bocinas inteligentes.</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Familia: Soltero, vive en un departamento pequeño.</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Hobbies: I</a:t>
            </a:r>
            <a:r>
              <a:rPr lang="en-US" sz="2261" spc="-52">
                <a:solidFill>
                  <a:srgbClr val="0E0637"/>
                </a:solidFill>
                <a:latin typeface="Open Sauce Light"/>
                <a:ea typeface="Open Sauce Light"/>
                <a:cs typeface="Open Sauce Light"/>
                <a:sym typeface="Open Sauce Light"/>
              </a:rPr>
              <a:t>r al gimnasio y ver streams en Twitch.</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Metas: Dejar de pedir comida por apps y aprender a cocinar platos sanos en menos de 30 minutos.</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Bio: R</a:t>
            </a:r>
            <a:r>
              <a:rPr lang="en-US" sz="2261" spc="-52">
                <a:solidFill>
                  <a:srgbClr val="0E0637"/>
                </a:solidFill>
                <a:latin typeface="Open Sauce Light"/>
                <a:ea typeface="Open Sauce Light"/>
                <a:cs typeface="Open Sauce Light"/>
                <a:sym typeface="Open Sauce Light"/>
              </a:rPr>
              <a:t>oberto vive solo por primera vez y está harto de comer atún o pizza. Quiere una app que le diga qué hacer rápido para no perder su tarde, pero que sea comida de verdad, no solo chatarra.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8768940">
            <a:off x="-1315101" y="-4221648"/>
            <a:ext cx="20918202" cy="18730295"/>
          </a:xfrm>
          <a:custGeom>
            <a:avLst/>
            <a:gdLst/>
            <a:ahLst/>
            <a:cxnLst/>
            <a:rect r="r" b="b" t="t" l="l"/>
            <a:pathLst>
              <a:path h="18730295" w="20918202">
                <a:moveTo>
                  <a:pt x="15187984" y="0"/>
                </a:moveTo>
                <a:lnTo>
                  <a:pt x="0" y="10187054"/>
                </a:lnTo>
                <a:lnTo>
                  <a:pt x="5730218" y="18730296"/>
                </a:lnTo>
                <a:lnTo>
                  <a:pt x="20918202" y="8543242"/>
                </a:lnTo>
                <a:lnTo>
                  <a:pt x="15187984" y="0"/>
                </a:lnTo>
                <a:close/>
              </a:path>
            </a:pathLst>
          </a:custGeom>
          <a:blipFill>
            <a:blip r:embed="rId2"/>
            <a:stretch>
              <a:fillRect l="-2753" t="0" r="-31641" b="0"/>
            </a:stretch>
          </a:blipFill>
        </p:spPr>
      </p:sp>
      <p:grpSp>
        <p:nvGrpSpPr>
          <p:cNvPr name="Group 3" id="3"/>
          <p:cNvGrpSpPr/>
          <p:nvPr/>
        </p:nvGrpSpPr>
        <p:grpSpPr>
          <a:xfrm rot="0">
            <a:off x="1028700" y="1910079"/>
            <a:ext cx="7744995" cy="7348221"/>
            <a:chOff x="0" y="0"/>
            <a:chExt cx="2170314" cy="2059129"/>
          </a:xfrm>
        </p:grpSpPr>
        <p:sp>
          <p:nvSpPr>
            <p:cNvPr name="Freeform 4" id="4"/>
            <p:cNvSpPr/>
            <p:nvPr/>
          </p:nvSpPr>
          <p:spPr>
            <a:xfrm flipH="false" flipV="false" rot="0">
              <a:off x="0" y="0"/>
              <a:ext cx="2170313" cy="2059129"/>
            </a:xfrm>
            <a:custGeom>
              <a:avLst/>
              <a:gdLst/>
              <a:ahLst/>
              <a:cxnLst/>
              <a:rect r="r" b="b" t="t" l="l"/>
              <a:pathLst>
                <a:path h="2059129" w="2170313">
                  <a:moveTo>
                    <a:pt x="50980" y="0"/>
                  </a:moveTo>
                  <a:lnTo>
                    <a:pt x="2119334" y="0"/>
                  </a:lnTo>
                  <a:cubicBezTo>
                    <a:pt x="2147489" y="0"/>
                    <a:pt x="2170313" y="22824"/>
                    <a:pt x="2170313" y="50980"/>
                  </a:cubicBezTo>
                  <a:lnTo>
                    <a:pt x="2170313" y="2008149"/>
                  </a:lnTo>
                  <a:cubicBezTo>
                    <a:pt x="2170313" y="2036305"/>
                    <a:pt x="2147489" y="2059129"/>
                    <a:pt x="2119334" y="2059129"/>
                  </a:cubicBezTo>
                  <a:lnTo>
                    <a:pt x="50980" y="2059129"/>
                  </a:lnTo>
                  <a:cubicBezTo>
                    <a:pt x="22824" y="2059129"/>
                    <a:pt x="0" y="2036305"/>
                    <a:pt x="0" y="2008149"/>
                  </a:cubicBezTo>
                  <a:lnTo>
                    <a:pt x="0" y="50980"/>
                  </a:lnTo>
                  <a:cubicBezTo>
                    <a:pt x="0" y="22824"/>
                    <a:pt x="22824" y="0"/>
                    <a:pt x="50980" y="0"/>
                  </a:cubicBezTo>
                  <a:close/>
                </a:path>
              </a:pathLst>
            </a:custGeom>
            <a:gradFill rotWithShape="true">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name="TextBox 5" id="5"/>
            <p:cNvSpPr txBox="true"/>
            <p:nvPr/>
          </p:nvSpPr>
          <p:spPr>
            <a:xfrm>
              <a:off x="0" y="85725"/>
              <a:ext cx="2170314" cy="1973404"/>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6" id="6"/>
          <p:cNvSpPr/>
          <p:nvPr/>
        </p:nvSpPr>
        <p:spPr>
          <a:xfrm flipH="false" flipV="false" rot="0">
            <a:off x="9144000" y="2533396"/>
            <a:ext cx="8667094" cy="5778062"/>
          </a:xfrm>
          <a:custGeom>
            <a:avLst/>
            <a:gdLst/>
            <a:ahLst/>
            <a:cxnLst/>
            <a:rect r="r" b="b" t="t" l="l"/>
            <a:pathLst>
              <a:path h="5778062" w="8667094">
                <a:moveTo>
                  <a:pt x="0" y="0"/>
                </a:moveTo>
                <a:lnTo>
                  <a:pt x="8667094" y="0"/>
                </a:lnTo>
                <a:lnTo>
                  <a:pt x="8667094" y="5778062"/>
                </a:lnTo>
                <a:lnTo>
                  <a:pt x="0" y="5778062"/>
                </a:lnTo>
                <a:lnTo>
                  <a:pt x="0" y="0"/>
                </a:lnTo>
                <a:close/>
              </a:path>
            </a:pathLst>
          </a:custGeom>
          <a:blipFill>
            <a:blip r:embed="rId3"/>
            <a:stretch>
              <a:fillRect l="0" t="0" r="0" b="0"/>
            </a:stretch>
          </a:blipFill>
        </p:spPr>
      </p:sp>
      <p:sp>
        <p:nvSpPr>
          <p:cNvPr name="TextBox 7" id="7"/>
          <p:cNvSpPr txBox="true"/>
          <p:nvPr/>
        </p:nvSpPr>
        <p:spPr>
          <a:xfrm rot="0">
            <a:off x="1334833" y="28575"/>
            <a:ext cx="15317172" cy="1538738"/>
          </a:xfrm>
          <a:prstGeom prst="rect">
            <a:avLst/>
          </a:prstGeom>
        </p:spPr>
        <p:txBody>
          <a:bodyPr anchor="t" rtlCol="false" tIns="0" lIns="0" bIns="0" rIns="0">
            <a:spAutoFit/>
          </a:bodyPr>
          <a:lstStyle/>
          <a:p>
            <a:pPr algn="ctr">
              <a:lnSpc>
                <a:spcPts val="12035"/>
              </a:lnSpc>
            </a:pPr>
            <a:r>
              <a:rPr lang="en-US" b="true" sz="10286" spc="-432">
                <a:solidFill>
                  <a:srgbClr val="FFFFFF"/>
                </a:solidFill>
                <a:latin typeface="Open Sauce Bold"/>
                <a:ea typeface="Open Sauce Bold"/>
                <a:cs typeface="Open Sauce Bold"/>
                <a:sym typeface="Open Sauce Bold"/>
              </a:rPr>
              <a:t>Personaje Primario</a:t>
            </a:r>
          </a:p>
        </p:txBody>
      </p:sp>
      <p:sp>
        <p:nvSpPr>
          <p:cNvPr name="TextBox 8" id="8"/>
          <p:cNvSpPr txBox="true"/>
          <p:nvPr/>
        </p:nvSpPr>
        <p:spPr>
          <a:xfrm rot="0">
            <a:off x="3030480" y="2280382"/>
            <a:ext cx="3741435" cy="515553"/>
          </a:xfrm>
          <a:prstGeom prst="rect">
            <a:avLst/>
          </a:prstGeom>
        </p:spPr>
        <p:txBody>
          <a:bodyPr anchor="t" rtlCol="false" tIns="0" lIns="0" bIns="0" rIns="0">
            <a:spAutoFit/>
          </a:bodyPr>
          <a:lstStyle/>
          <a:p>
            <a:pPr algn="l">
              <a:lnSpc>
                <a:spcPts val="4086"/>
              </a:lnSpc>
            </a:pPr>
            <a:r>
              <a:rPr lang="en-US" b="true" sz="3492" spc="-146">
                <a:solidFill>
                  <a:srgbClr val="0E0637"/>
                </a:solidFill>
                <a:latin typeface="Open Sauce Bold"/>
                <a:ea typeface="Open Sauce Bold"/>
                <a:cs typeface="Open Sauce Bold"/>
                <a:sym typeface="Open Sauce Bold"/>
              </a:rPr>
              <a:t>Valentina Sosa</a:t>
            </a:r>
          </a:p>
        </p:txBody>
      </p:sp>
      <p:sp>
        <p:nvSpPr>
          <p:cNvPr name="TextBox 9" id="9"/>
          <p:cNvSpPr txBox="true"/>
          <p:nvPr/>
        </p:nvSpPr>
        <p:spPr>
          <a:xfrm rot="0">
            <a:off x="1028700" y="3470903"/>
            <a:ext cx="7658586" cy="4978798"/>
          </a:xfrm>
          <a:prstGeom prst="rect">
            <a:avLst/>
          </a:prstGeom>
        </p:spPr>
        <p:txBody>
          <a:bodyPr anchor="t" rtlCol="false" tIns="0" lIns="0" bIns="0" rIns="0">
            <a:spAutoFit/>
          </a:bodyPr>
          <a:lstStyle/>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Edad: 32 años</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Trabajo: Arquitecta independiente</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Ingresos: $30,000 MXN/mes</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Tecnología: iPhone, usa mucho iPad para tutoriales.</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Familia: Casada, con un bebé de 1 año.</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Hobbies: Fotog</a:t>
            </a:r>
            <a:r>
              <a:rPr lang="en-US" sz="2261" spc="-52">
                <a:solidFill>
                  <a:srgbClr val="0E0637"/>
                </a:solidFill>
                <a:latin typeface="Open Sauce Light"/>
                <a:ea typeface="Open Sauce Light"/>
                <a:cs typeface="Open Sauce Light"/>
                <a:sym typeface="Open Sauce Light"/>
              </a:rPr>
              <a:t>rafía y yoga.</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Metas: Preparar papillas y comidas sólidas nutritivas sin ensuciar su dispositivo mientras cuida al bebé.</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Bio: Val</a:t>
            </a:r>
            <a:r>
              <a:rPr lang="en-US" sz="2261" spc="-52">
                <a:solidFill>
                  <a:srgbClr val="0E0637"/>
                </a:solidFill>
                <a:latin typeface="Open Sauce Light"/>
                <a:ea typeface="Open Sauce Light"/>
                <a:cs typeface="Open Sauce Light"/>
                <a:sym typeface="Open Sauce Light"/>
              </a:rPr>
              <a:t>entina está abrumada con la alimentación de su hijo. Necesita una guía en el que no necesite usar las manos ya que porque siempre las tiene ocupadas o sucias, y busca recetas que le aseguren que su bebé está comiendo sano.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8768940">
            <a:off x="-1315101" y="-4221648"/>
            <a:ext cx="20918202" cy="18730295"/>
          </a:xfrm>
          <a:custGeom>
            <a:avLst/>
            <a:gdLst/>
            <a:ahLst/>
            <a:cxnLst/>
            <a:rect r="r" b="b" t="t" l="l"/>
            <a:pathLst>
              <a:path h="18730295" w="20918202">
                <a:moveTo>
                  <a:pt x="15187984" y="0"/>
                </a:moveTo>
                <a:lnTo>
                  <a:pt x="0" y="10187054"/>
                </a:lnTo>
                <a:lnTo>
                  <a:pt x="5730218" y="18730296"/>
                </a:lnTo>
                <a:lnTo>
                  <a:pt x="20918202" y="8543242"/>
                </a:lnTo>
                <a:lnTo>
                  <a:pt x="15187984" y="0"/>
                </a:lnTo>
                <a:close/>
              </a:path>
            </a:pathLst>
          </a:custGeom>
          <a:blipFill>
            <a:blip r:embed="rId2"/>
            <a:stretch>
              <a:fillRect l="-2753" t="0" r="-31641" b="0"/>
            </a:stretch>
          </a:blipFill>
        </p:spPr>
      </p:sp>
      <p:grpSp>
        <p:nvGrpSpPr>
          <p:cNvPr name="Group 3" id="3"/>
          <p:cNvGrpSpPr/>
          <p:nvPr/>
        </p:nvGrpSpPr>
        <p:grpSpPr>
          <a:xfrm rot="0">
            <a:off x="1028700" y="1910079"/>
            <a:ext cx="7744995" cy="7348221"/>
            <a:chOff x="0" y="0"/>
            <a:chExt cx="2170314" cy="2059129"/>
          </a:xfrm>
        </p:grpSpPr>
        <p:sp>
          <p:nvSpPr>
            <p:cNvPr name="Freeform 4" id="4"/>
            <p:cNvSpPr/>
            <p:nvPr/>
          </p:nvSpPr>
          <p:spPr>
            <a:xfrm flipH="false" flipV="false" rot="0">
              <a:off x="0" y="0"/>
              <a:ext cx="2170313" cy="2059129"/>
            </a:xfrm>
            <a:custGeom>
              <a:avLst/>
              <a:gdLst/>
              <a:ahLst/>
              <a:cxnLst/>
              <a:rect r="r" b="b" t="t" l="l"/>
              <a:pathLst>
                <a:path h="2059129" w="2170313">
                  <a:moveTo>
                    <a:pt x="50980" y="0"/>
                  </a:moveTo>
                  <a:lnTo>
                    <a:pt x="2119334" y="0"/>
                  </a:lnTo>
                  <a:cubicBezTo>
                    <a:pt x="2147489" y="0"/>
                    <a:pt x="2170313" y="22824"/>
                    <a:pt x="2170313" y="50980"/>
                  </a:cubicBezTo>
                  <a:lnTo>
                    <a:pt x="2170313" y="2008149"/>
                  </a:lnTo>
                  <a:cubicBezTo>
                    <a:pt x="2170313" y="2036305"/>
                    <a:pt x="2147489" y="2059129"/>
                    <a:pt x="2119334" y="2059129"/>
                  </a:cubicBezTo>
                  <a:lnTo>
                    <a:pt x="50980" y="2059129"/>
                  </a:lnTo>
                  <a:cubicBezTo>
                    <a:pt x="22824" y="2059129"/>
                    <a:pt x="0" y="2036305"/>
                    <a:pt x="0" y="2008149"/>
                  </a:cubicBezTo>
                  <a:lnTo>
                    <a:pt x="0" y="50980"/>
                  </a:lnTo>
                  <a:cubicBezTo>
                    <a:pt x="0" y="22824"/>
                    <a:pt x="22824" y="0"/>
                    <a:pt x="50980" y="0"/>
                  </a:cubicBezTo>
                  <a:close/>
                </a:path>
              </a:pathLst>
            </a:custGeom>
            <a:gradFill rotWithShape="true">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name="TextBox 5" id="5"/>
            <p:cNvSpPr txBox="true"/>
            <p:nvPr/>
          </p:nvSpPr>
          <p:spPr>
            <a:xfrm>
              <a:off x="0" y="85725"/>
              <a:ext cx="2170314" cy="1973404"/>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6" id="6"/>
          <p:cNvSpPr/>
          <p:nvPr/>
        </p:nvSpPr>
        <p:spPr>
          <a:xfrm flipH="false" flipV="false" rot="0">
            <a:off x="11590044" y="2270857"/>
            <a:ext cx="4243270" cy="6356958"/>
          </a:xfrm>
          <a:custGeom>
            <a:avLst/>
            <a:gdLst/>
            <a:ahLst/>
            <a:cxnLst/>
            <a:rect r="r" b="b" t="t" l="l"/>
            <a:pathLst>
              <a:path h="6356958" w="4243270">
                <a:moveTo>
                  <a:pt x="0" y="0"/>
                </a:moveTo>
                <a:lnTo>
                  <a:pt x="4243270" y="0"/>
                </a:lnTo>
                <a:lnTo>
                  <a:pt x="4243270" y="6356958"/>
                </a:lnTo>
                <a:lnTo>
                  <a:pt x="0" y="6356958"/>
                </a:lnTo>
                <a:lnTo>
                  <a:pt x="0" y="0"/>
                </a:lnTo>
                <a:close/>
              </a:path>
            </a:pathLst>
          </a:custGeom>
          <a:blipFill>
            <a:blip r:embed="rId3"/>
            <a:stretch>
              <a:fillRect l="0" t="0" r="0" b="0"/>
            </a:stretch>
          </a:blipFill>
        </p:spPr>
      </p:sp>
      <p:sp>
        <p:nvSpPr>
          <p:cNvPr name="TextBox 7" id="7"/>
          <p:cNvSpPr txBox="true"/>
          <p:nvPr/>
        </p:nvSpPr>
        <p:spPr>
          <a:xfrm rot="0">
            <a:off x="1334833" y="28575"/>
            <a:ext cx="15317172" cy="1538738"/>
          </a:xfrm>
          <a:prstGeom prst="rect">
            <a:avLst/>
          </a:prstGeom>
        </p:spPr>
        <p:txBody>
          <a:bodyPr anchor="t" rtlCol="false" tIns="0" lIns="0" bIns="0" rIns="0">
            <a:spAutoFit/>
          </a:bodyPr>
          <a:lstStyle/>
          <a:p>
            <a:pPr algn="ctr">
              <a:lnSpc>
                <a:spcPts val="12035"/>
              </a:lnSpc>
            </a:pPr>
            <a:r>
              <a:rPr lang="en-US" b="true" sz="10286" spc="-432">
                <a:solidFill>
                  <a:srgbClr val="FFFFFF"/>
                </a:solidFill>
                <a:latin typeface="Open Sauce Bold"/>
                <a:ea typeface="Open Sauce Bold"/>
                <a:cs typeface="Open Sauce Bold"/>
                <a:sym typeface="Open Sauce Bold"/>
              </a:rPr>
              <a:t>Personaje Secundario</a:t>
            </a:r>
          </a:p>
        </p:txBody>
      </p:sp>
      <p:sp>
        <p:nvSpPr>
          <p:cNvPr name="TextBox 8" id="8"/>
          <p:cNvSpPr txBox="true"/>
          <p:nvPr/>
        </p:nvSpPr>
        <p:spPr>
          <a:xfrm rot="0">
            <a:off x="3030480" y="2280382"/>
            <a:ext cx="3741435" cy="515553"/>
          </a:xfrm>
          <a:prstGeom prst="rect">
            <a:avLst/>
          </a:prstGeom>
        </p:spPr>
        <p:txBody>
          <a:bodyPr anchor="t" rtlCol="false" tIns="0" lIns="0" bIns="0" rIns="0">
            <a:spAutoFit/>
          </a:bodyPr>
          <a:lstStyle/>
          <a:p>
            <a:pPr algn="l">
              <a:lnSpc>
                <a:spcPts val="4086"/>
              </a:lnSpc>
            </a:pPr>
            <a:r>
              <a:rPr lang="en-US" b="true" sz="3492" spc="-146">
                <a:solidFill>
                  <a:srgbClr val="0E0637"/>
                </a:solidFill>
                <a:latin typeface="Open Sauce Bold"/>
                <a:ea typeface="Open Sauce Bold"/>
                <a:cs typeface="Open Sauce Bold"/>
                <a:sym typeface="Open Sauce Bold"/>
              </a:rPr>
              <a:t>Valentina Sosa</a:t>
            </a:r>
          </a:p>
        </p:txBody>
      </p:sp>
      <p:sp>
        <p:nvSpPr>
          <p:cNvPr name="TextBox 9" id="9"/>
          <p:cNvSpPr txBox="true"/>
          <p:nvPr/>
        </p:nvSpPr>
        <p:spPr>
          <a:xfrm rot="0">
            <a:off x="1028700" y="3470903"/>
            <a:ext cx="7658586" cy="5363118"/>
          </a:xfrm>
          <a:prstGeom prst="rect">
            <a:avLst/>
          </a:prstGeom>
        </p:spPr>
        <p:txBody>
          <a:bodyPr anchor="t" rtlCol="false" tIns="0" lIns="0" bIns="0" rIns="0">
            <a:spAutoFit/>
          </a:bodyPr>
          <a:lstStyle/>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Edad: 24 años</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Trabajo: Diseñadora Gráfica</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Ingresos: $10,000 MXN/mes</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Tecnología: Muy activa en Instagram y TikTok.</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Familia: Vive con su pareja.</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Hobbies: Visita</a:t>
            </a:r>
            <a:r>
              <a:rPr lang="en-US" sz="2261" spc="-52">
                <a:solidFill>
                  <a:srgbClr val="0E0637"/>
                </a:solidFill>
                <a:latin typeface="Open Sauce Light"/>
                <a:ea typeface="Open Sauce Light"/>
                <a:cs typeface="Open Sauce Light"/>
                <a:sym typeface="Open Sauce Light"/>
              </a:rPr>
              <a:t>r cafeterías nuevas y la repostería.</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Metas: Sorprender a sus amigos y novio con cenas "gourmet" usando ingredientes comunes que tiene en su despensa.</a:t>
            </a:r>
          </a:p>
          <a:p>
            <a:pPr algn="l" marL="488203" indent="-244102" lvl="1">
              <a:lnSpc>
                <a:spcPts val="3075"/>
              </a:lnSpc>
              <a:buFont typeface="Arial"/>
              <a:buChar char="•"/>
            </a:pPr>
            <a:r>
              <a:rPr lang="en-US" sz="2261" spc="-52">
                <a:solidFill>
                  <a:srgbClr val="0E0637"/>
                </a:solidFill>
                <a:latin typeface="Open Sauce Light"/>
                <a:ea typeface="Open Sauce Light"/>
                <a:cs typeface="Open Sauce Light"/>
                <a:sym typeface="Open Sauce Light"/>
              </a:rPr>
              <a:t>Bio: "A Sofía l</a:t>
            </a:r>
            <a:r>
              <a:rPr lang="en-US" sz="2261" spc="-52">
                <a:solidFill>
                  <a:srgbClr val="0E0637"/>
                </a:solidFill>
                <a:latin typeface="Open Sauce Light"/>
                <a:ea typeface="Open Sauce Light"/>
                <a:cs typeface="Open Sauce Light"/>
                <a:sym typeface="Open Sauce Light"/>
              </a:rPr>
              <a:t>e encanta la estética de la comida. No quiere hacer lo de siempre; ella busca esa receta 'inusual' que parezca de restaurante pero que pueda lograr con lo que tiene en casa para presumirla en sus redes de vez en cuando".</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8463395">
            <a:off x="-1200863" y="-4604429"/>
            <a:ext cx="20689726" cy="19495858"/>
          </a:xfrm>
          <a:custGeom>
            <a:avLst/>
            <a:gdLst/>
            <a:ahLst/>
            <a:cxnLst/>
            <a:rect r="r" b="b" t="t" l="l"/>
            <a:pathLst>
              <a:path h="19495858" w="20689726">
                <a:moveTo>
                  <a:pt x="6465919" y="19495858"/>
                </a:moveTo>
                <a:lnTo>
                  <a:pt x="20689726" y="8000892"/>
                </a:lnTo>
                <a:lnTo>
                  <a:pt x="14223807" y="0"/>
                </a:lnTo>
                <a:lnTo>
                  <a:pt x="0" y="11494966"/>
                </a:lnTo>
                <a:lnTo>
                  <a:pt x="6465919" y="19495858"/>
                </a:lnTo>
                <a:close/>
              </a:path>
            </a:pathLst>
          </a:custGeom>
          <a:blipFill>
            <a:blip r:embed="rId2"/>
            <a:stretch>
              <a:fillRect l="-4483" t="0" r="-36949" b="0"/>
            </a:stretch>
          </a:blipFill>
        </p:spPr>
      </p:sp>
      <p:sp>
        <p:nvSpPr>
          <p:cNvPr name="Freeform 3" id="3"/>
          <p:cNvSpPr/>
          <p:nvPr/>
        </p:nvSpPr>
        <p:spPr>
          <a:xfrm flipH="false" flipV="true" rot="-5400000">
            <a:off x="-2176651" y="3916990"/>
            <a:ext cx="5307737" cy="1051897"/>
          </a:xfrm>
          <a:custGeom>
            <a:avLst/>
            <a:gdLst/>
            <a:ahLst/>
            <a:cxnLst/>
            <a:rect r="r" b="b" t="t" l="l"/>
            <a:pathLst>
              <a:path h="1051897" w="5307737">
                <a:moveTo>
                  <a:pt x="0" y="1051897"/>
                </a:moveTo>
                <a:lnTo>
                  <a:pt x="5307737" y="1051897"/>
                </a:lnTo>
                <a:lnTo>
                  <a:pt x="5307737" y="0"/>
                </a:lnTo>
                <a:lnTo>
                  <a:pt x="0" y="0"/>
                </a:lnTo>
                <a:lnTo>
                  <a:pt x="0" y="1051897"/>
                </a:lnTo>
                <a:close/>
              </a:path>
            </a:pathLst>
          </a:custGeom>
          <a:blipFill>
            <a:blip r:embed="rId3">
              <a:alphaModFix amt="56000"/>
            </a:blip>
            <a:stretch>
              <a:fillRect l="0" t="0" r="0" b="0"/>
            </a:stretch>
          </a:blipFill>
        </p:spPr>
      </p:sp>
      <p:sp>
        <p:nvSpPr>
          <p:cNvPr name="Freeform 4" id="4"/>
          <p:cNvSpPr/>
          <p:nvPr/>
        </p:nvSpPr>
        <p:spPr>
          <a:xfrm flipH="false" flipV="true" rot="-10800000">
            <a:off x="311229" y="1809332"/>
            <a:ext cx="7540929" cy="1494475"/>
          </a:xfrm>
          <a:custGeom>
            <a:avLst/>
            <a:gdLst/>
            <a:ahLst/>
            <a:cxnLst/>
            <a:rect r="r" b="b" t="t" l="l"/>
            <a:pathLst>
              <a:path h="1494475" w="7540929">
                <a:moveTo>
                  <a:pt x="0" y="1494475"/>
                </a:moveTo>
                <a:lnTo>
                  <a:pt x="7540928" y="1494475"/>
                </a:lnTo>
                <a:lnTo>
                  <a:pt x="7540928" y="0"/>
                </a:lnTo>
                <a:lnTo>
                  <a:pt x="0" y="0"/>
                </a:lnTo>
                <a:lnTo>
                  <a:pt x="0" y="1494475"/>
                </a:lnTo>
                <a:close/>
              </a:path>
            </a:pathLst>
          </a:custGeom>
          <a:blipFill>
            <a:blip r:embed="rId3">
              <a:alphaModFix amt="56000"/>
            </a:blip>
            <a:stretch>
              <a:fillRect l="0" t="0" r="0" b="0"/>
            </a:stretch>
          </a:blipFill>
        </p:spPr>
      </p:sp>
      <p:sp>
        <p:nvSpPr>
          <p:cNvPr name="Freeform 5" id="5"/>
          <p:cNvSpPr/>
          <p:nvPr/>
        </p:nvSpPr>
        <p:spPr>
          <a:xfrm flipH="false" flipV="true" rot="-10800000">
            <a:off x="8071232" y="1658680"/>
            <a:ext cx="9730900" cy="2436336"/>
          </a:xfrm>
          <a:custGeom>
            <a:avLst/>
            <a:gdLst/>
            <a:ahLst/>
            <a:cxnLst/>
            <a:rect r="r" b="b" t="t" l="l"/>
            <a:pathLst>
              <a:path h="2436336" w="9730900">
                <a:moveTo>
                  <a:pt x="0" y="2436336"/>
                </a:moveTo>
                <a:lnTo>
                  <a:pt x="9730900" y="2436336"/>
                </a:lnTo>
                <a:lnTo>
                  <a:pt x="9730900" y="0"/>
                </a:lnTo>
                <a:lnTo>
                  <a:pt x="0" y="0"/>
                </a:lnTo>
                <a:lnTo>
                  <a:pt x="0" y="2436336"/>
                </a:lnTo>
                <a:close/>
              </a:path>
            </a:pathLst>
          </a:custGeom>
          <a:blipFill>
            <a:blip r:embed="rId3">
              <a:alphaModFix amt="56000"/>
            </a:blip>
            <a:stretch>
              <a:fillRect l="-13167" t="0" r="-13167" b="0"/>
            </a:stretch>
          </a:blipFill>
        </p:spPr>
      </p:sp>
      <p:grpSp>
        <p:nvGrpSpPr>
          <p:cNvPr name="Group 6" id="6"/>
          <p:cNvGrpSpPr/>
          <p:nvPr/>
        </p:nvGrpSpPr>
        <p:grpSpPr>
          <a:xfrm rot="0">
            <a:off x="596480" y="2187559"/>
            <a:ext cx="7857408" cy="7831052"/>
            <a:chOff x="0" y="0"/>
            <a:chExt cx="2245493" cy="2237960"/>
          </a:xfrm>
        </p:grpSpPr>
        <p:sp>
          <p:nvSpPr>
            <p:cNvPr name="Freeform 7" id="7"/>
            <p:cNvSpPr/>
            <p:nvPr/>
          </p:nvSpPr>
          <p:spPr>
            <a:xfrm flipH="false" flipV="false" rot="0">
              <a:off x="0" y="0"/>
              <a:ext cx="2245493" cy="2237960"/>
            </a:xfrm>
            <a:custGeom>
              <a:avLst/>
              <a:gdLst/>
              <a:ahLst/>
              <a:cxnLst/>
              <a:rect r="r" b="b" t="t" l="l"/>
              <a:pathLst>
                <a:path h="2237960" w="2245493">
                  <a:moveTo>
                    <a:pt x="50250" y="0"/>
                  </a:moveTo>
                  <a:lnTo>
                    <a:pt x="2195242" y="0"/>
                  </a:lnTo>
                  <a:cubicBezTo>
                    <a:pt x="2222995" y="0"/>
                    <a:pt x="2245493" y="22498"/>
                    <a:pt x="2245493" y="50250"/>
                  </a:cubicBezTo>
                  <a:lnTo>
                    <a:pt x="2245493" y="2187710"/>
                  </a:lnTo>
                  <a:cubicBezTo>
                    <a:pt x="2245493" y="2201037"/>
                    <a:pt x="2240198" y="2213819"/>
                    <a:pt x="2230775" y="2223242"/>
                  </a:cubicBezTo>
                  <a:cubicBezTo>
                    <a:pt x="2221351" y="2232666"/>
                    <a:pt x="2208569" y="2237960"/>
                    <a:pt x="2195242" y="2237960"/>
                  </a:cubicBezTo>
                  <a:lnTo>
                    <a:pt x="50250" y="2237960"/>
                  </a:lnTo>
                  <a:cubicBezTo>
                    <a:pt x="22498" y="2237960"/>
                    <a:pt x="0" y="2215463"/>
                    <a:pt x="0" y="2187710"/>
                  </a:cubicBezTo>
                  <a:lnTo>
                    <a:pt x="0" y="50250"/>
                  </a:lnTo>
                  <a:cubicBezTo>
                    <a:pt x="0" y="22498"/>
                    <a:pt x="22498" y="0"/>
                    <a:pt x="50250" y="0"/>
                  </a:cubicBezTo>
                  <a:close/>
                </a:path>
              </a:pathLst>
            </a:custGeom>
            <a:gradFill rotWithShape="true">
              <a:gsLst>
                <a:gs pos="0">
                  <a:srgbClr val="FFFFFF">
                    <a:alpha val="100000"/>
                  </a:srgbClr>
                </a:gs>
                <a:gs pos="100000">
                  <a:srgbClr val="DBD8D8">
                    <a:alpha val="100000"/>
                  </a:srgbClr>
                </a:gs>
              </a:gsLst>
              <a:lin ang="5400000"/>
            </a:gradFill>
            <a:ln w="19050" cap="rnd">
              <a:gradFill>
                <a:gsLst>
                  <a:gs pos="0">
                    <a:srgbClr val="C55CD1">
                      <a:alpha val="100000"/>
                    </a:srgbClr>
                  </a:gs>
                  <a:gs pos="100000">
                    <a:srgbClr val="923ACD">
                      <a:alpha val="100000"/>
                    </a:srgbClr>
                  </a:gs>
                </a:gsLst>
                <a:lin ang="2700000"/>
              </a:gradFill>
              <a:prstDash val="solid"/>
              <a:round/>
            </a:ln>
          </p:spPr>
        </p:sp>
        <p:sp>
          <p:nvSpPr>
            <p:cNvPr name="TextBox 8" id="8"/>
            <p:cNvSpPr txBox="true"/>
            <p:nvPr/>
          </p:nvSpPr>
          <p:spPr>
            <a:xfrm>
              <a:off x="0" y="85725"/>
              <a:ext cx="2245493" cy="215223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8896842" y="2210638"/>
            <a:ext cx="8768450" cy="7807973"/>
            <a:chOff x="0" y="0"/>
            <a:chExt cx="1819218" cy="1619944"/>
          </a:xfrm>
        </p:grpSpPr>
        <p:sp>
          <p:nvSpPr>
            <p:cNvPr name="Freeform 10" id="10"/>
            <p:cNvSpPr/>
            <p:nvPr/>
          </p:nvSpPr>
          <p:spPr>
            <a:xfrm flipH="false" flipV="false" rot="0">
              <a:off x="0" y="0"/>
              <a:ext cx="1819218" cy="1619944"/>
            </a:xfrm>
            <a:custGeom>
              <a:avLst/>
              <a:gdLst/>
              <a:ahLst/>
              <a:cxnLst/>
              <a:rect r="r" b="b" t="t" l="l"/>
              <a:pathLst>
                <a:path h="1619944" w="1819218">
                  <a:moveTo>
                    <a:pt x="45029" y="0"/>
                  </a:moveTo>
                  <a:lnTo>
                    <a:pt x="1774188" y="0"/>
                  </a:lnTo>
                  <a:cubicBezTo>
                    <a:pt x="1786131" y="0"/>
                    <a:pt x="1797584" y="4744"/>
                    <a:pt x="1806029" y="13189"/>
                  </a:cubicBezTo>
                  <a:cubicBezTo>
                    <a:pt x="1814474" y="21633"/>
                    <a:pt x="1819218" y="33087"/>
                    <a:pt x="1819218" y="45029"/>
                  </a:cubicBezTo>
                  <a:lnTo>
                    <a:pt x="1819218" y="1574915"/>
                  </a:lnTo>
                  <a:cubicBezTo>
                    <a:pt x="1819218" y="1586858"/>
                    <a:pt x="1814474" y="1598311"/>
                    <a:pt x="1806029" y="1606756"/>
                  </a:cubicBezTo>
                  <a:cubicBezTo>
                    <a:pt x="1797584" y="1615200"/>
                    <a:pt x="1786131" y="1619944"/>
                    <a:pt x="1774188" y="1619944"/>
                  </a:cubicBezTo>
                  <a:lnTo>
                    <a:pt x="45029" y="1619944"/>
                  </a:lnTo>
                  <a:cubicBezTo>
                    <a:pt x="33087" y="1619944"/>
                    <a:pt x="21633" y="1615200"/>
                    <a:pt x="13189" y="1606756"/>
                  </a:cubicBezTo>
                  <a:cubicBezTo>
                    <a:pt x="4744" y="1598311"/>
                    <a:pt x="0" y="1586858"/>
                    <a:pt x="0" y="1574915"/>
                  </a:cubicBezTo>
                  <a:lnTo>
                    <a:pt x="0" y="45029"/>
                  </a:lnTo>
                  <a:cubicBezTo>
                    <a:pt x="0" y="33087"/>
                    <a:pt x="4744" y="21633"/>
                    <a:pt x="13189" y="13189"/>
                  </a:cubicBezTo>
                  <a:cubicBezTo>
                    <a:pt x="21633" y="4744"/>
                    <a:pt x="33087" y="0"/>
                    <a:pt x="45029" y="0"/>
                  </a:cubicBezTo>
                  <a:close/>
                </a:path>
              </a:pathLst>
            </a:custGeom>
            <a:gradFill rotWithShape="true">
              <a:gsLst>
                <a:gs pos="0">
                  <a:srgbClr val="C55CD1">
                    <a:alpha val="100000"/>
                  </a:srgbClr>
                </a:gs>
                <a:gs pos="100000">
                  <a:srgbClr val="923ACD">
                    <a:alpha val="100000"/>
                  </a:srgbClr>
                </a:gs>
              </a:gsLst>
              <a:lin ang="2700000"/>
            </a:gradFill>
            <a:ln w="19050" cap="rnd">
              <a:solidFill>
                <a:srgbClr val="FFFFFF"/>
              </a:solidFill>
              <a:prstDash val="solid"/>
              <a:round/>
            </a:ln>
          </p:spPr>
        </p:sp>
        <p:sp>
          <p:nvSpPr>
            <p:cNvPr name="TextBox 11" id="11"/>
            <p:cNvSpPr txBox="true"/>
            <p:nvPr/>
          </p:nvSpPr>
          <p:spPr>
            <a:xfrm>
              <a:off x="0" y="85725"/>
              <a:ext cx="1819218" cy="1534219"/>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2" id="12"/>
          <p:cNvSpPr txBox="true"/>
          <p:nvPr/>
        </p:nvSpPr>
        <p:spPr>
          <a:xfrm rot="0">
            <a:off x="5901251" y="329123"/>
            <a:ext cx="10083044" cy="1329557"/>
          </a:xfrm>
          <a:prstGeom prst="rect">
            <a:avLst/>
          </a:prstGeom>
        </p:spPr>
        <p:txBody>
          <a:bodyPr anchor="t" rtlCol="false" tIns="0" lIns="0" bIns="0" rIns="0">
            <a:spAutoFit/>
          </a:bodyPr>
          <a:lstStyle/>
          <a:p>
            <a:pPr algn="l">
              <a:lnSpc>
                <a:spcPts val="10489"/>
              </a:lnSpc>
            </a:pPr>
            <a:r>
              <a:rPr lang="en-US" b="true" sz="8965" spc="-376">
                <a:solidFill>
                  <a:srgbClr val="FFFFFF"/>
                </a:solidFill>
                <a:latin typeface="Open Sauce Bold"/>
                <a:ea typeface="Open Sauce Bold"/>
                <a:cs typeface="Open Sauce Bold"/>
                <a:sym typeface="Open Sauce Bold"/>
              </a:rPr>
              <a:t>Escenarios</a:t>
            </a:r>
          </a:p>
        </p:txBody>
      </p:sp>
      <p:sp>
        <p:nvSpPr>
          <p:cNvPr name="TextBox 13" id="13"/>
          <p:cNvSpPr txBox="true"/>
          <p:nvPr/>
        </p:nvSpPr>
        <p:spPr>
          <a:xfrm rot="0">
            <a:off x="1217886" y="2690269"/>
            <a:ext cx="5762781" cy="778839"/>
          </a:xfrm>
          <a:prstGeom prst="rect">
            <a:avLst/>
          </a:prstGeom>
        </p:spPr>
        <p:txBody>
          <a:bodyPr anchor="t" rtlCol="false" tIns="0" lIns="0" bIns="0" rIns="0">
            <a:spAutoFit/>
          </a:bodyPr>
          <a:lstStyle/>
          <a:p>
            <a:pPr algn="l">
              <a:lnSpc>
                <a:spcPts val="6164"/>
              </a:lnSpc>
            </a:pPr>
            <a:r>
              <a:rPr lang="en-US" b="true" sz="5268" spc="-221">
                <a:solidFill>
                  <a:srgbClr val="0E0637"/>
                </a:solidFill>
                <a:latin typeface="Open Sauce Bold"/>
                <a:ea typeface="Open Sauce Bold"/>
                <a:cs typeface="Open Sauce Bold"/>
                <a:sym typeface="Open Sauce Bold"/>
              </a:rPr>
              <a:t>Escenario 01</a:t>
            </a:r>
          </a:p>
        </p:txBody>
      </p:sp>
      <p:sp>
        <p:nvSpPr>
          <p:cNvPr name="TextBox 14" id="14"/>
          <p:cNvSpPr txBox="true"/>
          <p:nvPr/>
        </p:nvSpPr>
        <p:spPr>
          <a:xfrm rot="0">
            <a:off x="9701075" y="2573266"/>
            <a:ext cx="6283220" cy="782079"/>
          </a:xfrm>
          <a:prstGeom prst="rect">
            <a:avLst/>
          </a:prstGeom>
        </p:spPr>
        <p:txBody>
          <a:bodyPr anchor="t" rtlCol="false" tIns="0" lIns="0" bIns="0" rIns="0">
            <a:spAutoFit/>
          </a:bodyPr>
          <a:lstStyle/>
          <a:p>
            <a:pPr algn="l">
              <a:lnSpc>
                <a:spcPts val="6165"/>
              </a:lnSpc>
            </a:pPr>
            <a:r>
              <a:rPr lang="en-US" b="true" sz="5270" spc="-221">
                <a:solidFill>
                  <a:srgbClr val="FFFFFF"/>
                </a:solidFill>
                <a:latin typeface="Open Sauce Bold"/>
                <a:ea typeface="Open Sauce Bold"/>
                <a:cs typeface="Open Sauce Bold"/>
                <a:sym typeface="Open Sauce Bold"/>
              </a:rPr>
              <a:t>Escenario 02</a:t>
            </a:r>
          </a:p>
        </p:txBody>
      </p:sp>
      <p:sp>
        <p:nvSpPr>
          <p:cNvPr name="TextBox 15" id="15"/>
          <p:cNvSpPr txBox="true"/>
          <p:nvPr/>
        </p:nvSpPr>
        <p:spPr>
          <a:xfrm rot="0">
            <a:off x="734988" y="3815287"/>
            <a:ext cx="7532191" cy="6460721"/>
          </a:xfrm>
          <a:prstGeom prst="rect">
            <a:avLst/>
          </a:prstGeom>
        </p:spPr>
        <p:txBody>
          <a:bodyPr anchor="t" rtlCol="false" tIns="0" lIns="0" bIns="0" rIns="0">
            <a:spAutoFit/>
          </a:bodyPr>
          <a:lstStyle/>
          <a:p>
            <a:pPr algn="l" marL="476570" indent="-238285" lvl="1">
              <a:lnSpc>
                <a:spcPts val="3002"/>
              </a:lnSpc>
              <a:buFont typeface="Arial"/>
              <a:buChar char="•"/>
            </a:pPr>
            <a:r>
              <a:rPr lang="en-US" sz="2207" spc="-50">
                <a:solidFill>
                  <a:srgbClr val="0E0637"/>
                </a:solidFill>
                <a:latin typeface="Open Sauce Light"/>
                <a:ea typeface="Open Sauce Light"/>
                <a:cs typeface="Open Sauce Light"/>
                <a:sym typeface="Open Sauce Light"/>
              </a:rPr>
              <a:t>Personaje: Mateo (Estudiante Foráneo - Usuario Primario).</a:t>
            </a:r>
          </a:p>
          <a:p>
            <a:pPr algn="l" marL="476570" indent="-238285" lvl="1">
              <a:lnSpc>
                <a:spcPts val="3002"/>
              </a:lnSpc>
              <a:buFont typeface="Arial"/>
              <a:buChar char="•"/>
            </a:pPr>
            <a:r>
              <a:rPr lang="en-US" sz="2207" spc="-50">
                <a:solidFill>
                  <a:srgbClr val="0E0637"/>
                </a:solidFill>
                <a:latin typeface="Open Sauce Light"/>
                <a:ea typeface="Open Sauce Light"/>
                <a:cs typeface="Open Sauce Light"/>
                <a:sym typeface="Open Sauce Light"/>
              </a:rPr>
              <a:t>Situación: Es fin de quincena, Mateo tiene un presupuesto muy limitado y solo le quedan unos pocos ingredientes en el refrigerador que están por caducar.</a:t>
            </a:r>
          </a:p>
          <a:p>
            <a:pPr algn="l" marL="476570" indent="-238285" lvl="1">
              <a:lnSpc>
                <a:spcPts val="3002"/>
              </a:lnSpc>
              <a:buFont typeface="Arial"/>
              <a:buChar char="•"/>
            </a:pPr>
            <a:r>
              <a:rPr lang="en-US" sz="2207" spc="-50">
                <a:solidFill>
                  <a:srgbClr val="0E0637"/>
                </a:solidFill>
                <a:latin typeface="Open Sauce Light"/>
                <a:ea typeface="Open Sauce Light"/>
                <a:cs typeface="Open Sauce Light"/>
                <a:sym typeface="Open Sauce Light"/>
              </a:rPr>
              <a:t>Acción en la App: Mateo ingresa los insumos que tiene (ej. huevos, papas y un poco de queso) en el Motor de Emparejamiento. La app filtra recetas que utilicen exclusivamente esos elementos o que requieran complementos mínimos.</a:t>
            </a:r>
          </a:p>
          <a:p>
            <a:pPr algn="l" marL="476570" indent="-238285" lvl="1">
              <a:lnSpc>
                <a:spcPts val="3002"/>
              </a:lnSpc>
              <a:buFont typeface="Arial"/>
              <a:buChar char="•"/>
            </a:pPr>
            <a:r>
              <a:rPr lang="en-US" sz="2207" spc="-50">
                <a:solidFill>
                  <a:srgbClr val="0E0637"/>
                </a:solidFill>
                <a:latin typeface="Open Sauce Light"/>
                <a:ea typeface="Open Sauce Light"/>
                <a:cs typeface="Open Sauce Light"/>
                <a:sym typeface="Open Sauce Light"/>
              </a:rPr>
              <a:t>Resultado (Valor): El sistema le propone una "Tortilla Española Express". Mateo evita el desperdicio de comida y ahorra dinero al no tener que comprar ingredientes extra.</a:t>
            </a:r>
          </a:p>
          <a:p>
            <a:pPr algn="l" marL="476570" indent="-238285" lvl="1">
              <a:lnSpc>
                <a:spcPts val="3002"/>
              </a:lnSpc>
              <a:buFont typeface="Arial"/>
              <a:buChar char="•"/>
            </a:pPr>
            <a:r>
              <a:rPr lang="en-US" sz="2207" spc="-50">
                <a:solidFill>
                  <a:srgbClr val="0E0637"/>
                </a:solidFill>
                <a:latin typeface="Open Sauce Light"/>
                <a:ea typeface="Open Sauce Light"/>
                <a:cs typeface="Open Sauce Light"/>
                <a:sym typeface="Open Sauce Light"/>
              </a:rPr>
              <a:t>Tipo Técnico: Búsqueda inversa por insumos (Type 3: Product Function).</a:t>
            </a:r>
          </a:p>
          <a:p>
            <a:pPr algn="l">
              <a:lnSpc>
                <a:spcPts val="3002"/>
              </a:lnSpc>
            </a:pPr>
          </a:p>
        </p:txBody>
      </p:sp>
      <p:sp>
        <p:nvSpPr>
          <p:cNvPr name="TextBox 16" id="16"/>
          <p:cNvSpPr txBox="true"/>
          <p:nvPr/>
        </p:nvSpPr>
        <p:spPr>
          <a:xfrm rot="0">
            <a:off x="9010440" y="4066441"/>
            <a:ext cx="8541255" cy="5839658"/>
          </a:xfrm>
          <a:prstGeom prst="rect">
            <a:avLst/>
          </a:prstGeom>
        </p:spPr>
        <p:txBody>
          <a:bodyPr anchor="t" rtlCol="false" tIns="0" lIns="0" bIns="0" rIns="0">
            <a:spAutoFit/>
          </a:bodyPr>
          <a:lstStyle/>
          <a:p>
            <a:pPr algn="l" marL="497168" indent="-248584" lvl="1">
              <a:lnSpc>
                <a:spcPts val="3131"/>
              </a:lnSpc>
              <a:buFont typeface="Arial"/>
              <a:buChar char="•"/>
            </a:pPr>
            <a:r>
              <a:rPr lang="en-US" sz="2302" spc="-52">
                <a:solidFill>
                  <a:srgbClr val="FFFFFF"/>
                </a:solidFill>
                <a:latin typeface="Open Sauce Light"/>
                <a:ea typeface="Open Sauce Light"/>
                <a:cs typeface="Open Sauce Light"/>
                <a:sym typeface="Open Sauce Light"/>
              </a:rPr>
              <a:t>Personaje: Valentina (Madre Primeriza - Usuario Primario).</a:t>
            </a:r>
          </a:p>
          <a:p>
            <a:pPr algn="l" marL="497168" indent="-248584" lvl="1">
              <a:lnSpc>
                <a:spcPts val="3131"/>
              </a:lnSpc>
              <a:buFont typeface="Arial"/>
              <a:buChar char="•"/>
            </a:pPr>
            <a:r>
              <a:rPr lang="en-US" sz="2302" spc="-52">
                <a:solidFill>
                  <a:srgbClr val="FFFFFF"/>
                </a:solidFill>
                <a:latin typeface="Open Sauce Light"/>
                <a:ea typeface="Open Sauce Light"/>
                <a:cs typeface="Open Sauce Light"/>
                <a:sym typeface="Open Sauce Light"/>
              </a:rPr>
              <a:t>Situación: Valentina está preparando una papilla nutritiva siguiendo una receta compleja. Tiene las manos sucias por los vegetales y, al mismo tiempo, está cuidando que su bebé no se mueva de su silla.</a:t>
            </a:r>
          </a:p>
          <a:p>
            <a:pPr algn="l" marL="497168" indent="-248584" lvl="1">
              <a:lnSpc>
                <a:spcPts val="3131"/>
              </a:lnSpc>
              <a:buFont typeface="Arial"/>
              <a:buChar char="•"/>
            </a:pPr>
            <a:r>
              <a:rPr lang="en-US" sz="2302" spc="-52">
                <a:solidFill>
                  <a:srgbClr val="FFFFFF"/>
                </a:solidFill>
                <a:latin typeface="Open Sauce Light"/>
                <a:ea typeface="Open Sauce Light"/>
                <a:cs typeface="Open Sauce Light"/>
                <a:sym typeface="Open Sauce Light"/>
              </a:rPr>
              <a:t>Acción en la App: En lugar de tocar la pantalla de su tablet, Valentina utiliza el Reconocimiento de Voz diciendo: "Siguiente paso". La app avanza automáticamente al siguiente video tutorial y lee las instrucciones en voz alta.</a:t>
            </a:r>
          </a:p>
          <a:p>
            <a:pPr algn="l" marL="497168" indent="-248584" lvl="1">
              <a:lnSpc>
                <a:spcPts val="3131"/>
              </a:lnSpc>
              <a:buFont typeface="Arial"/>
              <a:buChar char="•"/>
            </a:pPr>
            <a:r>
              <a:rPr lang="en-US" sz="2302" spc="-52">
                <a:solidFill>
                  <a:srgbClr val="FFFFFF"/>
                </a:solidFill>
                <a:latin typeface="Open Sauce Light"/>
                <a:ea typeface="Open Sauce Light"/>
                <a:cs typeface="Open Sauce Light"/>
                <a:sym typeface="Open Sauce Light"/>
              </a:rPr>
              <a:t>Resultado (Valor): Valentina mantiene la higiene en la cocina y la seguridad de su dispositivo, logrando completar la receta de manera fluida y sin distracciones.</a:t>
            </a:r>
          </a:p>
          <a:p>
            <a:pPr algn="l" marL="497168" indent="-248584" lvl="1">
              <a:lnSpc>
                <a:spcPts val="3131"/>
              </a:lnSpc>
              <a:buFont typeface="Arial"/>
              <a:buChar char="•"/>
            </a:pPr>
            <a:r>
              <a:rPr lang="en-US" sz="2302" spc="-52">
                <a:solidFill>
                  <a:srgbClr val="FFFFFF"/>
                </a:solidFill>
                <a:latin typeface="Open Sauce Light"/>
                <a:ea typeface="Open Sauce Light"/>
                <a:cs typeface="Open Sauce Light"/>
                <a:sym typeface="Open Sauce Light"/>
              </a:rPr>
              <a:t>Tipo Técnico: Control multimodal por comandos de voz (Type 5: Method for Task).</a:t>
            </a:r>
          </a:p>
          <a:p>
            <a:pPr algn="l">
              <a:lnSpc>
                <a:spcPts val="3131"/>
              </a:lnSpc>
            </a:pPr>
          </a:p>
        </p:txBody>
      </p:sp>
      <p:sp>
        <p:nvSpPr>
          <p:cNvPr name="AutoShape 17" id="17"/>
          <p:cNvSpPr/>
          <p:nvPr/>
        </p:nvSpPr>
        <p:spPr>
          <a:xfrm flipV="true">
            <a:off x="1003166" y="3622044"/>
            <a:ext cx="6634272" cy="0"/>
          </a:xfrm>
          <a:prstGeom prst="line">
            <a:avLst/>
          </a:prstGeom>
          <a:ln cap="flat" w="28575">
            <a:solidFill>
              <a:srgbClr val="0E0637"/>
            </a:solidFill>
            <a:prstDash val="solid"/>
            <a:headEnd type="none" len="sm" w="sm"/>
            <a:tailEnd type="none" len="sm" w="sm"/>
          </a:ln>
        </p:spPr>
      </p:sp>
      <p:sp>
        <p:nvSpPr>
          <p:cNvPr name="AutoShape 18" id="18"/>
          <p:cNvSpPr/>
          <p:nvPr/>
        </p:nvSpPr>
        <p:spPr>
          <a:xfrm flipV="true">
            <a:off x="9300366" y="3598232"/>
            <a:ext cx="7272632" cy="0"/>
          </a:xfrm>
          <a:prstGeom prst="line">
            <a:avLst/>
          </a:prstGeom>
          <a:ln cap="flat" w="47625">
            <a:gradFill>
              <a:gsLst>
                <a:gs pos="0">
                  <a:srgbClr val="FFFFFF">
                    <a:alpha val="100000"/>
                  </a:srgbClr>
                </a:gs>
                <a:gs pos="100000">
                  <a:srgbClr val="DBD8D8">
                    <a:alpha val="100000"/>
                  </a:srgbClr>
                </a:gs>
              </a:gsLst>
              <a:lin ang="5400000"/>
            </a:gradFill>
            <a:prstDash val="solid"/>
            <a:headEnd type="none" len="sm" w="sm"/>
            <a:tailEnd type="none" len="sm" w="sm"/>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sp>
        <p:nvSpPr>
          <p:cNvPr name="Freeform 3" id="3"/>
          <p:cNvSpPr/>
          <p:nvPr/>
        </p:nvSpPr>
        <p:spPr>
          <a:xfrm flipH="false" flipV="false" rot="0">
            <a:off x="9492598" y="2922862"/>
            <a:ext cx="4576880" cy="5556152"/>
          </a:xfrm>
          <a:custGeom>
            <a:avLst/>
            <a:gdLst/>
            <a:ahLst/>
            <a:cxnLst/>
            <a:rect r="r" b="b" t="t" l="l"/>
            <a:pathLst>
              <a:path h="5556152" w="4576880">
                <a:moveTo>
                  <a:pt x="0" y="0"/>
                </a:moveTo>
                <a:lnTo>
                  <a:pt x="4576880" y="0"/>
                </a:lnTo>
                <a:lnTo>
                  <a:pt x="4576880" y="5556152"/>
                </a:lnTo>
                <a:lnTo>
                  <a:pt x="0" y="5556152"/>
                </a:lnTo>
                <a:lnTo>
                  <a:pt x="0" y="0"/>
                </a:lnTo>
                <a:close/>
              </a:path>
            </a:pathLst>
          </a:custGeom>
          <a:blipFill>
            <a:blip r:embed="rId3"/>
            <a:stretch>
              <a:fillRect l="0" t="0" r="0" b="0"/>
            </a:stretch>
          </a:blipFill>
        </p:spPr>
      </p:sp>
      <p:sp>
        <p:nvSpPr>
          <p:cNvPr name="Freeform 4" id="4"/>
          <p:cNvSpPr/>
          <p:nvPr/>
        </p:nvSpPr>
        <p:spPr>
          <a:xfrm flipH="false" flipV="false" rot="0">
            <a:off x="6100448" y="2325944"/>
            <a:ext cx="11033231" cy="7350890"/>
          </a:xfrm>
          <a:custGeom>
            <a:avLst/>
            <a:gdLst/>
            <a:ahLst/>
            <a:cxnLst/>
            <a:rect r="r" b="b" t="t" l="l"/>
            <a:pathLst>
              <a:path h="7350890" w="11033231">
                <a:moveTo>
                  <a:pt x="0" y="0"/>
                </a:moveTo>
                <a:lnTo>
                  <a:pt x="11033230" y="0"/>
                </a:lnTo>
                <a:lnTo>
                  <a:pt x="11033230" y="7350890"/>
                </a:lnTo>
                <a:lnTo>
                  <a:pt x="0" y="7350890"/>
                </a:lnTo>
                <a:lnTo>
                  <a:pt x="0" y="0"/>
                </a:lnTo>
                <a:close/>
              </a:path>
            </a:pathLst>
          </a:custGeom>
          <a:blipFill>
            <a:blip r:embed="rId4"/>
            <a:stretch>
              <a:fillRect l="0" t="0" r="0" b="0"/>
            </a:stretch>
          </a:blipFill>
        </p:spPr>
      </p:sp>
      <p:sp>
        <p:nvSpPr>
          <p:cNvPr name="TextBox 5" id="5"/>
          <p:cNvSpPr txBox="true"/>
          <p:nvPr/>
        </p:nvSpPr>
        <p:spPr>
          <a:xfrm rot="0">
            <a:off x="106692" y="441843"/>
            <a:ext cx="18360705" cy="2302125"/>
          </a:xfrm>
          <a:prstGeom prst="rect">
            <a:avLst/>
          </a:prstGeom>
        </p:spPr>
        <p:txBody>
          <a:bodyPr anchor="t" rtlCol="false" tIns="0" lIns="0" bIns="0" rIns="0">
            <a:spAutoFit/>
          </a:bodyPr>
          <a:lstStyle/>
          <a:p>
            <a:pPr algn="ctr">
              <a:lnSpc>
                <a:spcPts val="8668"/>
              </a:lnSpc>
            </a:pPr>
            <a:r>
              <a:rPr lang="en-US" b="true" sz="10079" spc="-473">
                <a:solidFill>
                  <a:srgbClr val="FFFFFF"/>
                </a:solidFill>
                <a:latin typeface="Open Sauce Heavy"/>
                <a:ea typeface="Open Sauce Heavy"/>
                <a:cs typeface="Open Sauce Heavy"/>
                <a:sym typeface="Open Sauce Heavy"/>
              </a:rPr>
              <a:t>Metodología utilizada</a:t>
            </a:r>
          </a:p>
          <a:p>
            <a:pPr algn="ctr">
              <a:lnSpc>
                <a:spcPts val="8668"/>
              </a:lnSpc>
            </a:pPr>
          </a:p>
        </p:txBody>
      </p:sp>
      <p:sp>
        <p:nvSpPr>
          <p:cNvPr name="TextBox 6" id="6"/>
          <p:cNvSpPr txBox="true"/>
          <p:nvPr/>
        </p:nvSpPr>
        <p:spPr>
          <a:xfrm rot="0">
            <a:off x="412812" y="3140400"/>
            <a:ext cx="8385285" cy="3341199"/>
          </a:xfrm>
          <a:prstGeom prst="rect">
            <a:avLst/>
          </a:prstGeom>
        </p:spPr>
        <p:txBody>
          <a:bodyPr anchor="t" rtlCol="false" tIns="0" lIns="0" bIns="0" rIns="0">
            <a:spAutoFit/>
          </a:bodyPr>
          <a:lstStyle/>
          <a:p>
            <a:pPr algn="l">
              <a:lnSpc>
                <a:spcPts val="3326"/>
              </a:lnSpc>
            </a:pPr>
            <a:r>
              <a:rPr lang="en-US" sz="2445" spc="-56">
                <a:solidFill>
                  <a:srgbClr val="FFFFFF"/>
                </a:solidFill>
                <a:latin typeface="Open Sauce Light"/>
                <a:ea typeface="Open Sauce Light"/>
                <a:cs typeface="Open Sauce Light"/>
                <a:sym typeface="Open Sauce Light"/>
              </a:rPr>
              <a:t>Se aplicó DCU mediante:</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identificación de usuarios</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análisis de necesidades</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creación de personas</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definición de escenarios</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definición de requerimientos</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evaluación iterativa del diseño</a:t>
            </a:r>
          </a:p>
          <a:p>
            <a:pPr algn="l">
              <a:lnSpc>
                <a:spcPts val="3326"/>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pic>
        <p:nvPicPr>
          <p:cNvPr name="Picture 3" id="3"/>
          <p:cNvPicPr>
            <a:picLocks noChangeAspect="true"/>
          </p:cNvPicPr>
          <p:nvPr/>
        </p:nvPicPr>
        <p:blipFill>
          <a:blip r:embed="rId3"/>
          <a:stretch>
            <a:fillRect/>
          </a:stretch>
        </p:blipFill>
        <p:spPr>
          <a:xfrm rot="0">
            <a:off x="7980360" y="2326926"/>
            <a:ext cx="9035051" cy="7940689"/>
          </a:xfrm>
          <a:prstGeom prst="rect">
            <a:avLst/>
          </a:prstGeom>
        </p:spPr>
      </p:pic>
      <p:sp>
        <p:nvSpPr>
          <p:cNvPr name="TextBox 4" id="4"/>
          <p:cNvSpPr txBox="true"/>
          <p:nvPr/>
        </p:nvSpPr>
        <p:spPr>
          <a:xfrm rot="0">
            <a:off x="78117" y="441843"/>
            <a:ext cx="18360705" cy="3397500"/>
          </a:xfrm>
          <a:prstGeom prst="rect">
            <a:avLst/>
          </a:prstGeom>
        </p:spPr>
        <p:txBody>
          <a:bodyPr anchor="t" rtlCol="false" tIns="0" lIns="0" bIns="0" rIns="0">
            <a:spAutoFit/>
          </a:bodyPr>
          <a:lstStyle/>
          <a:p>
            <a:pPr algn="ctr">
              <a:lnSpc>
                <a:spcPts val="8668"/>
              </a:lnSpc>
            </a:pPr>
            <a:r>
              <a:rPr lang="en-US" b="true" sz="10079" spc="-473">
                <a:solidFill>
                  <a:srgbClr val="FFFFFF"/>
                </a:solidFill>
                <a:latin typeface="Open Sauce Heavy"/>
                <a:ea typeface="Open Sauce Heavy"/>
                <a:cs typeface="Open Sauce Heavy"/>
                <a:sym typeface="Open Sauce Heavy"/>
              </a:rPr>
              <a:t>Implementación práctica del DCU</a:t>
            </a:r>
          </a:p>
          <a:p>
            <a:pPr algn="ctr">
              <a:lnSpc>
                <a:spcPts val="8668"/>
              </a:lnSpc>
            </a:pPr>
          </a:p>
        </p:txBody>
      </p:sp>
      <p:sp>
        <p:nvSpPr>
          <p:cNvPr name="TextBox 5" id="5"/>
          <p:cNvSpPr txBox="true"/>
          <p:nvPr/>
        </p:nvSpPr>
        <p:spPr>
          <a:xfrm rot="0">
            <a:off x="384237" y="3140400"/>
            <a:ext cx="8385285" cy="3341199"/>
          </a:xfrm>
          <a:prstGeom prst="rect">
            <a:avLst/>
          </a:prstGeom>
        </p:spPr>
        <p:txBody>
          <a:bodyPr anchor="t" rtlCol="false" tIns="0" lIns="0" bIns="0" rIns="0">
            <a:spAutoFit/>
          </a:bodyPr>
          <a:lstStyle/>
          <a:p>
            <a:pPr algn="l">
              <a:lnSpc>
                <a:spcPts val="3326"/>
              </a:lnSpc>
            </a:pPr>
            <a:r>
              <a:rPr lang="en-US" sz="2445" spc="-56">
                <a:solidFill>
                  <a:srgbClr val="FFFFFF"/>
                </a:solidFill>
                <a:latin typeface="Open Sauce Light"/>
                <a:ea typeface="Open Sauce Light"/>
                <a:cs typeface="Open Sauce Light"/>
                <a:sym typeface="Open Sauce Light"/>
              </a:rPr>
              <a:t>Se utilizó:</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entrevistas</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encuestas</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benchmarking</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modelado de usuarios</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 prototipado conceptual</a:t>
            </a:r>
          </a:p>
          <a:p>
            <a:pPr algn="l" marL="528076" indent="-264038" lvl="1">
              <a:lnSpc>
                <a:spcPts val="3326"/>
              </a:lnSpc>
              <a:buFont typeface="Arial"/>
              <a:buChar char="•"/>
            </a:pPr>
            <a:r>
              <a:rPr lang="en-US" sz="2445" spc="-56">
                <a:solidFill>
                  <a:srgbClr val="FFFFFF"/>
                </a:solidFill>
                <a:latin typeface="Open Sauce Light"/>
                <a:ea typeface="Open Sauce Light"/>
                <a:cs typeface="Open Sauce Light"/>
                <a:sym typeface="Open Sauce Light"/>
              </a:rPr>
              <a:t>Esto permitió diseñar el sistema con base en necesidades reales.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sp>
        <p:nvSpPr>
          <p:cNvPr name="Freeform 3" id="3"/>
          <p:cNvSpPr/>
          <p:nvPr/>
        </p:nvSpPr>
        <p:spPr>
          <a:xfrm flipH="false" flipV="false" rot="0">
            <a:off x="10816858" y="1648593"/>
            <a:ext cx="6442442" cy="8070071"/>
          </a:xfrm>
          <a:custGeom>
            <a:avLst/>
            <a:gdLst/>
            <a:ahLst/>
            <a:cxnLst/>
            <a:rect r="r" b="b" t="t" l="l"/>
            <a:pathLst>
              <a:path h="8070071" w="6442442">
                <a:moveTo>
                  <a:pt x="0" y="0"/>
                </a:moveTo>
                <a:lnTo>
                  <a:pt x="6442442" y="0"/>
                </a:lnTo>
                <a:lnTo>
                  <a:pt x="6442442" y="8070071"/>
                </a:lnTo>
                <a:lnTo>
                  <a:pt x="0" y="8070071"/>
                </a:lnTo>
                <a:lnTo>
                  <a:pt x="0" y="0"/>
                </a:lnTo>
                <a:close/>
              </a:path>
            </a:pathLst>
          </a:custGeom>
          <a:blipFill>
            <a:blip r:embed="rId3"/>
            <a:stretch>
              <a:fillRect l="0" t="0" r="0" b="-19821"/>
            </a:stretch>
          </a:blipFill>
        </p:spPr>
      </p:sp>
      <p:sp>
        <p:nvSpPr>
          <p:cNvPr name="Freeform 4" id="4"/>
          <p:cNvSpPr/>
          <p:nvPr/>
        </p:nvSpPr>
        <p:spPr>
          <a:xfrm flipH="false" flipV="false" rot="0">
            <a:off x="645805" y="2552397"/>
            <a:ext cx="9069215" cy="3131232"/>
          </a:xfrm>
          <a:custGeom>
            <a:avLst/>
            <a:gdLst/>
            <a:ahLst/>
            <a:cxnLst/>
            <a:rect r="r" b="b" t="t" l="l"/>
            <a:pathLst>
              <a:path h="3131232" w="9069215">
                <a:moveTo>
                  <a:pt x="0" y="0"/>
                </a:moveTo>
                <a:lnTo>
                  <a:pt x="9069215" y="0"/>
                </a:lnTo>
                <a:lnTo>
                  <a:pt x="9069215" y="3131232"/>
                </a:lnTo>
                <a:lnTo>
                  <a:pt x="0" y="3131232"/>
                </a:lnTo>
                <a:lnTo>
                  <a:pt x="0" y="0"/>
                </a:lnTo>
                <a:close/>
              </a:path>
            </a:pathLst>
          </a:custGeom>
          <a:blipFill>
            <a:blip r:embed="rId4"/>
            <a:stretch>
              <a:fillRect l="0" t="0" r="0" b="0"/>
            </a:stretch>
          </a:blipFill>
        </p:spPr>
      </p:sp>
      <p:sp>
        <p:nvSpPr>
          <p:cNvPr name="TextBox 5" id="5"/>
          <p:cNvSpPr txBox="true"/>
          <p:nvPr/>
        </p:nvSpPr>
        <p:spPr>
          <a:xfrm rot="0">
            <a:off x="78117" y="441843"/>
            <a:ext cx="18360705" cy="1206750"/>
          </a:xfrm>
          <a:prstGeom prst="rect">
            <a:avLst/>
          </a:prstGeom>
        </p:spPr>
        <p:txBody>
          <a:bodyPr anchor="t" rtlCol="false" tIns="0" lIns="0" bIns="0" rIns="0">
            <a:spAutoFit/>
          </a:bodyPr>
          <a:lstStyle/>
          <a:p>
            <a:pPr algn="ctr">
              <a:lnSpc>
                <a:spcPts val="8668"/>
              </a:lnSpc>
            </a:pPr>
            <a:r>
              <a:rPr lang="en-US" b="true" sz="10079" spc="-473">
                <a:solidFill>
                  <a:srgbClr val="FFFFFF"/>
                </a:solidFill>
                <a:latin typeface="Open Sauce Heavy"/>
                <a:ea typeface="Open Sauce Heavy"/>
                <a:cs typeface="Open Sauce Heavy"/>
                <a:sym typeface="Open Sauce Heavy"/>
              </a:rPr>
              <a:t>Organización del equipo</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sp>
        <p:nvSpPr>
          <p:cNvPr name="Freeform 3" id="3"/>
          <p:cNvSpPr/>
          <p:nvPr/>
        </p:nvSpPr>
        <p:spPr>
          <a:xfrm flipH="false" flipV="false" rot="0">
            <a:off x="5497049" y="1648593"/>
            <a:ext cx="7771229" cy="8423962"/>
          </a:xfrm>
          <a:custGeom>
            <a:avLst/>
            <a:gdLst/>
            <a:ahLst/>
            <a:cxnLst/>
            <a:rect r="r" b="b" t="t" l="l"/>
            <a:pathLst>
              <a:path h="8423962" w="7771229">
                <a:moveTo>
                  <a:pt x="0" y="0"/>
                </a:moveTo>
                <a:lnTo>
                  <a:pt x="7771228" y="0"/>
                </a:lnTo>
                <a:lnTo>
                  <a:pt x="7771228" y="8423962"/>
                </a:lnTo>
                <a:lnTo>
                  <a:pt x="0" y="8423962"/>
                </a:lnTo>
                <a:lnTo>
                  <a:pt x="0" y="0"/>
                </a:lnTo>
                <a:close/>
              </a:path>
            </a:pathLst>
          </a:custGeom>
          <a:blipFill>
            <a:blip r:embed="rId3"/>
            <a:stretch>
              <a:fillRect l="0" t="0" r="0" b="0"/>
            </a:stretch>
          </a:blipFill>
        </p:spPr>
      </p:sp>
      <p:sp>
        <p:nvSpPr>
          <p:cNvPr name="TextBox 4" id="4"/>
          <p:cNvSpPr txBox="true"/>
          <p:nvPr/>
        </p:nvSpPr>
        <p:spPr>
          <a:xfrm rot="0">
            <a:off x="78117" y="441843"/>
            <a:ext cx="18360705" cy="1206750"/>
          </a:xfrm>
          <a:prstGeom prst="rect">
            <a:avLst/>
          </a:prstGeom>
        </p:spPr>
        <p:txBody>
          <a:bodyPr anchor="t" rtlCol="false" tIns="0" lIns="0" bIns="0" rIns="0">
            <a:spAutoFit/>
          </a:bodyPr>
          <a:lstStyle/>
          <a:p>
            <a:pPr algn="ctr">
              <a:lnSpc>
                <a:spcPts val="8668"/>
              </a:lnSpc>
            </a:pPr>
            <a:r>
              <a:rPr lang="en-US" b="true" sz="10079" spc="-473">
                <a:solidFill>
                  <a:srgbClr val="FFFFFF"/>
                </a:solidFill>
                <a:latin typeface="Open Sauce Heavy"/>
                <a:ea typeface="Open Sauce Heavy"/>
                <a:cs typeface="Open Sauce Heavy"/>
                <a:sym typeface="Open Sauce Heavy"/>
              </a:rPr>
              <a:t>Costos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566727">
            <a:off x="4447463" y="-2040873"/>
            <a:ext cx="17212156" cy="1721215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5" id="5"/>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6" id="6"/>
          <p:cNvGrpSpPr/>
          <p:nvPr/>
        </p:nvGrpSpPr>
        <p:grpSpPr>
          <a:xfrm rot="566727">
            <a:off x="7275014" y="786677"/>
            <a:ext cx="11557056" cy="1155705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9" id="9"/>
          <p:cNvSpPr txBox="true"/>
          <p:nvPr/>
        </p:nvSpPr>
        <p:spPr>
          <a:xfrm rot="0">
            <a:off x="1028700" y="3486583"/>
            <a:ext cx="16230600" cy="2737935"/>
          </a:xfrm>
          <a:prstGeom prst="rect">
            <a:avLst/>
          </a:prstGeom>
        </p:spPr>
        <p:txBody>
          <a:bodyPr anchor="t" rtlCol="false" tIns="0" lIns="0" bIns="0" rIns="0">
            <a:spAutoFit/>
          </a:bodyPr>
          <a:lstStyle/>
          <a:p>
            <a:pPr algn="l">
              <a:lnSpc>
                <a:spcPts val="19673"/>
              </a:lnSpc>
            </a:pPr>
            <a:r>
              <a:rPr lang="en-US" sz="22876" spc="-1075" b="true">
                <a:solidFill>
                  <a:srgbClr val="FFFFFF"/>
                </a:solidFill>
                <a:latin typeface="Open Sauce Heavy"/>
                <a:ea typeface="Open Sauce Heavy"/>
                <a:cs typeface="Open Sauce Heavy"/>
                <a:sym typeface="Open Sauce Heavy"/>
              </a:rPr>
              <a:t>Thank You</a:t>
            </a:r>
          </a:p>
        </p:txBody>
      </p:sp>
      <p:grpSp>
        <p:nvGrpSpPr>
          <p:cNvPr name="Group 10" id="10"/>
          <p:cNvGrpSpPr/>
          <p:nvPr/>
        </p:nvGrpSpPr>
        <p:grpSpPr>
          <a:xfrm rot="0">
            <a:off x="1028700" y="8667034"/>
            <a:ext cx="15131235" cy="663349"/>
            <a:chOff x="0" y="0"/>
            <a:chExt cx="5695437" cy="249686"/>
          </a:xfrm>
        </p:grpSpPr>
        <p:sp>
          <p:nvSpPr>
            <p:cNvPr name="Freeform 11" id="11"/>
            <p:cNvSpPr/>
            <p:nvPr/>
          </p:nvSpPr>
          <p:spPr>
            <a:xfrm flipH="false" flipV="false" rot="0">
              <a:off x="0" y="0"/>
              <a:ext cx="5695437" cy="249686"/>
            </a:xfrm>
            <a:custGeom>
              <a:avLst/>
              <a:gdLst/>
              <a:ahLst/>
              <a:cxnLst/>
              <a:rect r="r" b="b" t="t" l="l"/>
              <a:pathLst>
                <a:path h="249686" w="5695437">
                  <a:moveTo>
                    <a:pt x="26094" y="0"/>
                  </a:moveTo>
                  <a:lnTo>
                    <a:pt x="5669343" y="0"/>
                  </a:lnTo>
                  <a:cubicBezTo>
                    <a:pt x="5683755" y="0"/>
                    <a:pt x="5695437" y="11683"/>
                    <a:pt x="5695437" y="26094"/>
                  </a:cubicBezTo>
                  <a:lnTo>
                    <a:pt x="5695437" y="223592"/>
                  </a:lnTo>
                  <a:cubicBezTo>
                    <a:pt x="5695437" y="230513"/>
                    <a:pt x="5692688" y="237150"/>
                    <a:pt x="5687794" y="242044"/>
                  </a:cubicBezTo>
                  <a:cubicBezTo>
                    <a:pt x="5682901" y="246937"/>
                    <a:pt x="5676264" y="249686"/>
                    <a:pt x="5669343" y="249686"/>
                  </a:cubicBezTo>
                  <a:lnTo>
                    <a:pt x="26094" y="249686"/>
                  </a:lnTo>
                  <a:cubicBezTo>
                    <a:pt x="19174" y="249686"/>
                    <a:pt x="12536" y="246937"/>
                    <a:pt x="7643" y="242044"/>
                  </a:cubicBezTo>
                  <a:cubicBezTo>
                    <a:pt x="2749" y="237150"/>
                    <a:pt x="0" y="230513"/>
                    <a:pt x="0" y="223592"/>
                  </a:cubicBezTo>
                  <a:lnTo>
                    <a:pt x="0" y="26094"/>
                  </a:lnTo>
                  <a:cubicBezTo>
                    <a:pt x="0" y="19174"/>
                    <a:pt x="2749" y="12536"/>
                    <a:pt x="7643" y="7643"/>
                  </a:cubicBezTo>
                  <a:cubicBezTo>
                    <a:pt x="12536" y="2749"/>
                    <a:pt x="19174" y="0"/>
                    <a:pt x="26094"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2" id="12"/>
            <p:cNvSpPr txBox="true"/>
            <p:nvPr/>
          </p:nvSpPr>
          <p:spPr>
            <a:xfrm>
              <a:off x="0" y="85725"/>
              <a:ext cx="5695437" cy="163961"/>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13" id="13"/>
          <p:cNvSpPr/>
          <p:nvPr/>
        </p:nvSpPr>
        <p:spPr>
          <a:xfrm flipH="false" flipV="false" rot="0">
            <a:off x="1336866" y="8834336"/>
            <a:ext cx="318148" cy="318148"/>
          </a:xfrm>
          <a:custGeom>
            <a:avLst/>
            <a:gdLst/>
            <a:ahLst/>
            <a:cxnLst/>
            <a:rect r="r" b="b" t="t" l="l"/>
            <a:pathLst>
              <a:path h="318148" w="318148">
                <a:moveTo>
                  <a:pt x="0" y="0"/>
                </a:moveTo>
                <a:lnTo>
                  <a:pt x="318148" y="0"/>
                </a:lnTo>
                <a:lnTo>
                  <a:pt x="318148" y="318148"/>
                </a:lnTo>
                <a:lnTo>
                  <a:pt x="0" y="3181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4126323" y="8834336"/>
            <a:ext cx="318148" cy="318148"/>
          </a:xfrm>
          <a:custGeom>
            <a:avLst/>
            <a:gdLst/>
            <a:ahLst/>
            <a:cxnLst/>
            <a:rect r="r" b="b" t="t" l="l"/>
            <a:pathLst>
              <a:path h="318148" w="318148">
                <a:moveTo>
                  <a:pt x="0" y="0"/>
                </a:moveTo>
                <a:lnTo>
                  <a:pt x="318148" y="0"/>
                </a:lnTo>
                <a:lnTo>
                  <a:pt x="318148" y="318148"/>
                </a:lnTo>
                <a:lnTo>
                  <a:pt x="0" y="3181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7944660" y="8834336"/>
            <a:ext cx="318148" cy="318148"/>
          </a:xfrm>
          <a:custGeom>
            <a:avLst/>
            <a:gdLst/>
            <a:ahLst/>
            <a:cxnLst/>
            <a:rect r="r" b="b" t="t" l="l"/>
            <a:pathLst>
              <a:path h="318148" w="318148">
                <a:moveTo>
                  <a:pt x="0" y="0"/>
                </a:moveTo>
                <a:lnTo>
                  <a:pt x="318148" y="0"/>
                </a:lnTo>
                <a:lnTo>
                  <a:pt x="318148" y="318148"/>
                </a:lnTo>
                <a:lnTo>
                  <a:pt x="0" y="3181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1599955" y="8834336"/>
            <a:ext cx="318148" cy="318148"/>
          </a:xfrm>
          <a:custGeom>
            <a:avLst/>
            <a:gdLst/>
            <a:ahLst/>
            <a:cxnLst/>
            <a:rect r="r" b="b" t="t" l="l"/>
            <a:pathLst>
              <a:path h="318148" w="318148">
                <a:moveTo>
                  <a:pt x="0" y="0"/>
                </a:moveTo>
                <a:lnTo>
                  <a:pt x="318148" y="0"/>
                </a:lnTo>
                <a:lnTo>
                  <a:pt x="318148" y="318148"/>
                </a:lnTo>
                <a:lnTo>
                  <a:pt x="0" y="31814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132972" y="852689"/>
            <a:ext cx="5168833" cy="372323"/>
          </a:xfrm>
          <a:prstGeom prst="rect">
            <a:avLst/>
          </a:prstGeom>
        </p:spPr>
        <p:txBody>
          <a:bodyPr anchor="t" rtlCol="false" tIns="0" lIns="0" bIns="0" rIns="0">
            <a:spAutoFit/>
          </a:bodyPr>
          <a:lstStyle/>
          <a:p>
            <a:pPr algn="l">
              <a:lnSpc>
                <a:spcPts val="3121"/>
              </a:lnSpc>
            </a:pPr>
            <a:r>
              <a:rPr lang="en-US" sz="2229" spc="-104" b="true">
                <a:solidFill>
                  <a:srgbClr val="FFFFFF"/>
                </a:solidFill>
                <a:latin typeface="Open Sauce Heavy"/>
                <a:ea typeface="Open Sauce Heavy"/>
                <a:cs typeface="Open Sauce Heavy"/>
                <a:sym typeface="Open Sauce Heavy"/>
              </a:rPr>
              <a:t>Kitchen Magic</a:t>
            </a:r>
          </a:p>
        </p:txBody>
      </p:sp>
      <p:sp>
        <p:nvSpPr>
          <p:cNvPr name="TextBox 18" id="18"/>
          <p:cNvSpPr txBox="true"/>
          <p:nvPr/>
        </p:nvSpPr>
        <p:spPr>
          <a:xfrm rot="0">
            <a:off x="1875283" y="8864089"/>
            <a:ext cx="2012915" cy="240665"/>
          </a:xfrm>
          <a:prstGeom prst="rect">
            <a:avLst/>
          </a:prstGeom>
        </p:spPr>
        <p:txBody>
          <a:bodyPr anchor="t" rtlCol="false" tIns="0" lIns="0" bIns="0" rIns="0">
            <a:spAutoFit/>
          </a:bodyPr>
          <a:lstStyle/>
          <a:p>
            <a:pPr algn="l" marL="0" indent="0" lvl="0">
              <a:lnSpc>
                <a:spcPts val="1960"/>
              </a:lnSpc>
              <a:spcBef>
                <a:spcPct val="0"/>
              </a:spcBef>
            </a:pPr>
            <a:r>
              <a:rPr lang="en-US" sz="1400">
                <a:solidFill>
                  <a:srgbClr val="FFFFFF"/>
                </a:solidFill>
                <a:latin typeface="Open Sauce"/>
                <a:ea typeface="Open Sauce"/>
                <a:cs typeface="Open Sauce"/>
                <a:sym typeface="Open Sauce"/>
              </a:rPr>
              <a:t>+123-456-7890</a:t>
            </a:r>
          </a:p>
        </p:txBody>
      </p:sp>
      <p:sp>
        <p:nvSpPr>
          <p:cNvPr name="TextBox 19" id="19"/>
          <p:cNvSpPr txBox="true"/>
          <p:nvPr/>
        </p:nvSpPr>
        <p:spPr>
          <a:xfrm rot="0">
            <a:off x="4663546" y="8858790"/>
            <a:ext cx="2884141" cy="240665"/>
          </a:xfrm>
          <a:prstGeom prst="rect">
            <a:avLst/>
          </a:prstGeom>
        </p:spPr>
        <p:txBody>
          <a:bodyPr anchor="t" rtlCol="false" tIns="0" lIns="0" bIns="0" rIns="0">
            <a:spAutoFit/>
          </a:bodyPr>
          <a:lstStyle/>
          <a:p>
            <a:pPr algn="l" marL="0" indent="0" lvl="0">
              <a:lnSpc>
                <a:spcPts val="1960"/>
              </a:lnSpc>
              <a:spcBef>
                <a:spcPct val="0"/>
              </a:spcBef>
            </a:pPr>
            <a:r>
              <a:rPr lang="en-US" sz="1400" strike="noStrike" u="none">
                <a:solidFill>
                  <a:srgbClr val="FFFFFF"/>
                </a:solidFill>
                <a:latin typeface="Open Sauce"/>
                <a:ea typeface="Open Sauce"/>
                <a:cs typeface="Open Sauce"/>
                <a:sym typeface="Open Sauce"/>
              </a:rPr>
              <a:t>hello@reallygreatsite.com</a:t>
            </a:r>
          </a:p>
        </p:txBody>
      </p:sp>
      <p:sp>
        <p:nvSpPr>
          <p:cNvPr name="TextBox 20" id="20"/>
          <p:cNvSpPr txBox="true"/>
          <p:nvPr/>
        </p:nvSpPr>
        <p:spPr>
          <a:xfrm rot="0">
            <a:off x="8481883" y="8858790"/>
            <a:ext cx="2884141" cy="240665"/>
          </a:xfrm>
          <a:prstGeom prst="rect">
            <a:avLst/>
          </a:prstGeom>
        </p:spPr>
        <p:txBody>
          <a:bodyPr anchor="t" rtlCol="false" tIns="0" lIns="0" bIns="0" rIns="0">
            <a:spAutoFit/>
          </a:bodyPr>
          <a:lstStyle/>
          <a:p>
            <a:pPr algn="l" marL="0" indent="0" lvl="0">
              <a:lnSpc>
                <a:spcPts val="1960"/>
              </a:lnSpc>
              <a:spcBef>
                <a:spcPct val="0"/>
              </a:spcBef>
            </a:pPr>
            <a:r>
              <a:rPr lang="en-US" sz="1400">
                <a:solidFill>
                  <a:srgbClr val="FFFFFF"/>
                </a:solidFill>
                <a:latin typeface="Open Sauce"/>
                <a:ea typeface="Open Sauce"/>
                <a:cs typeface="Open Sauce"/>
                <a:sym typeface="Open Sauce"/>
              </a:rPr>
              <a:t>www.</a:t>
            </a:r>
            <a:r>
              <a:rPr lang="en-US" sz="1400" strike="noStrike" u="none">
                <a:solidFill>
                  <a:srgbClr val="FFFFFF"/>
                </a:solidFill>
                <a:latin typeface="Open Sauce"/>
                <a:ea typeface="Open Sauce"/>
                <a:cs typeface="Open Sauce"/>
                <a:sym typeface="Open Sauce"/>
              </a:rPr>
              <a:t>reallygreatsite.com</a:t>
            </a:r>
          </a:p>
        </p:txBody>
      </p:sp>
      <p:sp>
        <p:nvSpPr>
          <p:cNvPr name="TextBox 21" id="21"/>
          <p:cNvSpPr txBox="true"/>
          <p:nvPr/>
        </p:nvSpPr>
        <p:spPr>
          <a:xfrm rot="0">
            <a:off x="12152035" y="8858790"/>
            <a:ext cx="4007901" cy="240665"/>
          </a:xfrm>
          <a:prstGeom prst="rect">
            <a:avLst/>
          </a:prstGeom>
        </p:spPr>
        <p:txBody>
          <a:bodyPr anchor="t" rtlCol="false" tIns="0" lIns="0" bIns="0" rIns="0">
            <a:spAutoFit/>
          </a:bodyPr>
          <a:lstStyle/>
          <a:p>
            <a:pPr algn="l" marL="0" indent="0" lvl="0">
              <a:lnSpc>
                <a:spcPts val="1960"/>
              </a:lnSpc>
              <a:spcBef>
                <a:spcPct val="0"/>
              </a:spcBef>
            </a:pPr>
            <a:r>
              <a:rPr lang="en-US" sz="1400" strike="noStrike" u="none">
                <a:solidFill>
                  <a:srgbClr val="FFFFFF"/>
                </a:solidFill>
                <a:latin typeface="Open Sauce"/>
                <a:ea typeface="Open Sauce"/>
                <a:cs typeface="Open Sauce"/>
                <a:sym typeface="Open Sauce"/>
              </a:rPr>
              <a:t>123 Anywhere St., Any City, ST 12345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DAHE-AJju8s</dc:identifier>
  <dcterms:modified xsi:type="dcterms:W3CDTF">2011-08-01T06:04:30Z</dcterms:modified>
  <cp:revision>1</cp:revision>
  <dc:title>Presentación_KitchenMagic</dc:title>
</cp:coreProperties>
</file>