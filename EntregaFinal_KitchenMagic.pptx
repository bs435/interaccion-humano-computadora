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8288000" cy="10287000"/>
  <p:notesSz cx="6858000" cy="9144000"/>
  <p:embeddedFontLst>
    <p:embeddedFont>
      <p:font typeface="Anton" charset="1" panose="00000500000000000000"/>
      <p:regular r:id="rId28"/>
    </p:embeddedFont>
    <p:embeddedFont>
      <p:font typeface="Mukti" charset="1" panose="00000000000000000000"/>
      <p:regular r:id="rId29"/>
    </p:embeddedFont>
    <p:embeddedFont>
      <p:font typeface="Open Sauce Light" charset="1" panose="00000400000000000000"/>
      <p:regular r:id="rId30"/>
    </p:embeddedFont>
    <p:embeddedFont>
      <p:font typeface="Public Sans Bold" charset="1" panose="00000000000000000000"/>
      <p:regular r:id="rId31"/>
    </p:embeddedFont>
    <p:embeddedFont>
      <p:font typeface="Public Sans" charset="1" panose="00000000000000000000"/>
      <p:regular r:id="rId32"/>
    </p:embeddedFont>
    <p:embeddedFont>
      <p:font typeface="Canva Sans" charset="1" panose="020B0503030501040103"/>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https://youtu.be/hIEn2miydVw" TargetMode="External" Type="http://schemas.openxmlformats.org/officeDocument/2006/relationships/hyperlink"/></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72970" y="7570587"/>
            <a:ext cx="1592463" cy="1592463"/>
          </a:xfrm>
          <a:custGeom>
            <a:avLst/>
            <a:gdLst/>
            <a:ahLst/>
            <a:cxnLst/>
            <a:rect r="r" b="b" t="t" l="l"/>
            <a:pathLst>
              <a:path h="1592463" w="1592463">
                <a:moveTo>
                  <a:pt x="0" y="0"/>
                </a:moveTo>
                <a:lnTo>
                  <a:pt x="1592463" y="0"/>
                </a:lnTo>
                <a:lnTo>
                  <a:pt x="1592463" y="1592463"/>
                </a:lnTo>
                <a:lnTo>
                  <a:pt x="0" y="15924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87245" y="1138840"/>
            <a:ext cx="9355385" cy="5203826"/>
          </a:xfrm>
          <a:prstGeom prst="rect">
            <a:avLst/>
          </a:prstGeom>
        </p:spPr>
        <p:txBody>
          <a:bodyPr anchor="t" rtlCol="false" tIns="0" lIns="0" bIns="0" rIns="0">
            <a:spAutoFit/>
          </a:bodyPr>
          <a:lstStyle/>
          <a:p>
            <a:pPr algn="l">
              <a:lnSpc>
                <a:spcPts val="20000"/>
              </a:lnSpc>
            </a:pPr>
            <a:r>
              <a:rPr lang="en-US" sz="20000" spc="-440">
                <a:solidFill>
                  <a:srgbClr val="151213"/>
                </a:solidFill>
                <a:latin typeface="Anton"/>
                <a:ea typeface="Anton"/>
                <a:cs typeface="Anton"/>
                <a:sym typeface="Anton"/>
              </a:rPr>
              <a:t>KITCHEN MAGIC</a:t>
            </a:r>
          </a:p>
        </p:txBody>
      </p:sp>
      <p:sp>
        <p:nvSpPr>
          <p:cNvPr name="TextBox 4" id="4"/>
          <p:cNvSpPr txBox="true"/>
          <p:nvPr/>
        </p:nvSpPr>
        <p:spPr>
          <a:xfrm rot="0">
            <a:off x="11438406" y="87843"/>
            <a:ext cx="6365538" cy="323215"/>
          </a:xfrm>
          <a:prstGeom prst="rect">
            <a:avLst/>
          </a:prstGeom>
        </p:spPr>
        <p:txBody>
          <a:bodyPr anchor="t" rtlCol="false" tIns="0" lIns="0" bIns="0" rIns="0">
            <a:spAutoFit/>
          </a:bodyPr>
          <a:lstStyle/>
          <a:p>
            <a:pPr algn="r">
              <a:lnSpc>
                <a:spcPts val="2660"/>
              </a:lnSpc>
            </a:pPr>
            <a:r>
              <a:rPr lang="en-US" sz="1900" spc="-104">
                <a:solidFill>
                  <a:srgbClr val="151213"/>
                </a:solidFill>
                <a:latin typeface="Mukti"/>
                <a:ea typeface="Mukti"/>
                <a:cs typeface="Mukti"/>
                <a:sym typeface="Mukti"/>
              </a:rPr>
              <a:t>IHC - ENERO - MAYO 2026</a:t>
            </a:r>
          </a:p>
        </p:txBody>
      </p:sp>
      <p:sp>
        <p:nvSpPr>
          <p:cNvPr name="AutoShape 5" id="5"/>
          <p:cNvSpPr/>
          <p:nvPr/>
        </p:nvSpPr>
        <p:spPr>
          <a:xfrm>
            <a:off x="-882858" y="492020"/>
            <a:ext cx="20053717" cy="0"/>
          </a:xfrm>
          <a:prstGeom prst="line">
            <a:avLst/>
          </a:prstGeom>
          <a:ln cap="flat" w="9525">
            <a:solidFill>
              <a:srgbClr val="151213"/>
            </a:solidFill>
            <a:prstDash val="solid"/>
            <a:headEnd type="none" len="sm" w="sm"/>
            <a:tailEnd type="none" len="sm" w="sm"/>
          </a:ln>
        </p:spPr>
      </p:sp>
      <p:sp>
        <p:nvSpPr>
          <p:cNvPr name="AutoShape 6" id="6"/>
          <p:cNvSpPr/>
          <p:nvPr/>
        </p:nvSpPr>
        <p:spPr>
          <a:xfrm>
            <a:off x="-882858" y="9818891"/>
            <a:ext cx="20053717" cy="0"/>
          </a:xfrm>
          <a:prstGeom prst="line">
            <a:avLst/>
          </a:prstGeom>
          <a:ln cap="flat" w="9525">
            <a:solidFill>
              <a:srgbClr val="151213"/>
            </a:solidFill>
            <a:prstDash val="solid"/>
            <a:headEnd type="none" len="sm" w="sm"/>
            <a:tailEnd type="none" len="sm" w="sm"/>
          </a:ln>
        </p:spPr>
      </p:sp>
      <p:grpSp>
        <p:nvGrpSpPr>
          <p:cNvPr name="Group 7" id="7"/>
          <p:cNvGrpSpPr/>
          <p:nvPr/>
        </p:nvGrpSpPr>
        <p:grpSpPr>
          <a:xfrm rot="0">
            <a:off x="10729328" y="1695624"/>
            <a:ext cx="6529972" cy="6313827"/>
            <a:chOff x="0" y="0"/>
            <a:chExt cx="1399869" cy="1353533"/>
          </a:xfrm>
        </p:grpSpPr>
        <p:sp>
          <p:nvSpPr>
            <p:cNvPr name="Freeform 8" id="8"/>
            <p:cNvSpPr/>
            <p:nvPr/>
          </p:nvSpPr>
          <p:spPr>
            <a:xfrm flipH="false" flipV="false" rot="0">
              <a:off x="0" y="0"/>
              <a:ext cx="1399869" cy="1353533"/>
            </a:xfrm>
            <a:custGeom>
              <a:avLst/>
              <a:gdLst/>
              <a:ahLst/>
              <a:cxnLst/>
              <a:rect r="r" b="b" t="t" l="l"/>
              <a:pathLst>
                <a:path h="1353533" w="1399869">
                  <a:moveTo>
                    <a:pt x="47424" y="0"/>
                  </a:moveTo>
                  <a:lnTo>
                    <a:pt x="1352445" y="0"/>
                  </a:lnTo>
                  <a:cubicBezTo>
                    <a:pt x="1378637" y="0"/>
                    <a:pt x="1399869" y="21232"/>
                    <a:pt x="1399869" y="47424"/>
                  </a:cubicBezTo>
                  <a:lnTo>
                    <a:pt x="1399869" y="1306109"/>
                  </a:lnTo>
                  <a:cubicBezTo>
                    <a:pt x="1399869" y="1318687"/>
                    <a:pt x="1394873" y="1330749"/>
                    <a:pt x="1385979" y="1339643"/>
                  </a:cubicBezTo>
                  <a:cubicBezTo>
                    <a:pt x="1377085" y="1348537"/>
                    <a:pt x="1365023" y="1353533"/>
                    <a:pt x="1352445" y="1353533"/>
                  </a:cubicBezTo>
                  <a:lnTo>
                    <a:pt x="47424" y="1353533"/>
                  </a:lnTo>
                  <a:cubicBezTo>
                    <a:pt x="21232" y="1353533"/>
                    <a:pt x="0" y="1332301"/>
                    <a:pt x="0" y="1306109"/>
                  </a:cubicBezTo>
                  <a:lnTo>
                    <a:pt x="0" y="47424"/>
                  </a:lnTo>
                  <a:cubicBezTo>
                    <a:pt x="0" y="21232"/>
                    <a:pt x="21232" y="0"/>
                    <a:pt x="47424" y="0"/>
                  </a:cubicBezTo>
                  <a:close/>
                </a:path>
              </a:pathLst>
            </a:custGeom>
            <a:blipFill>
              <a:blip r:embed="rId4"/>
              <a:stretch>
                <a:fillRect l="-3791" t="0" r="-3791" b="0"/>
              </a:stretch>
            </a:blipFill>
            <a:ln w="19050" cap="rnd">
              <a:solidFill>
                <a:srgbClr val="FFFFFF"/>
              </a:solidFill>
              <a:prstDash val="solid"/>
              <a:round/>
            </a:ln>
          </p:spPr>
        </p:sp>
      </p:grpSp>
      <p:sp>
        <p:nvSpPr>
          <p:cNvPr name="TextBox 9" id="9"/>
          <p:cNvSpPr txBox="true"/>
          <p:nvPr/>
        </p:nvSpPr>
        <p:spPr>
          <a:xfrm rot="0">
            <a:off x="1886749" y="6691123"/>
            <a:ext cx="8034565" cy="2471927"/>
          </a:xfrm>
          <a:prstGeom prst="rect">
            <a:avLst/>
          </a:prstGeom>
        </p:spPr>
        <p:txBody>
          <a:bodyPr anchor="t" rtlCol="false" tIns="0" lIns="0" bIns="0" rIns="0">
            <a:spAutoFit/>
          </a:bodyPr>
          <a:lstStyle/>
          <a:p>
            <a:pPr algn="l" marL="670395" indent="-335197" lvl="1">
              <a:lnSpc>
                <a:spcPts val="3912"/>
              </a:lnSpc>
              <a:buFont typeface="Arial"/>
              <a:buChar char="•"/>
            </a:pPr>
            <a:r>
              <a:rPr lang="en-US" sz="3105" spc="-173">
                <a:solidFill>
                  <a:srgbClr val="151213"/>
                </a:solidFill>
                <a:latin typeface="Open Sauce Light"/>
                <a:ea typeface="Open Sauce Light"/>
                <a:cs typeface="Open Sauce Light"/>
                <a:sym typeface="Open Sauce Light"/>
              </a:rPr>
              <a:t>Aviles Castillo Jesús Alberto</a:t>
            </a:r>
          </a:p>
          <a:p>
            <a:pPr algn="l" marL="670395" indent="-335197" lvl="1">
              <a:lnSpc>
                <a:spcPts val="3912"/>
              </a:lnSpc>
              <a:buFont typeface="Arial"/>
              <a:buChar char="•"/>
            </a:pPr>
            <a:r>
              <a:rPr lang="en-US" sz="3105" spc="-173">
                <a:solidFill>
                  <a:srgbClr val="151213"/>
                </a:solidFill>
                <a:latin typeface="Open Sauce Light"/>
                <a:ea typeface="Open Sauce Light"/>
                <a:cs typeface="Open Sauce Light"/>
                <a:sym typeface="Open Sauce Light"/>
              </a:rPr>
              <a:t>Loria Pech Rubén Moises</a:t>
            </a:r>
          </a:p>
          <a:p>
            <a:pPr algn="l" marL="670395" indent="-335197" lvl="1">
              <a:lnSpc>
                <a:spcPts val="3912"/>
              </a:lnSpc>
              <a:buFont typeface="Arial"/>
              <a:buChar char="•"/>
            </a:pPr>
            <a:r>
              <a:rPr lang="en-US" sz="3105" spc="-173">
                <a:solidFill>
                  <a:srgbClr val="151213"/>
                </a:solidFill>
                <a:latin typeface="Open Sauce Light"/>
                <a:ea typeface="Open Sauce Light"/>
                <a:cs typeface="Open Sauce Light"/>
                <a:sym typeface="Open Sauce Light"/>
              </a:rPr>
              <a:t>Maldonado Medina Hansony de Jesús</a:t>
            </a:r>
          </a:p>
          <a:p>
            <a:pPr algn="l" marL="670395" indent="-335197" lvl="1">
              <a:lnSpc>
                <a:spcPts val="3912"/>
              </a:lnSpc>
              <a:buFont typeface="Arial"/>
              <a:buChar char="•"/>
            </a:pPr>
            <a:r>
              <a:rPr lang="en-US" sz="3105" spc="-173">
                <a:solidFill>
                  <a:srgbClr val="151213"/>
                </a:solidFill>
                <a:latin typeface="Open Sauce Light"/>
                <a:ea typeface="Open Sauce Light"/>
                <a:cs typeface="Open Sauce Light"/>
                <a:sym typeface="Open Sauce Light"/>
              </a:rPr>
              <a:t>Montero Uc José Francisco</a:t>
            </a:r>
          </a:p>
          <a:p>
            <a:pPr algn="l" marL="670395" indent="-335197" lvl="1">
              <a:lnSpc>
                <a:spcPts val="3912"/>
              </a:lnSpc>
              <a:buFont typeface="Arial"/>
              <a:buChar char="•"/>
            </a:pPr>
            <a:r>
              <a:rPr lang="en-US" sz="3105" spc="-173">
                <a:solidFill>
                  <a:srgbClr val="151213"/>
                </a:solidFill>
                <a:latin typeface="Open Sauce Light"/>
                <a:ea typeface="Open Sauce Light"/>
                <a:cs typeface="Open Sauce Light"/>
                <a:sym typeface="Open Sauce Light"/>
              </a:rPr>
              <a:t>Suárez Balam Brandon Emmanuel</a:t>
            </a:r>
          </a:p>
        </p:txBody>
      </p:sp>
      <p:sp>
        <p:nvSpPr>
          <p:cNvPr name="TextBox 10" id="10"/>
          <p:cNvSpPr txBox="true"/>
          <p:nvPr/>
        </p:nvSpPr>
        <p:spPr>
          <a:xfrm rot="0">
            <a:off x="11597149" y="8672353"/>
            <a:ext cx="5347137" cy="490697"/>
          </a:xfrm>
          <a:prstGeom prst="rect">
            <a:avLst/>
          </a:prstGeom>
        </p:spPr>
        <p:txBody>
          <a:bodyPr anchor="t" rtlCol="false" tIns="0" lIns="0" bIns="0" rIns="0">
            <a:spAutoFit/>
          </a:bodyPr>
          <a:lstStyle/>
          <a:p>
            <a:pPr algn="l">
              <a:lnSpc>
                <a:spcPts val="3912"/>
              </a:lnSpc>
            </a:pPr>
            <a:r>
              <a:rPr lang="en-US" sz="3105" spc="-173" u="sng">
                <a:solidFill>
                  <a:srgbClr val="151213"/>
                </a:solidFill>
                <a:latin typeface="Open Sauce Light"/>
                <a:ea typeface="Open Sauce Light"/>
                <a:cs typeface="Open Sauce Light"/>
                <a:sym typeface="Open Sauce Light"/>
                <a:hlinkClick r:id="rId5" tooltip="https://youtu.be/hIEn2miydVw"/>
              </a:rPr>
              <a:t>https://youtu.be/hIEn2miydVw</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151213"/>
        </a:solidFill>
      </p:bgPr>
    </p:bg>
    <p:spTree>
      <p:nvGrpSpPr>
        <p:cNvPr id="1" name=""/>
        <p:cNvGrpSpPr/>
        <p:nvPr/>
      </p:nvGrpSpPr>
      <p:grpSpPr>
        <a:xfrm>
          <a:off x="0" y="0"/>
          <a:ext cx="0" cy="0"/>
          <a:chOff x="0" y="0"/>
          <a:chExt cx="0" cy="0"/>
        </a:xfrm>
      </p:grpSpPr>
      <p:sp>
        <p:nvSpPr>
          <p:cNvPr name="TextBox 2" id="2"/>
          <p:cNvSpPr txBox="true"/>
          <p:nvPr/>
        </p:nvSpPr>
        <p:spPr>
          <a:xfrm rot="0">
            <a:off x="610166" y="1520824"/>
            <a:ext cx="16313948" cy="5203826"/>
          </a:xfrm>
          <a:prstGeom prst="rect">
            <a:avLst/>
          </a:prstGeom>
        </p:spPr>
        <p:txBody>
          <a:bodyPr anchor="t" rtlCol="false" tIns="0" lIns="0" bIns="0" rIns="0">
            <a:spAutoFit/>
          </a:bodyPr>
          <a:lstStyle/>
          <a:p>
            <a:pPr algn="l">
              <a:lnSpc>
                <a:spcPts val="20000"/>
              </a:lnSpc>
            </a:pPr>
            <a:r>
              <a:rPr lang="en-US" sz="20000" spc="-440">
                <a:solidFill>
                  <a:srgbClr val="EFEFEC"/>
                </a:solidFill>
                <a:latin typeface="Anton"/>
                <a:ea typeface="Anton"/>
                <a:cs typeface="Anton"/>
                <a:sym typeface="Anton"/>
              </a:rPr>
              <a:t>SUMMARY OF PROGESS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FEFEC"/>
        </a:solidFill>
      </p:bgPr>
    </p:bg>
    <p:spTree>
      <p:nvGrpSpPr>
        <p:cNvPr id="1" name=""/>
        <p:cNvGrpSpPr/>
        <p:nvPr/>
      </p:nvGrpSpPr>
      <p:grpSpPr>
        <a:xfrm>
          <a:off x="0" y="0"/>
          <a:ext cx="0" cy="0"/>
          <a:chOff x="0" y="0"/>
          <a:chExt cx="0" cy="0"/>
        </a:xfrm>
      </p:grpSpPr>
      <p:sp>
        <p:nvSpPr>
          <p:cNvPr name="AutoShape 2" id="2"/>
          <p:cNvSpPr/>
          <p:nvPr/>
        </p:nvSpPr>
        <p:spPr>
          <a:xfrm>
            <a:off x="-882858" y="492020"/>
            <a:ext cx="20053717" cy="0"/>
          </a:xfrm>
          <a:prstGeom prst="line">
            <a:avLst/>
          </a:prstGeom>
          <a:ln cap="flat" w="9525">
            <a:solidFill>
              <a:srgbClr val="151213"/>
            </a:solidFill>
            <a:prstDash val="solid"/>
            <a:headEnd type="none" len="sm" w="sm"/>
            <a:tailEnd type="none" len="sm" w="sm"/>
          </a:ln>
        </p:spPr>
      </p:sp>
      <p:sp>
        <p:nvSpPr>
          <p:cNvPr name="AutoShape 3" id="3"/>
          <p:cNvSpPr/>
          <p:nvPr/>
        </p:nvSpPr>
        <p:spPr>
          <a:xfrm>
            <a:off x="-882858" y="10048628"/>
            <a:ext cx="20053717" cy="0"/>
          </a:xfrm>
          <a:prstGeom prst="line">
            <a:avLst/>
          </a:prstGeom>
          <a:ln cap="flat" w="9525">
            <a:solidFill>
              <a:srgbClr val="151213"/>
            </a:solidFill>
            <a:prstDash val="solid"/>
            <a:headEnd type="none" len="sm" w="sm"/>
            <a:tailEnd type="none" len="sm" w="sm"/>
          </a:ln>
        </p:spPr>
      </p:sp>
      <p:sp>
        <p:nvSpPr>
          <p:cNvPr name="Freeform 4" id="4"/>
          <p:cNvSpPr/>
          <p:nvPr/>
        </p:nvSpPr>
        <p:spPr>
          <a:xfrm flipH="false" flipV="false" rot="0">
            <a:off x="10903648" y="1456395"/>
            <a:ext cx="6355652" cy="3535332"/>
          </a:xfrm>
          <a:custGeom>
            <a:avLst/>
            <a:gdLst/>
            <a:ahLst/>
            <a:cxnLst/>
            <a:rect r="r" b="b" t="t" l="l"/>
            <a:pathLst>
              <a:path h="3535332" w="6355652">
                <a:moveTo>
                  <a:pt x="0" y="0"/>
                </a:moveTo>
                <a:lnTo>
                  <a:pt x="6355652" y="0"/>
                </a:lnTo>
                <a:lnTo>
                  <a:pt x="6355652" y="3535332"/>
                </a:lnTo>
                <a:lnTo>
                  <a:pt x="0" y="3535332"/>
                </a:lnTo>
                <a:lnTo>
                  <a:pt x="0" y="0"/>
                </a:lnTo>
                <a:close/>
              </a:path>
            </a:pathLst>
          </a:custGeom>
          <a:blipFill>
            <a:blip r:embed="rId2"/>
            <a:stretch>
              <a:fillRect l="0" t="0" r="0" b="0"/>
            </a:stretch>
          </a:blipFill>
        </p:spPr>
      </p:sp>
      <p:sp>
        <p:nvSpPr>
          <p:cNvPr name="Freeform 5" id="5"/>
          <p:cNvSpPr/>
          <p:nvPr/>
        </p:nvSpPr>
        <p:spPr>
          <a:xfrm flipH="false" flipV="false" rot="0">
            <a:off x="10882079" y="5236928"/>
            <a:ext cx="6398790" cy="3535332"/>
          </a:xfrm>
          <a:custGeom>
            <a:avLst/>
            <a:gdLst/>
            <a:ahLst/>
            <a:cxnLst/>
            <a:rect r="r" b="b" t="t" l="l"/>
            <a:pathLst>
              <a:path h="3535332" w="6398790">
                <a:moveTo>
                  <a:pt x="0" y="0"/>
                </a:moveTo>
                <a:lnTo>
                  <a:pt x="6398790" y="0"/>
                </a:lnTo>
                <a:lnTo>
                  <a:pt x="6398790" y="3535332"/>
                </a:lnTo>
                <a:lnTo>
                  <a:pt x="0" y="3535332"/>
                </a:lnTo>
                <a:lnTo>
                  <a:pt x="0" y="0"/>
                </a:lnTo>
                <a:close/>
              </a:path>
            </a:pathLst>
          </a:custGeom>
          <a:blipFill>
            <a:blip r:embed="rId3"/>
            <a:stretch>
              <a:fillRect l="0" t="0" r="0" b="0"/>
            </a:stretch>
          </a:blipFill>
        </p:spPr>
      </p:sp>
      <p:sp>
        <p:nvSpPr>
          <p:cNvPr name="TextBox 6" id="6"/>
          <p:cNvSpPr txBox="true"/>
          <p:nvPr/>
        </p:nvSpPr>
        <p:spPr>
          <a:xfrm rot="0">
            <a:off x="472970" y="826185"/>
            <a:ext cx="9292571" cy="1989455"/>
          </a:xfrm>
          <a:prstGeom prst="rect">
            <a:avLst/>
          </a:prstGeom>
        </p:spPr>
        <p:txBody>
          <a:bodyPr anchor="t" rtlCol="false" tIns="0" lIns="0" bIns="0" rIns="0">
            <a:spAutoFit/>
          </a:bodyPr>
          <a:lstStyle/>
          <a:p>
            <a:pPr algn="just">
              <a:lnSpc>
                <a:spcPts val="3299"/>
              </a:lnSpc>
            </a:pPr>
            <a:r>
              <a:rPr lang="en-US" b="true" sz="2999" spc="-164">
                <a:solidFill>
                  <a:srgbClr val="151213"/>
                </a:solidFill>
                <a:latin typeface="Public Sans Bold"/>
                <a:ea typeface="Public Sans Bold"/>
                <a:cs typeface="Public Sans Bold"/>
                <a:sym typeface="Public Sans Bold"/>
              </a:rPr>
              <a:t>First Deliverable:</a:t>
            </a:r>
          </a:p>
          <a:p>
            <a:pPr algn="just" marL="604518" indent="-302259" lvl="1">
              <a:lnSpc>
                <a:spcPts val="3079"/>
              </a:lnSpc>
              <a:buFont typeface="Arial"/>
              <a:buChar char="•"/>
            </a:pPr>
            <a:r>
              <a:rPr lang="en-US" sz="2799" spc="-153">
                <a:solidFill>
                  <a:srgbClr val="151213"/>
                </a:solidFill>
                <a:latin typeface="Public Sans"/>
                <a:ea typeface="Public Sans"/>
                <a:cs typeface="Public Sans"/>
                <a:sym typeface="Public Sans"/>
              </a:rPr>
              <a:t>Foucused on defining what the project would be about.</a:t>
            </a:r>
          </a:p>
          <a:p>
            <a:pPr algn="just" marL="604518" indent="-302259" lvl="1">
              <a:lnSpc>
                <a:spcPts val="3079"/>
              </a:lnSpc>
              <a:buFont typeface="Arial"/>
              <a:buChar char="•"/>
            </a:pPr>
            <a:r>
              <a:rPr lang="en-US" sz="2799" spc="-153">
                <a:solidFill>
                  <a:srgbClr val="151213"/>
                </a:solidFill>
                <a:latin typeface="Public Sans"/>
                <a:ea typeface="Public Sans"/>
                <a:cs typeface="Public Sans"/>
                <a:sym typeface="Public Sans"/>
              </a:rPr>
              <a:t>We wrote the application's purpose, justified why it is useful , and detailed who would benefit from it.</a:t>
            </a:r>
          </a:p>
          <a:p>
            <a:pPr algn="just" marL="604518" indent="-302259" lvl="1">
              <a:lnSpc>
                <a:spcPts val="3079"/>
              </a:lnSpc>
              <a:buFont typeface="Arial"/>
              <a:buChar char="•"/>
            </a:pPr>
            <a:r>
              <a:rPr lang="en-US" sz="2799" spc="-153">
                <a:solidFill>
                  <a:srgbClr val="151213"/>
                </a:solidFill>
                <a:latin typeface="Public Sans"/>
                <a:ea typeface="Public Sans"/>
                <a:cs typeface="Public Sans"/>
                <a:sym typeface="Public Sans"/>
              </a:rPr>
              <a:t>assembled the initial list of core functions.</a:t>
            </a:r>
          </a:p>
        </p:txBody>
      </p:sp>
      <p:sp>
        <p:nvSpPr>
          <p:cNvPr name="TextBox 7" id="7"/>
          <p:cNvSpPr txBox="true"/>
          <p:nvPr/>
        </p:nvSpPr>
        <p:spPr>
          <a:xfrm rot="0">
            <a:off x="472970" y="3520411"/>
            <a:ext cx="9292571" cy="2379980"/>
          </a:xfrm>
          <a:prstGeom prst="rect">
            <a:avLst/>
          </a:prstGeom>
        </p:spPr>
        <p:txBody>
          <a:bodyPr anchor="t" rtlCol="false" tIns="0" lIns="0" bIns="0" rIns="0">
            <a:spAutoFit/>
          </a:bodyPr>
          <a:lstStyle/>
          <a:p>
            <a:pPr algn="just">
              <a:lnSpc>
                <a:spcPts val="3299"/>
              </a:lnSpc>
            </a:pPr>
            <a:r>
              <a:rPr lang="en-US" b="true" sz="2999" spc="-164">
                <a:solidFill>
                  <a:srgbClr val="151213"/>
                </a:solidFill>
                <a:latin typeface="Public Sans Bold"/>
                <a:ea typeface="Public Sans Bold"/>
                <a:cs typeface="Public Sans Bold"/>
                <a:sym typeface="Public Sans Bold"/>
              </a:rPr>
              <a:t>Second Deliverable:</a:t>
            </a:r>
          </a:p>
          <a:p>
            <a:pPr algn="just" marL="604518" indent="-302259" lvl="1">
              <a:lnSpc>
                <a:spcPts val="3079"/>
              </a:lnSpc>
              <a:buFont typeface="Arial"/>
              <a:buChar char="•"/>
            </a:pPr>
            <a:r>
              <a:rPr lang="en-US" b="true" sz="2799" spc="-153">
                <a:solidFill>
                  <a:srgbClr val="151213"/>
                </a:solidFill>
                <a:latin typeface="Public Sans Bold"/>
                <a:ea typeface="Public Sans Bold"/>
                <a:cs typeface="Public Sans Bold"/>
                <a:sym typeface="Public Sans Bold"/>
              </a:rPr>
              <a:t>New functions</a:t>
            </a:r>
            <a:r>
              <a:rPr lang="en-US" sz="2799" spc="-153">
                <a:solidFill>
                  <a:srgbClr val="151213"/>
                </a:solidFill>
                <a:latin typeface="Public Sans"/>
                <a:ea typeface="Public Sans"/>
                <a:cs typeface="Public Sans"/>
                <a:sym typeface="Public Sans"/>
              </a:rPr>
              <a:t>: We expand the  list of what the app can do.</a:t>
            </a:r>
          </a:p>
          <a:p>
            <a:pPr algn="just" marL="604518" indent="-302259" lvl="1">
              <a:lnSpc>
                <a:spcPts val="3079"/>
              </a:lnSpc>
              <a:buFont typeface="Arial"/>
              <a:buChar char="•"/>
            </a:pPr>
            <a:r>
              <a:rPr lang="en-US" b="true" sz="2799" spc="-153">
                <a:solidFill>
                  <a:srgbClr val="151213"/>
                </a:solidFill>
                <a:latin typeface="Public Sans Bold"/>
                <a:ea typeface="Public Sans Bold"/>
                <a:cs typeface="Public Sans Bold"/>
                <a:sym typeface="Public Sans Bold"/>
              </a:rPr>
              <a:t>Visual Enhancements</a:t>
            </a:r>
            <a:r>
              <a:rPr lang="en-US" sz="2799" spc="-153">
                <a:solidFill>
                  <a:srgbClr val="151213"/>
                </a:solidFill>
                <a:latin typeface="Public Sans"/>
                <a:ea typeface="Public Sans"/>
                <a:cs typeface="Public Sans"/>
                <a:sym typeface="Public Sans"/>
              </a:rPr>
              <a:t>: We changed the typography to one that reads better from a distance or under kitchen lighting. </a:t>
            </a:r>
          </a:p>
          <a:p>
            <a:pPr algn="just" marL="604518" indent="-302259" lvl="1">
              <a:lnSpc>
                <a:spcPts val="3079"/>
              </a:lnSpc>
              <a:buFont typeface="Arial"/>
              <a:buChar char="•"/>
            </a:pPr>
            <a:r>
              <a:rPr lang="en-US" b="true" sz="2799" spc="-153">
                <a:solidFill>
                  <a:srgbClr val="151213"/>
                </a:solidFill>
                <a:latin typeface="Public Sans Bold"/>
                <a:ea typeface="Public Sans Bold"/>
                <a:cs typeface="Public Sans Bold"/>
                <a:sym typeface="Public Sans Bold"/>
              </a:rPr>
              <a:t>Testing Formats</a:t>
            </a:r>
            <a:r>
              <a:rPr lang="en-US" sz="2799" spc="-153">
                <a:solidFill>
                  <a:srgbClr val="151213"/>
                </a:solidFill>
                <a:latin typeface="Public Sans"/>
                <a:ea typeface="Public Sans"/>
                <a:cs typeface="Public Sans"/>
                <a:sym typeface="Public Sans"/>
              </a:rPr>
              <a:t>: We prepared all the formats, surveys, and checklists required to evaluate the application's.</a:t>
            </a:r>
          </a:p>
        </p:txBody>
      </p:sp>
      <p:sp>
        <p:nvSpPr>
          <p:cNvPr name="TextBox 8" id="8"/>
          <p:cNvSpPr txBox="true"/>
          <p:nvPr/>
        </p:nvSpPr>
        <p:spPr>
          <a:xfrm rot="0">
            <a:off x="472970" y="6401138"/>
            <a:ext cx="9292571" cy="3161030"/>
          </a:xfrm>
          <a:prstGeom prst="rect">
            <a:avLst/>
          </a:prstGeom>
        </p:spPr>
        <p:txBody>
          <a:bodyPr anchor="t" rtlCol="false" tIns="0" lIns="0" bIns="0" rIns="0">
            <a:spAutoFit/>
          </a:bodyPr>
          <a:lstStyle/>
          <a:p>
            <a:pPr algn="just">
              <a:lnSpc>
                <a:spcPts val="3299"/>
              </a:lnSpc>
            </a:pPr>
            <a:r>
              <a:rPr lang="en-US" b="true" sz="2999" spc="-164">
                <a:solidFill>
                  <a:srgbClr val="151213"/>
                </a:solidFill>
                <a:latin typeface="Public Sans Bold"/>
                <a:ea typeface="Public Sans Bold"/>
                <a:cs typeface="Public Sans Bold"/>
                <a:sym typeface="Public Sans Bold"/>
              </a:rPr>
              <a:t>Thrid Deliverable:</a:t>
            </a:r>
          </a:p>
          <a:p>
            <a:pPr algn="just" marL="604518" indent="-302259" lvl="1">
              <a:lnSpc>
                <a:spcPts val="3079"/>
              </a:lnSpc>
              <a:buFont typeface="Arial"/>
              <a:buChar char="•"/>
            </a:pPr>
            <a:r>
              <a:rPr lang="en-US" b="true" sz="2799" spc="-153">
                <a:solidFill>
                  <a:srgbClr val="151213"/>
                </a:solidFill>
                <a:latin typeface="Public Sans Bold"/>
                <a:ea typeface="Public Sans Bold"/>
                <a:cs typeface="Public Sans Bold"/>
                <a:sym typeface="Public Sans Bold"/>
              </a:rPr>
              <a:t>High-Fidelity Prototype</a:t>
            </a:r>
            <a:r>
              <a:rPr lang="en-US" sz="2799" spc="-153">
                <a:solidFill>
                  <a:srgbClr val="151213"/>
                </a:solidFill>
                <a:latin typeface="Public Sans"/>
                <a:ea typeface="Public Sans"/>
                <a:cs typeface="Public Sans"/>
                <a:sym typeface="Public Sans"/>
              </a:rPr>
              <a:t>: We completely designed the definitive interfaces in high fidelity.</a:t>
            </a:r>
          </a:p>
          <a:p>
            <a:pPr algn="just" marL="604518" indent="-302259" lvl="1">
              <a:lnSpc>
                <a:spcPts val="3079"/>
              </a:lnSpc>
              <a:buFont typeface="Arial"/>
              <a:buChar char="•"/>
            </a:pPr>
            <a:r>
              <a:rPr lang="en-US" b="true" sz="2799" spc="-153">
                <a:solidFill>
                  <a:srgbClr val="151213"/>
                </a:solidFill>
                <a:latin typeface="Public Sans Bold"/>
                <a:ea typeface="Public Sans Bold"/>
                <a:cs typeface="Public Sans Bold"/>
                <a:sym typeface="Public Sans Bold"/>
              </a:rPr>
              <a:t>Relevant Adjustments:</a:t>
            </a:r>
            <a:r>
              <a:rPr lang="en-US" sz="2799" spc="-153">
                <a:solidFill>
                  <a:srgbClr val="151213"/>
                </a:solidFill>
                <a:latin typeface="Public Sans"/>
                <a:ea typeface="Public Sans"/>
                <a:cs typeface="Public Sans"/>
                <a:sym typeface="Public Sans"/>
              </a:rPr>
              <a:t> After reviewing the finished screens, we made a couple of quick changes.</a:t>
            </a:r>
          </a:p>
          <a:p>
            <a:pPr algn="just" marL="604518" indent="-302259" lvl="1">
              <a:lnSpc>
                <a:spcPts val="3079"/>
              </a:lnSpc>
              <a:buFont typeface="Arial"/>
              <a:buChar char="•"/>
            </a:pPr>
            <a:r>
              <a:rPr lang="en-US" b="true" sz="2799" spc="-153">
                <a:solidFill>
                  <a:srgbClr val="151213"/>
                </a:solidFill>
                <a:latin typeface="Public Sans Bold"/>
                <a:ea typeface="Public Sans Bold"/>
                <a:cs typeface="Public Sans Bold"/>
                <a:sym typeface="Public Sans Bold"/>
              </a:rPr>
              <a:t>Usability Testing (Simulated)</a:t>
            </a:r>
            <a:r>
              <a:rPr lang="en-US" sz="2799" spc="-153">
                <a:solidFill>
                  <a:srgbClr val="151213"/>
                </a:solidFill>
                <a:latin typeface="Public Sans"/>
                <a:ea typeface="Public Sans"/>
                <a:cs typeface="Public Sans"/>
                <a:sym typeface="Public Sans"/>
              </a:rPr>
              <a:t>: We conducted a simulation practice of the usability tests using the formats we already had prepared.</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FEFEC"/>
        </a:solidFill>
      </p:bgPr>
    </p:bg>
    <p:spTree>
      <p:nvGrpSpPr>
        <p:cNvPr id="1" name=""/>
        <p:cNvGrpSpPr/>
        <p:nvPr/>
      </p:nvGrpSpPr>
      <p:grpSpPr>
        <a:xfrm>
          <a:off x="0" y="0"/>
          <a:ext cx="0" cy="0"/>
          <a:chOff x="0" y="0"/>
          <a:chExt cx="0" cy="0"/>
        </a:xfrm>
      </p:grpSpPr>
      <p:sp>
        <p:nvSpPr>
          <p:cNvPr name="TextBox 2" id="2"/>
          <p:cNvSpPr txBox="true"/>
          <p:nvPr/>
        </p:nvSpPr>
        <p:spPr>
          <a:xfrm rot="0">
            <a:off x="2458105" y="825395"/>
            <a:ext cx="17330975" cy="2409838"/>
          </a:xfrm>
          <a:prstGeom prst="rect">
            <a:avLst/>
          </a:prstGeom>
        </p:spPr>
        <p:txBody>
          <a:bodyPr anchor="t" rtlCol="false" tIns="0" lIns="0" bIns="0" rIns="0">
            <a:spAutoFit/>
          </a:bodyPr>
          <a:lstStyle/>
          <a:p>
            <a:pPr algn="l">
              <a:lnSpc>
                <a:spcPts val="18000"/>
              </a:lnSpc>
            </a:pPr>
            <a:r>
              <a:rPr lang="en-US" sz="18000" spc="-396">
                <a:solidFill>
                  <a:srgbClr val="151213"/>
                </a:solidFill>
                <a:latin typeface="Anton"/>
                <a:ea typeface="Anton"/>
                <a:cs typeface="Anton"/>
                <a:sym typeface="Anton"/>
              </a:rPr>
              <a:t>UCD METODOLOGY</a:t>
            </a:r>
          </a:p>
        </p:txBody>
      </p:sp>
      <p:grpSp>
        <p:nvGrpSpPr>
          <p:cNvPr name="Group 3" id="3"/>
          <p:cNvGrpSpPr>
            <a:grpSpLocks noChangeAspect="true"/>
          </p:cNvGrpSpPr>
          <p:nvPr/>
        </p:nvGrpSpPr>
        <p:grpSpPr>
          <a:xfrm rot="0">
            <a:off x="12072737" y="3746500"/>
            <a:ext cx="5511800" cy="5511800"/>
            <a:chOff x="0" y="0"/>
            <a:chExt cx="13716000" cy="13716000"/>
          </a:xfrm>
        </p:grpSpPr>
        <p:sp>
          <p:nvSpPr>
            <p:cNvPr name="Freeform 4" id="4"/>
            <p:cNvSpPr/>
            <p:nvPr/>
          </p:nvSpPr>
          <p:spPr>
            <a:xfrm flipH="false" flipV="false" rot="0">
              <a:off x="0" y="0"/>
              <a:ext cx="13716000" cy="13716000"/>
            </a:xfrm>
            <a:custGeom>
              <a:avLst/>
              <a:gdLst/>
              <a:ahLst/>
              <a:cxnLst/>
              <a:rect r="r" b="b" t="t" l="l"/>
              <a:pathLst>
                <a:path h="13716000" w="13716000">
                  <a:moveTo>
                    <a:pt x="13716000" y="13716000"/>
                  </a:moveTo>
                  <a:lnTo>
                    <a:pt x="0" y="13716000"/>
                  </a:lnTo>
                  <a:lnTo>
                    <a:pt x="0" y="0"/>
                  </a:lnTo>
                  <a:lnTo>
                    <a:pt x="13716000" y="0"/>
                  </a:lnTo>
                  <a:lnTo>
                    <a:pt x="13716000" y="13716000"/>
                  </a:lnTo>
                  <a:close/>
                </a:path>
              </a:pathLst>
            </a:custGeom>
            <a:blipFill>
              <a:blip r:embed="rId2"/>
              <a:stretch>
                <a:fillRect l="-29051" t="0" r="-29051" b="0"/>
              </a:stretch>
            </a:blipFill>
          </p:spPr>
        </p:sp>
        <p:sp>
          <p:nvSpPr>
            <p:cNvPr name="Freeform 5" id="5"/>
            <p:cNvSpPr/>
            <p:nvPr/>
          </p:nvSpPr>
          <p:spPr>
            <a:xfrm flipH="false" flipV="false" rot="0">
              <a:off x="0" y="0"/>
              <a:ext cx="13716000" cy="13716000"/>
            </a:xfrm>
            <a:custGeom>
              <a:avLst/>
              <a:gdLst/>
              <a:ahLst/>
              <a:cxnLst/>
              <a:rect r="r" b="b" t="t" l="l"/>
              <a:pathLst>
                <a:path h="13716000" w="13716000">
                  <a:moveTo>
                    <a:pt x="13716000" y="13716000"/>
                  </a:moveTo>
                  <a:lnTo>
                    <a:pt x="0" y="13716000"/>
                  </a:lnTo>
                  <a:lnTo>
                    <a:pt x="0" y="0"/>
                  </a:lnTo>
                  <a:lnTo>
                    <a:pt x="13716000" y="0"/>
                  </a:lnTo>
                  <a:lnTo>
                    <a:pt x="13716000" y="13716000"/>
                  </a:lnTo>
                  <a:close/>
                </a:path>
              </a:pathLst>
            </a:custGeom>
            <a:blipFill>
              <a:blip r:embed="rId3"/>
              <a:stretch>
                <a:fillRect l="0" t="0" r="0" b="0"/>
              </a:stretch>
            </a:blipFill>
          </p:spPr>
        </p:sp>
      </p:grpSp>
      <p:sp>
        <p:nvSpPr>
          <p:cNvPr name="AutoShape 6" id="6"/>
          <p:cNvSpPr/>
          <p:nvPr/>
        </p:nvSpPr>
        <p:spPr>
          <a:xfrm>
            <a:off x="-882858" y="492020"/>
            <a:ext cx="20053717" cy="0"/>
          </a:xfrm>
          <a:prstGeom prst="line">
            <a:avLst/>
          </a:prstGeom>
          <a:ln cap="flat" w="9525">
            <a:solidFill>
              <a:srgbClr val="151213"/>
            </a:solidFill>
            <a:prstDash val="solid"/>
            <a:headEnd type="none" len="sm" w="sm"/>
            <a:tailEnd type="none" len="sm" w="sm"/>
          </a:ln>
        </p:spPr>
      </p:sp>
      <p:sp>
        <p:nvSpPr>
          <p:cNvPr name="AutoShape 7" id="7"/>
          <p:cNvSpPr/>
          <p:nvPr/>
        </p:nvSpPr>
        <p:spPr>
          <a:xfrm>
            <a:off x="-882858" y="9818891"/>
            <a:ext cx="20053717" cy="0"/>
          </a:xfrm>
          <a:prstGeom prst="line">
            <a:avLst/>
          </a:prstGeom>
          <a:ln cap="flat" w="9525">
            <a:solidFill>
              <a:srgbClr val="151213"/>
            </a:solidFill>
            <a:prstDash val="solid"/>
            <a:headEnd type="none" len="sm" w="sm"/>
            <a:tailEnd type="none" len="sm" w="sm"/>
          </a:ln>
        </p:spPr>
      </p:sp>
      <p:sp>
        <p:nvSpPr>
          <p:cNvPr name="TextBox 8" id="8"/>
          <p:cNvSpPr txBox="true"/>
          <p:nvPr/>
        </p:nvSpPr>
        <p:spPr>
          <a:xfrm rot="0">
            <a:off x="472970" y="4053584"/>
            <a:ext cx="10650622" cy="4916682"/>
          </a:xfrm>
          <a:prstGeom prst="rect">
            <a:avLst/>
          </a:prstGeom>
        </p:spPr>
        <p:txBody>
          <a:bodyPr anchor="t" rtlCol="false" tIns="0" lIns="0" bIns="0" rIns="0">
            <a:spAutoFit/>
          </a:bodyPr>
          <a:lstStyle/>
          <a:p>
            <a:pPr algn="just">
              <a:lnSpc>
                <a:spcPts val="4279"/>
              </a:lnSpc>
            </a:pPr>
            <a:r>
              <a:rPr lang="en-US" sz="3890" spc="-213">
                <a:solidFill>
                  <a:srgbClr val="151213"/>
                </a:solidFill>
                <a:latin typeface="Public Sans"/>
                <a:ea typeface="Public Sans"/>
                <a:cs typeface="Public Sans"/>
                <a:sym typeface="Public Sans"/>
              </a:rPr>
              <a:t>The development of the 'Kitchen Magic' project adopts User-Centered Design (UCD) as its technical and methodological framework, ensuring that each functionality addresses the needs identified in its application environment. To guide the lifecycle in an organized manner, the project structure is divided into fundamental blocks ranging from establishing the project foundations to modeling interfaces based on real user interactions.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FEFEC"/>
        </a:solidFill>
      </p:bgPr>
    </p:bg>
    <p:spTree>
      <p:nvGrpSpPr>
        <p:cNvPr id="1" name=""/>
        <p:cNvGrpSpPr/>
        <p:nvPr/>
      </p:nvGrpSpPr>
      <p:grpSpPr>
        <a:xfrm>
          <a:off x="0" y="0"/>
          <a:ext cx="0" cy="0"/>
          <a:chOff x="0" y="0"/>
          <a:chExt cx="0" cy="0"/>
        </a:xfrm>
      </p:grpSpPr>
      <p:sp>
        <p:nvSpPr>
          <p:cNvPr name="AutoShape 2" id="2"/>
          <p:cNvSpPr/>
          <p:nvPr/>
        </p:nvSpPr>
        <p:spPr>
          <a:xfrm>
            <a:off x="-882858" y="492020"/>
            <a:ext cx="20053717" cy="0"/>
          </a:xfrm>
          <a:prstGeom prst="line">
            <a:avLst/>
          </a:prstGeom>
          <a:ln cap="flat" w="9525">
            <a:solidFill>
              <a:srgbClr val="151213"/>
            </a:solidFill>
            <a:prstDash val="solid"/>
            <a:headEnd type="none" len="sm" w="sm"/>
            <a:tailEnd type="none" len="sm" w="sm"/>
          </a:ln>
        </p:spPr>
      </p:sp>
      <p:sp>
        <p:nvSpPr>
          <p:cNvPr name="AutoShape 3" id="3"/>
          <p:cNvSpPr/>
          <p:nvPr/>
        </p:nvSpPr>
        <p:spPr>
          <a:xfrm>
            <a:off x="-882858" y="9818891"/>
            <a:ext cx="20053717" cy="0"/>
          </a:xfrm>
          <a:prstGeom prst="line">
            <a:avLst/>
          </a:prstGeom>
          <a:ln cap="flat" w="9525">
            <a:solidFill>
              <a:srgbClr val="151213"/>
            </a:solidFill>
            <a:prstDash val="solid"/>
            <a:headEnd type="none" len="sm" w="sm"/>
            <a:tailEnd type="none" len="sm" w="sm"/>
          </a:ln>
        </p:spPr>
      </p:sp>
      <p:sp>
        <p:nvSpPr>
          <p:cNvPr name="Freeform 4" id="4"/>
          <p:cNvSpPr/>
          <p:nvPr/>
        </p:nvSpPr>
        <p:spPr>
          <a:xfrm flipH="false" flipV="false" rot="0">
            <a:off x="7508893" y="2824131"/>
            <a:ext cx="9472253" cy="5428148"/>
          </a:xfrm>
          <a:custGeom>
            <a:avLst/>
            <a:gdLst/>
            <a:ahLst/>
            <a:cxnLst/>
            <a:rect r="r" b="b" t="t" l="l"/>
            <a:pathLst>
              <a:path h="5428148" w="9472253">
                <a:moveTo>
                  <a:pt x="0" y="0"/>
                </a:moveTo>
                <a:lnTo>
                  <a:pt x="9472253" y="0"/>
                </a:lnTo>
                <a:lnTo>
                  <a:pt x="9472253" y="5428147"/>
                </a:lnTo>
                <a:lnTo>
                  <a:pt x="0" y="5428147"/>
                </a:lnTo>
                <a:lnTo>
                  <a:pt x="0" y="0"/>
                </a:lnTo>
                <a:close/>
              </a:path>
            </a:pathLst>
          </a:custGeom>
          <a:blipFill>
            <a:blip r:embed="rId2"/>
            <a:stretch>
              <a:fillRect l="-2249" t="0" r="-2658" b="0"/>
            </a:stretch>
          </a:blipFill>
        </p:spPr>
      </p:sp>
      <p:sp>
        <p:nvSpPr>
          <p:cNvPr name="TextBox 5" id="5"/>
          <p:cNvSpPr txBox="true"/>
          <p:nvPr/>
        </p:nvSpPr>
        <p:spPr>
          <a:xfrm rot="0">
            <a:off x="472970" y="794529"/>
            <a:ext cx="16230600" cy="1721044"/>
          </a:xfrm>
          <a:prstGeom prst="rect">
            <a:avLst/>
          </a:prstGeom>
        </p:spPr>
        <p:txBody>
          <a:bodyPr anchor="t" rtlCol="false" tIns="0" lIns="0" bIns="0" rIns="0">
            <a:spAutoFit/>
          </a:bodyPr>
          <a:lstStyle/>
          <a:p>
            <a:pPr algn="l">
              <a:lnSpc>
                <a:spcPts val="6632"/>
              </a:lnSpc>
            </a:pPr>
            <a:r>
              <a:rPr lang="en-US" sz="6632" spc="-145">
                <a:solidFill>
                  <a:srgbClr val="151213"/>
                </a:solidFill>
                <a:latin typeface="Anton"/>
                <a:ea typeface="Anton"/>
                <a:cs typeface="Anton"/>
                <a:sym typeface="Anton"/>
              </a:rPr>
              <a:t>PHASE 1: UNDERSTANDING THE CONTEX OF USE AND DISCOVERY</a:t>
            </a:r>
          </a:p>
        </p:txBody>
      </p:sp>
      <p:sp>
        <p:nvSpPr>
          <p:cNvPr name="TextBox 6" id="6"/>
          <p:cNvSpPr txBox="true"/>
          <p:nvPr/>
        </p:nvSpPr>
        <p:spPr>
          <a:xfrm rot="0">
            <a:off x="472970" y="3341128"/>
            <a:ext cx="6855069" cy="3979422"/>
          </a:xfrm>
          <a:prstGeom prst="rect">
            <a:avLst/>
          </a:prstGeom>
        </p:spPr>
        <p:txBody>
          <a:bodyPr anchor="t" rtlCol="false" tIns="0" lIns="0" bIns="0" rIns="0">
            <a:spAutoFit/>
          </a:bodyPr>
          <a:lstStyle/>
          <a:p>
            <a:pPr algn="l" marL="775150" indent="-387575" lvl="1">
              <a:lnSpc>
                <a:spcPts val="3949"/>
              </a:lnSpc>
              <a:buFont typeface="Arial"/>
              <a:buChar char="•"/>
            </a:pPr>
            <a:r>
              <a:rPr lang="en-US" b="true" sz="3590" spc="-197">
                <a:solidFill>
                  <a:srgbClr val="151213"/>
                </a:solidFill>
                <a:latin typeface="Public Sans Bold"/>
                <a:ea typeface="Public Sans Bold"/>
                <a:cs typeface="Public Sans Bold"/>
                <a:sym typeface="Public Sans Bold"/>
              </a:rPr>
              <a:t>Field Research:</a:t>
            </a:r>
            <a:r>
              <a:rPr lang="en-US" sz="3590" spc="-197">
                <a:solidFill>
                  <a:srgbClr val="151213"/>
                </a:solidFill>
                <a:latin typeface="Public Sans"/>
                <a:ea typeface="Public Sans"/>
                <a:cs typeface="Public Sans"/>
                <a:sym typeface="Public Sans"/>
              </a:rPr>
              <a:t> We analyzed people's behavior when cooking and managing their pantry. We identified a common issue</a:t>
            </a:r>
          </a:p>
          <a:p>
            <a:pPr algn="l" marL="775150" indent="-387575" lvl="1">
              <a:lnSpc>
                <a:spcPts val="3949"/>
              </a:lnSpc>
              <a:buFont typeface="Arial"/>
              <a:buChar char="•"/>
            </a:pPr>
            <a:r>
              <a:rPr lang="en-US" b="true" sz="3590" spc="-197">
                <a:solidFill>
                  <a:srgbClr val="151213"/>
                </a:solidFill>
                <a:latin typeface="Public Sans Bold"/>
                <a:ea typeface="Public Sans Bold"/>
                <a:cs typeface="Public Sans Bold"/>
                <a:sym typeface="Public Sans Bold"/>
              </a:rPr>
              <a:t>The Critical Environment:</a:t>
            </a:r>
            <a:r>
              <a:rPr lang="en-US" sz="3590" spc="-197">
                <a:solidFill>
                  <a:srgbClr val="151213"/>
                </a:solidFill>
                <a:latin typeface="Public Sans"/>
                <a:ea typeface="Public Sans"/>
                <a:cs typeface="Public Sans"/>
                <a:sym typeface="Public Sans"/>
              </a:rPr>
              <a:t> We determined that the context (the kitchen) presents unique physical challenges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FEFEC"/>
        </a:solidFill>
      </p:bgPr>
    </p:bg>
    <p:spTree>
      <p:nvGrpSpPr>
        <p:cNvPr id="1" name=""/>
        <p:cNvGrpSpPr/>
        <p:nvPr/>
      </p:nvGrpSpPr>
      <p:grpSpPr>
        <a:xfrm>
          <a:off x="0" y="0"/>
          <a:ext cx="0" cy="0"/>
          <a:chOff x="0" y="0"/>
          <a:chExt cx="0" cy="0"/>
        </a:xfrm>
      </p:grpSpPr>
      <p:sp>
        <p:nvSpPr>
          <p:cNvPr name="AutoShape 2" id="2"/>
          <p:cNvSpPr/>
          <p:nvPr/>
        </p:nvSpPr>
        <p:spPr>
          <a:xfrm>
            <a:off x="-882858" y="492020"/>
            <a:ext cx="20053717" cy="0"/>
          </a:xfrm>
          <a:prstGeom prst="line">
            <a:avLst/>
          </a:prstGeom>
          <a:ln cap="flat" w="9525">
            <a:solidFill>
              <a:srgbClr val="151213"/>
            </a:solidFill>
            <a:prstDash val="solid"/>
            <a:headEnd type="none" len="sm" w="sm"/>
            <a:tailEnd type="none" len="sm" w="sm"/>
          </a:ln>
        </p:spPr>
      </p:sp>
      <p:sp>
        <p:nvSpPr>
          <p:cNvPr name="AutoShape 3" id="3"/>
          <p:cNvSpPr/>
          <p:nvPr/>
        </p:nvSpPr>
        <p:spPr>
          <a:xfrm>
            <a:off x="-882858" y="9818891"/>
            <a:ext cx="20053717" cy="0"/>
          </a:xfrm>
          <a:prstGeom prst="line">
            <a:avLst/>
          </a:prstGeom>
          <a:ln cap="flat" w="9525">
            <a:solidFill>
              <a:srgbClr val="151213"/>
            </a:solidFill>
            <a:prstDash val="solid"/>
            <a:headEnd type="none" len="sm" w="sm"/>
            <a:tailEnd type="none" len="sm" w="sm"/>
          </a:ln>
        </p:spPr>
      </p:sp>
      <p:sp>
        <p:nvSpPr>
          <p:cNvPr name="Freeform 4" id="4"/>
          <p:cNvSpPr/>
          <p:nvPr/>
        </p:nvSpPr>
        <p:spPr>
          <a:xfrm flipH="false" flipV="false" rot="0">
            <a:off x="6502686" y="2409293"/>
            <a:ext cx="11301259" cy="6173313"/>
          </a:xfrm>
          <a:custGeom>
            <a:avLst/>
            <a:gdLst/>
            <a:ahLst/>
            <a:cxnLst/>
            <a:rect r="r" b="b" t="t" l="l"/>
            <a:pathLst>
              <a:path h="6173313" w="11301259">
                <a:moveTo>
                  <a:pt x="0" y="0"/>
                </a:moveTo>
                <a:lnTo>
                  <a:pt x="11301259" y="0"/>
                </a:lnTo>
                <a:lnTo>
                  <a:pt x="11301259" y="6173313"/>
                </a:lnTo>
                <a:lnTo>
                  <a:pt x="0" y="6173313"/>
                </a:lnTo>
                <a:lnTo>
                  <a:pt x="0" y="0"/>
                </a:lnTo>
                <a:close/>
              </a:path>
            </a:pathLst>
          </a:custGeom>
          <a:blipFill>
            <a:blip r:embed="rId2"/>
            <a:stretch>
              <a:fillRect l="0" t="0" r="0" b="0"/>
            </a:stretch>
          </a:blipFill>
        </p:spPr>
      </p:sp>
      <p:sp>
        <p:nvSpPr>
          <p:cNvPr name="TextBox 5" id="5"/>
          <p:cNvSpPr txBox="true"/>
          <p:nvPr/>
        </p:nvSpPr>
        <p:spPr>
          <a:xfrm rot="0">
            <a:off x="472970" y="794529"/>
            <a:ext cx="16230600" cy="882844"/>
          </a:xfrm>
          <a:prstGeom prst="rect">
            <a:avLst/>
          </a:prstGeom>
        </p:spPr>
        <p:txBody>
          <a:bodyPr anchor="t" rtlCol="false" tIns="0" lIns="0" bIns="0" rIns="0">
            <a:spAutoFit/>
          </a:bodyPr>
          <a:lstStyle/>
          <a:p>
            <a:pPr algn="l">
              <a:lnSpc>
                <a:spcPts val="6632"/>
              </a:lnSpc>
            </a:pPr>
            <a:r>
              <a:rPr lang="en-US" sz="6632" spc="-145">
                <a:solidFill>
                  <a:srgbClr val="151213"/>
                </a:solidFill>
                <a:latin typeface="Anton"/>
                <a:ea typeface="Anton"/>
                <a:cs typeface="Anton"/>
                <a:sym typeface="Anton"/>
              </a:rPr>
              <a:t>PHASE 2: SPECIFYING USER REQUIREMENTS</a:t>
            </a:r>
          </a:p>
        </p:txBody>
      </p:sp>
      <p:sp>
        <p:nvSpPr>
          <p:cNvPr name="TextBox 6" id="6"/>
          <p:cNvSpPr txBox="true"/>
          <p:nvPr/>
        </p:nvSpPr>
        <p:spPr>
          <a:xfrm rot="0">
            <a:off x="472970" y="2642393"/>
            <a:ext cx="5852289" cy="6334041"/>
          </a:xfrm>
          <a:prstGeom prst="rect">
            <a:avLst/>
          </a:prstGeom>
        </p:spPr>
        <p:txBody>
          <a:bodyPr anchor="t" rtlCol="false" tIns="0" lIns="0" bIns="0" rIns="0">
            <a:spAutoFit/>
          </a:bodyPr>
          <a:lstStyle/>
          <a:p>
            <a:pPr algn="l" marL="759441" indent="-379721" lvl="1">
              <a:lnSpc>
                <a:spcPts val="3869"/>
              </a:lnSpc>
              <a:buFont typeface="Arial"/>
              <a:buChar char="•"/>
            </a:pPr>
            <a:r>
              <a:rPr lang="en-US" b="true" sz="3517" spc="-193">
                <a:solidFill>
                  <a:srgbClr val="151213"/>
                </a:solidFill>
                <a:latin typeface="Public Sans Bold"/>
                <a:ea typeface="Public Sans Bold"/>
                <a:cs typeface="Public Sans Bold"/>
                <a:sym typeface="Public Sans Bold"/>
              </a:rPr>
              <a:t>Definition of User Personas</a:t>
            </a:r>
            <a:r>
              <a:rPr lang="en-US" sz="3517" spc="-193">
                <a:solidFill>
                  <a:srgbClr val="151213"/>
                </a:solidFill>
                <a:latin typeface="Public Sans"/>
                <a:ea typeface="Public Sans"/>
                <a:cs typeface="Public Sans"/>
                <a:sym typeface="Public Sans"/>
              </a:rPr>
              <a:t>: We created three archetypal profiles to guide the team's decisions:</a:t>
            </a:r>
          </a:p>
          <a:p>
            <a:pPr algn="l" marL="1518883" indent="-506294" lvl="2">
              <a:lnSpc>
                <a:spcPts val="3869"/>
              </a:lnSpc>
              <a:buFont typeface="Arial"/>
              <a:buChar char="⚬"/>
            </a:pPr>
            <a:r>
              <a:rPr lang="en-US" sz="3517" spc="-193">
                <a:solidFill>
                  <a:srgbClr val="151213"/>
                </a:solidFill>
                <a:latin typeface="Public Sans"/>
                <a:ea typeface="Public Sans"/>
                <a:cs typeface="Public Sans"/>
                <a:sym typeface="Public Sans"/>
              </a:rPr>
              <a:t>The Independent Student</a:t>
            </a:r>
          </a:p>
          <a:p>
            <a:pPr algn="l" marL="1518883" indent="-506294" lvl="2">
              <a:lnSpc>
                <a:spcPts val="3869"/>
              </a:lnSpc>
              <a:buFont typeface="Arial"/>
              <a:buChar char="⚬"/>
            </a:pPr>
            <a:r>
              <a:rPr lang="en-US" sz="3517" spc="-193">
                <a:solidFill>
                  <a:srgbClr val="151213"/>
                </a:solidFill>
                <a:latin typeface="Public Sans"/>
                <a:ea typeface="Public Sans"/>
                <a:cs typeface="Public Sans"/>
                <a:sym typeface="Public Sans"/>
              </a:rPr>
              <a:t>The Caregiver//Parents</a:t>
            </a:r>
          </a:p>
          <a:p>
            <a:pPr algn="l" marL="1518883" indent="-506294" lvl="2">
              <a:lnSpc>
                <a:spcPts val="3869"/>
              </a:lnSpc>
              <a:buFont typeface="Arial"/>
              <a:buChar char="⚬"/>
            </a:pPr>
            <a:r>
              <a:rPr lang="en-US" sz="3517" spc="-193">
                <a:solidFill>
                  <a:srgbClr val="151213"/>
                </a:solidFill>
                <a:latin typeface="Public Sans"/>
                <a:ea typeface="Public Sans"/>
                <a:cs typeface="Public Sans"/>
                <a:sym typeface="Public Sans"/>
              </a:rPr>
              <a:t>The Kitchen Apprentice</a:t>
            </a:r>
          </a:p>
          <a:p>
            <a:pPr algn="l" marL="759441" indent="-379721" lvl="1">
              <a:lnSpc>
                <a:spcPts val="3869"/>
              </a:lnSpc>
              <a:buFont typeface="Arial"/>
              <a:buChar char="•"/>
            </a:pPr>
            <a:r>
              <a:rPr lang="en-US" b="true" sz="3517" spc="-193">
                <a:solidFill>
                  <a:srgbClr val="151213"/>
                </a:solidFill>
                <a:latin typeface="Public Sans Bold"/>
                <a:ea typeface="Public Sans Bold"/>
                <a:cs typeface="Public Sans Bold"/>
                <a:sym typeface="Public Sans Bold"/>
              </a:rPr>
              <a:t>Scenario Modeling</a:t>
            </a:r>
            <a:r>
              <a:rPr lang="en-US" sz="3517" spc="-193">
                <a:solidFill>
                  <a:srgbClr val="151213"/>
                </a:solidFill>
                <a:latin typeface="Public Sans"/>
                <a:ea typeface="Public Sans"/>
                <a:cs typeface="Public Sans"/>
                <a:sym typeface="Public Sans"/>
              </a:rPr>
              <a:t>: We developed user journey maps based on daily situations for these profiles</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EFEFEC"/>
        </a:solidFill>
      </p:bgPr>
    </p:bg>
    <p:spTree>
      <p:nvGrpSpPr>
        <p:cNvPr id="1" name=""/>
        <p:cNvGrpSpPr/>
        <p:nvPr/>
      </p:nvGrpSpPr>
      <p:grpSpPr>
        <a:xfrm>
          <a:off x="0" y="0"/>
          <a:ext cx="0" cy="0"/>
          <a:chOff x="0" y="0"/>
          <a:chExt cx="0" cy="0"/>
        </a:xfrm>
      </p:grpSpPr>
      <p:sp>
        <p:nvSpPr>
          <p:cNvPr name="TextBox 2" id="2"/>
          <p:cNvSpPr txBox="true"/>
          <p:nvPr/>
        </p:nvSpPr>
        <p:spPr>
          <a:xfrm rot="0">
            <a:off x="3166730" y="794529"/>
            <a:ext cx="16230600" cy="882844"/>
          </a:xfrm>
          <a:prstGeom prst="rect">
            <a:avLst/>
          </a:prstGeom>
        </p:spPr>
        <p:txBody>
          <a:bodyPr anchor="t" rtlCol="false" tIns="0" lIns="0" bIns="0" rIns="0">
            <a:spAutoFit/>
          </a:bodyPr>
          <a:lstStyle/>
          <a:p>
            <a:pPr algn="l">
              <a:lnSpc>
                <a:spcPts val="6632"/>
              </a:lnSpc>
            </a:pPr>
            <a:r>
              <a:rPr lang="en-US" sz="6632" spc="-145">
                <a:solidFill>
                  <a:srgbClr val="151213"/>
                </a:solidFill>
                <a:latin typeface="Anton"/>
                <a:ea typeface="Anton"/>
                <a:cs typeface="Anton"/>
                <a:sym typeface="Anton"/>
              </a:rPr>
              <a:t>PHASE 3: PRODUCE DESIGN SOLUTIONS</a:t>
            </a:r>
          </a:p>
        </p:txBody>
      </p:sp>
      <p:sp>
        <p:nvSpPr>
          <p:cNvPr name="TextBox 3" id="3"/>
          <p:cNvSpPr txBox="true"/>
          <p:nvPr/>
        </p:nvSpPr>
        <p:spPr>
          <a:xfrm rot="0">
            <a:off x="214035" y="2525387"/>
            <a:ext cx="17859930" cy="6020947"/>
          </a:xfrm>
          <a:prstGeom prst="rect">
            <a:avLst/>
          </a:prstGeom>
        </p:spPr>
        <p:txBody>
          <a:bodyPr anchor="t" rtlCol="false" tIns="0" lIns="0" bIns="0" rIns="0">
            <a:spAutoFit/>
          </a:bodyPr>
          <a:lstStyle/>
          <a:p>
            <a:pPr algn="l" marL="667202" indent="-333601" lvl="1">
              <a:lnSpc>
                <a:spcPts val="3399"/>
              </a:lnSpc>
              <a:buFont typeface="Arial"/>
              <a:buChar char="•"/>
            </a:pPr>
            <a:r>
              <a:rPr lang="en-US" b="true" sz="3090" spc="-169">
                <a:solidFill>
                  <a:srgbClr val="151213"/>
                </a:solidFill>
                <a:latin typeface="Public Sans Bold"/>
                <a:ea typeface="Public Sans Bold"/>
                <a:cs typeface="Public Sans Bold"/>
                <a:sym typeface="Public Sans Bold"/>
              </a:rPr>
              <a:t>Initial Stage: </a:t>
            </a:r>
            <a:r>
              <a:rPr lang="en-US" sz="3090" spc="-169">
                <a:solidFill>
                  <a:srgbClr val="151213"/>
                </a:solidFill>
                <a:latin typeface="Public Sans"/>
                <a:ea typeface="Public Sans"/>
                <a:cs typeface="Public Sans"/>
                <a:sym typeface="Public Sans"/>
              </a:rPr>
              <a:t>First, a preliminary site map and structural information architecture were designed using a tactile approach.</a:t>
            </a:r>
          </a:p>
          <a:p>
            <a:pPr algn="l">
              <a:lnSpc>
                <a:spcPts val="3399"/>
              </a:lnSpc>
            </a:pPr>
          </a:p>
          <a:p>
            <a:pPr algn="l" marL="667202" indent="-333601" lvl="1">
              <a:lnSpc>
                <a:spcPts val="3399"/>
              </a:lnSpc>
              <a:buFont typeface="Arial"/>
              <a:buChar char="•"/>
            </a:pPr>
            <a:r>
              <a:rPr lang="en-US" b="true" sz="3090" spc="-169">
                <a:solidFill>
                  <a:srgbClr val="151213"/>
                </a:solidFill>
                <a:latin typeface="Public Sans Bold"/>
                <a:ea typeface="Public Sans Bold"/>
                <a:cs typeface="Public Sans Bold"/>
                <a:sym typeface="Public Sans Bold"/>
              </a:rPr>
              <a:t>Critical Adjustments: </a:t>
            </a:r>
            <a:r>
              <a:rPr lang="en-US" sz="3090" spc="-169">
                <a:solidFill>
                  <a:srgbClr val="151213"/>
                </a:solidFill>
                <a:latin typeface="Public Sans"/>
                <a:ea typeface="Public Sans"/>
                <a:cs typeface="Public Sans"/>
                <a:sym typeface="Public Sans"/>
              </a:rPr>
              <a:t>Based on these initial visual iterations, critical adjustments were implemented.</a:t>
            </a:r>
          </a:p>
          <a:p>
            <a:pPr algn="l">
              <a:lnSpc>
                <a:spcPts val="3399"/>
              </a:lnSpc>
            </a:pPr>
          </a:p>
          <a:p>
            <a:pPr algn="l" marL="667202" indent="-333601" lvl="1">
              <a:lnSpc>
                <a:spcPts val="3399"/>
              </a:lnSpc>
              <a:buFont typeface="Arial"/>
              <a:buChar char="•"/>
            </a:pPr>
            <a:r>
              <a:rPr lang="en-US" b="true" sz="3090" spc="-169">
                <a:solidFill>
                  <a:srgbClr val="151213"/>
                </a:solidFill>
                <a:latin typeface="Public Sans Bold"/>
                <a:ea typeface="Public Sans Bold"/>
                <a:cs typeface="Public Sans Bold"/>
                <a:sym typeface="Public Sans Bold"/>
              </a:rPr>
              <a:t>Typography: </a:t>
            </a:r>
            <a:r>
              <a:rPr lang="en-US" sz="3090" spc="-169">
                <a:solidFill>
                  <a:srgbClr val="151213"/>
                </a:solidFill>
                <a:latin typeface="Public Sans"/>
                <a:ea typeface="Public Sans"/>
                <a:cs typeface="Public Sans"/>
                <a:sym typeface="Public Sans"/>
              </a:rPr>
              <a:t>High-readability fonts were selected to counteract challenges like variable lighting.</a:t>
            </a:r>
          </a:p>
          <a:p>
            <a:pPr algn="l">
              <a:lnSpc>
                <a:spcPts val="3399"/>
              </a:lnSpc>
            </a:pPr>
          </a:p>
          <a:p>
            <a:pPr algn="l" marL="667202" indent="-333601" lvl="1">
              <a:lnSpc>
                <a:spcPts val="3399"/>
              </a:lnSpc>
              <a:buFont typeface="Arial"/>
              <a:buChar char="•"/>
            </a:pPr>
            <a:r>
              <a:rPr lang="en-US" b="true" sz="3090" spc="-169">
                <a:solidFill>
                  <a:srgbClr val="151213"/>
                </a:solidFill>
                <a:latin typeface="Public Sans Bold"/>
                <a:ea typeface="Public Sans Bold"/>
                <a:cs typeface="Public Sans Bold"/>
                <a:sym typeface="Public Sans Bold"/>
              </a:rPr>
              <a:t>Ergonomics &amp; Layout: </a:t>
            </a:r>
            <a:r>
              <a:rPr lang="en-US" sz="3090" spc="-169">
                <a:solidFill>
                  <a:srgbClr val="151213"/>
                </a:solidFill>
                <a:latin typeface="Public Sans"/>
                <a:ea typeface="Public Sans"/>
                <a:cs typeface="Public Sans"/>
                <a:sym typeface="Public Sans"/>
              </a:rPr>
              <a:t>Titles and menus were relocated to lower action zones for single-handed operation.</a:t>
            </a:r>
          </a:p>
          <a:p>
            <a:pPr algn="l">
              <a:lnSpc>
                <a:spcPts val="3399"/>
              </a:lnSpc>
            </a:pPr>
          </a:p>
          <a:p>
            <a:pPr algn="l" marL="667202" indent="-333601" lvl="1">
              <a:lnSpc>
                <a:spcPts val="3399"/>
              </a:lnSpc>
              <a:buFont typeface="Arial"/>
              <a:buChar char="•"/>
            </a:pPr>
            <a:r>
              <a:rPr lang="en-US" b="true" sz="3090" spc="-169">
                <a:solidFill>
                  <a:srgbClr val="151213"/>
                </a:solidFill>
                <a:latin typeface="Public Sans Bold"/>
                <a:ea typeface="Public Sans Bold"/>
                <a:cs typeface="Public Sans Bold"/>
                <a:sym typeface="Public Sans Bold"/>
              </a:rPr>
              <a:t>Voice Assistant: </a:t>
            </a:r>
            <a:r>
              <a:rPr lang="en-US" sz="3090" spc="-169">
                <a:solidFill>
                  <a:srgbClr val="151213"/>
                </a:solidFill>
                <a:latin typeface="Public Sans"/>
                <a:ea typeface="Public Sans"/>
                <a:cs typeface="Public Sans"/>
                <a:sym typeface="Public Sans"/>
              </a:rPr>
              <a:t>The size and brightness of the voice assistant indicators were maximized.</a:t>
            </a:r>
          </a:p>
          <a:p>
            <a:pPr algn="l">
              <a:lnSpc>
                <a:spcPts val="3399"/>
              </a:lnSpc>
            </a:pPr>
          </a:p>
          <a:p>
            <a:pPr algn="l" marL="667202" indent="-333601" lvl="1">
              <a:lnSpc>
                <a:spcPts val="3399"/>
              </a:lnSpc>
              <a:buFont typeface="Arial"/>
              <a:buChar char="•"/>
            </a:pPr>
            <a:r>
              <a:rPr lang="en-US" b="true" sz="3090" spc="-169">
                <a:solidFill>
                  <a:srgbClr val="151213"/>
                </a:solidFill>
                <a:latin typeface="Public Sans Bold"/>
                <a:ea typeface="Public Sans Bold"/>
                <a:cs typeface="Public Sans Bold"/>
                <a:sym typeface="Public Sans Bold"/>
              </a:rPr>
              <a:t>Final Consolidation: </a:t>
            </a:r>
            <a:r>
              <a:rPr lang="en-US" sz="3090" spc="-169">
                <a:solidFill>
                  <a:srgbClr val="151213"/>
                </a:solidFill>
                <a:latin typeface="Public Sans"/>
                <a:ea typeface="Public Sans"/>
                <a:cs typeface="Public Sans"/>
                <a:sym typeface="Public Sans"/>
              </a:rPr>
              <a:t>Finally, the definitive interface was consolidated by integrating empirical testing, justifying the final design changes based on the evidence collected.</a:t>
            </a:r>
          </a:p>
          <a:p>
            <a:pPr algn="l">
              <a:lnSpc>
                <a:spcPts val="3399"/>
              </a:lnSpc>
            </a:pPr>
          </a:p>
        </p:txBody>
      </p:sp>
      <p:sp>
        <p:nvSpPr>
          <p:cNvPr name="AutoShape 4" id="4"/>
          <p:cNvSpPr/>
          <p:nvPr/>
        </p:nvSpPr>
        <p:spPr>
          <a:xfrm>
            <a:off x="-882858" y="492020"/>
            <a:ext cx="20053717" cy="0"/>
          </a:xfrm>
          <a:prstGeom prst="line">
            <a:avLst/>
          </a:prstGeom>
          <a:ln cap="flat" w="9525">
            <a:solidFill>
              <a:srgbClr val="151213"/>
            </a:solidFill>
            <a:prstDash val="solid"/>
            <a:headEnd type="none" len="sm" w="sm"/>
            <a:tailEnd type="none" len="sm" w="sm"/>
          </a:ln>
        </p:spPr>
      </p:sp>
      <p:sp>
        <p:nvSpPr>
          <p:cNvPr name="AutoShape 5" id="5"/>
          <p:cNvSpPr/>
          <p:nvPr/>
        </p:nvSpPr>
        <p:spPr>
          <a:xfrm>
            <a:off x="-882858" y="10053131"/>
            <a:ext cx="20053717" cy="0"/>
          </a:xfrm>
          <a:prstGeom prst="line">
            <a:avLst/>
          </a:prstGeom>
          <a:ln cap="flat" w="9525">
            <a:solidFill>
              <a:srgbClr val="151213"/>
            </a:solidFill>
            <a:prstDash val="solid"/>
            <a:headEnd type="none" len="sm" w="sm"/>
            <a:tailEnd type="none" len="sm" w="sm"/>
          </a:ln>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FEFEC"/>
        </a:solidFill>
      </p:bgPr>
    </p:bg>
    <p:spTree>
      <p:nvGrpSpPr>
        <p:cNvPr id="1" name=""/>
        <p:cNvGrpSpPr/>
        <p:nvPr/>
      </p:nvGrpSpPr>
      <p:grpSpPr>
        <a:xfrm>
          <a:off x="0" y="0"/>
          <a:ext cx="0" cy="0"/>
          <a:chOff x="0" y="0"/>
          <a:chExt cx="0" cy="0"/>
        </a:xfrm>
      </p:grpSpPr>
      <p:sp>
        <p:nvSpPr>
          <p:cNvPr name="AutoShape 2" id="2"/>
          <p:cNvSpPr/>
          <p:nvPr/>
        </p:nvSpPr>
        <p:spPr>
          <a:xfrm>
            <a:off x="-882858" y="492020"/>
            <a:ext cx="20053717" cy="0"/>
          </a:xfrm>
          <a:prstGeom prst="line">
            <a:avLst/>
          </a:prstGeom>
          <a:ln cap="flat" w="9525">
            <a:solidFill>
              <a:srgbClr val="151213"/>
            </a:solidFill>
            <a:prstDash val="solid"/>
            <a:headEnd type="none" len="sm" w="sm"/>
            <a:tailEnd type="none" len="sm" w="sm"/>
          </a:ln>
        </p:spPr>
      </p:sp>
      <p:sp>
        <p:nvSpPr>
          <p:cNvPr name="AutoShape 3" id="3"/>
          <p:cNvSpPr/>
          <p:nvPr/>
        </p:nvSpPr>
        <p:spPr>
          <a:xfrm>
            <a:off x="-882858" y="9818891"/>
            <a:ext cx="20053717" cy="0"/>
          </a:xfrm>
          <a:prstGeom prst="line">
            <a:avLst/>
          </a:prstGeom>
          <a:ln cap="flat" w="9525">
            <a:solidFill>
              <a:srgbClr val="151213"/>
            </a:solidFill>
            <a:prstDash val="solid"/>
            <a:headEnd type="none" len="sm" w="sm"/>
            <a:tailEnd type="none" len="sm" w="sm"/>
          </a:ln>
        </p:spPr>
      </p:sp>
      <p:sp>
        <p:nvSpPr>
          <p:cNvPr name="Freeform 4" id="4"/>
          <p:cNvSpPr/>
          <p:nvPr/>
        </p:nvSpPr>
        <p:spPr>
          <a:xfrm flipH="false" flipV="false" rot="0">
            <a:off x="10660764" y="2071997"/>
            <a:ext cx="5982385" cy="3114096"/>
          </a:xfrm>
          <a:custGeom>
            <a:avLst/>
            <a:gdLst/>
            <a:ahLst/>
            <a:cxnLst/>
            <a:rect r="r" b="b" t="t" l="l"/>
            <a:pathLst>
              <a:path h="3114096" w="5982385">
                <a:moveTo>
                  <a:pt x="0" y="0"/>
                </a:moveTo>
                <a:lnTo>
                  <a:pt x="5982385" y="0"/>
                </a:lnTo>
                <a:lnTo>
                  <a:pt x="5982385" y="3114097"/>
                </a:lnTo>
                <a:lnTo>
                  <a:pt x="0" y="3114097"/>
                </a:lnTo>
                <a:lnTo>
                  <a:pt x="0" y="0"/>
                </a:lnTo>
                <a:close/>
              </a:path>
            </a:pathLst>
          </a:custGeom>
          <a:blipFill>
            <a:blip r:embed="rId2"/>
            <a:stretch>
              <a:fillRect l="0" t="0" r="-10299" b="-62836"/>
            </a:stretch>
          </a:blipFill>
        </p:spPr>
      </p:sp>
      <p:sp>
        <p:nvSpPr>
          <p:cNvPr name="TextBox 5" id="5"/>
          <p:cNvSpPr txBox="true"/>
          <p:nvPr/>
        </p:nvSpPr>
        <p:spPr>
          <a:xfrm rot="0">
            <a:off x="472970" y="794529"/>
            <a:ext cx="16230600" cy="882844"/>
          </a:xfrm>
          <a:prstGeom prst="rect">
            <a:avLst/>
          </a:prstGeom>
        </p:spPr>
        <p:txBody>
          <a:bodyPr anchor="t" rtlCol="false" tIns="0" lIns="0" bIns="0" rIns="0">
            <a:spAutoFit/>
          </a:bodyPr>
          <a:lstStyle/>
          <a:p>
            <a:pPr algn="l">
              <a:lnSpc>
                <a:spcPts val="6632"/>
              </a:lnSpc>
            </a:pPr>
            <a:r>
              <a:rPr lang="en-US" sz="6632" spc="-145">
                <a:solidFill>
                  <a:srgbClr val="151213"/>
                </a:solidFill>
                <a:latin typeface="Anton"/>
                <a:ea typeface="Anton"/>
                <a:cs typeface="Anton"/>
                <a:sym typeface="Anton"/>
              </a:rPr>
              <a:t>PHASE 4: DESING EVALUATIONS AND VALIDATION</a:t>
            </a:r>
          </a:p>
        </p:txBody>
      </p:sp>
      <p:sp>
        <p:nvSpPr>
          <p:cNvPr name="TextBox 6" id="6"/>
          <p:cNvSpPr txBox="true"/>
          <p:nvPr/>
        </p:nvSpPr>
        <p:spPr>
          <a:xfrm rot="0">
            <a:off x="472970" y="2463709"/>
            <a:ext cx="7862675" cy="4458007"/>
          </a:xfrm>
          <a:prstGeom prst="rect">
            <a:avLst/>
          </a:prstGeom>
        </p:spPr>
        <p:txBody>
          <a:bodyPr anchor="t" rtlCol="false" tIns="0" lIns="0" bIns="0" rIns="0">
            <a:spAutoFit/>
          </a:bodyPr>
          <a:lstStyle/>
          <a:p>
            <a:pPr algn="l" marL="694273" indent="-347136" lvl="1">
              <a:lnSpc>
                <a:spcPts val="3537"/>
              </a:lnSpc>
              <a:buFont typeface="Arial"/>
              <a:buChar char="•"/>
            </a:pPr>
            <a:r>
              <a:rPr lang="en-US" b="true" sz="3215" spc="-176">
                <a:solidFill>
                  <a:srgbClr val="151213"/>
                </a:solidFill>
                <a:latin typeface="Public Sans Bold"/>
                <a:ea typeface="Public Sans Bold"/>
                <a:cs typeface="Public Sans Bold"/>
                <a:sym typeface="Public Sans Bold"/>
              </a:rPr>
              <a:t>Analytical Evaluation (KLM and CogTool):</a:t>
            </a:r>
            <a:r>
              <a:rPr lang="en-US" sz="3215" spc="-176">
                <a:solidFill>
                  <a:srgbClr val="151213"/>
                </a:solidFill>
                <a:latin typeface="Public Sans"/>
                <a:ea typeface="Public Sans"/>
                <a:cs typeface="Public Sans"/>
                <a:sym typeface="Public Sans"/>
              </a:rPr>
              <a:t> We selected the system's most critical task and broke down every click and user movement into KLM mathematical operators.</a:t>
            </a:r>
          </a:p>
          <a:p>
            <a:pPr algn="l" marL="694273" indent="-347136" lvl="1">
              <a:lnSpc>
                <a:spcPts val="3537"/>
              </a:lnSpc>
              <a:buFont typeface="Arial"/>
              <a:buChar char="•"/>
            </a:pPr>
            <a:r>
              <a:rPr lang="en-US" b="true" sz="3215" spc="-176">
                <a:solidFill>
                  <a:srgbClr val="151213"/>
                </a:solidFill>
                <a:latin typeface="Public Sans Bold"/>
                <a:ea typeface="Public Sans Bold"/>
                <a:cs typeface="Public Sans Bold"/>
                <a:sym typeface="Public Sans Bold"/>
              </a:rPr>
              <a:t>Simulated Usability Testing:</a:t>
            </a:r>
            <a:r>
              <a:rPr lang="en-US" sz="3215" spc="-176">
                <a:solidFill>
                  <a:srgbClr val="151213"/>
                </a:solidFill>
                <a:latin typeface="Public Sans"/>
                <a:ea typeface="Public Sans"/>
                <a:cs typeface="Public Sans"/>
                <a:sym typeface="Public Sans"/>
              </a:rPr>
              <a:t> We designed a complete experimental protocol with checklists and carried out a simulation practice by filling out standardized usability questionnaires.</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151213"/>
        </a:solidFill>
      </p:bgPr>
    </p:bg>
    <p:spTree>
      <p:nvGrpSpPr>
        <p:cNvPr id="1" name=""/>
        <p:cNvGrpSpPr/>
        <p:nvPr/>
      </p:nvGrpSpPr>
      <p:grpSpPr>
        <a:xfrm>
          <a:off x="0" y="0"/>
          <a:ext cx="0" cy="0"/>
          <a:chOff x="0" y="0"/>
          <a:chExt cx="0" cy="0"/>
        </a:xfrm>
      </p:grpSpPr>
      <p:sp>
        <p:nvSpPr>
          <p:cNvPr name="TextBox 2" id="2"/>
          <p:cNvSpPr txBox="true"/>
          <p:nvPr/>
        </p:nvSpPr>
        <p:spPr>
          <a:xfrm rot="0">
            <a:off x="610166" y="1520824"/>
            <a:ext cx="16313948" cy="5203826"/>
          </a:xfrm>
          <a:prstGeom prst="rect">
            <a:avLst/>
          </a:prstGeom>
        </p:spPr>
        <p:txBody>
          <a:bodyPr anchor="t" rtlCol="false" tIns="0" lIns="0" bIns="0" rIns="0">
            <a:spAutoFit/>
          </a:bodyPr>
          <a:lstStyle/>
          <a:p>
            <a:pPr algn="l">
              <a:lnSpc>
                <a:spcPts val="20000"/>
              </a:lnSpc>
            </a:pPr>
            <a:r>
              <a:rPr lang="en-US" sz="20000" spc="-440">
                <a:solidFill>
                  <a:srgbClr val="EFEFEC"/>
                </a:solidFill>
                <a:latin typeface="Anton"/>
                <a:ea typeface="Anton"/>
                <a:cs typeface="Anton"/>
                <a:sym typeface="Anton"/>
              </a:rPr>
              <a:t>IMPLEMENTATION PHASES</a:t>
            </a:r>
          </a:p>
        </p:txBody>
      </p:sp>
      <p:sp>
        <p:nvSpPr>
          <p:cNvPr name="AutoShape 3" id="3"/>
          <p:cNvSpPr/>
          <p:nvPr/>
        </p:nvSpPr>
        <p:spPr>
          <a:xfrm>
            <a:off x="-882858" y="492020"/>
            <a:ext cx="20053717" cy="0"/>
          </a:xfrm>
          <a:prstGeom prst="line">
            <a:avLst/>
          </a:prstGeom>
          <a:ln cap="flat" w="9525">
            <a:solidFill>
              <a:srgbClr val="E4E1DD"/>
            </a:solidFill>
            <a:prstDash val="solid"/>
            <a:headEnd type="none" len="sm" w="sm"/>
            <a:tailEnd type="none" len="sm" w="sm"/>
          </a:ln>
        </p:spPr>
      </p:sp>
      <p:sp>
        <p:nvSpPr>
          <p:cNvPr name="AutoShape 4" id="4"/>
          <p:cNvSpPr/>
          <p:nvPr/>
        </p:nvSpPr>
        <p:spPr>
          <a:xfrm>
            <a:off x="-882858" y="9818891"/>
            <a:ext cx="20053717" cy="0"/>
          </a:xfrm>
          <a:prstGeom prst="line">
            <a:avLst/>
          </a:prstGeom>
          <a:ln cap="flat" w="9525">
            <a:solidFill>
              <a:srgbClr val="E4E1DD"/>
            </a:solidFill>
            <a:prstDash val="solid"/>
            <a:headEnd type="none" len="sm" w="sm"/>
            <a:tailEnd type="none" len="sm" w="sm"/>
          </a:ln>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FEFEC"/>
        </a:solidFill>
      </p:bgPr>
    </p:bg>
    <p:spTree>
      <p:nvGrpSpPr>
        <p:cNvPr id="1" name=""/>
        <p:cNvGrpSpPr/>
        <p:nvPr/>
      </p:nvGrpSpPr>
      <p:grpSpPr>
        <a:xfrm>
          <a:off x="0" y="0"/>
          <a:ext cx="0" cy="0"/>
          <a:chOff x="0" y="0"/>
          <a:chExt cx="0" cy="0"/>
        </a:xfrm>
      </p:grpSpPr>
      <p:sp>
        <p:nvSpPr>
          <p:cNvPr name="AutoShape 2" id="2"/>
          <p:cNvSpPr/>
          <p:nvPr/>
        </p:nvSpPr>
        <p:spPr>
          <a:xfrm>
            <a:off x="-882858" y="492020"/>
            <a:ext cx="20053717" cy="0"/>
          </a:xfrm>
          <a:prstGeom prst="line">
            <a:avLst/>
          </a:prstGeom>
          <a:ln cap="flat" w="9525">
            <a:solidFill>
              <a:srgbClr val="151213"/>
            </a:solidFill>
            <a:prstDash val="solid"/>
            <a:headEnd type="none" len="sm" w="sm"/>
            <a:tailEnd type="none" len="sm" w="sm"/>
          </a:ln>
        </p:spPr>
      </p:sp>
      <p:sp>
        <p:nvSpPr>
          <p:cNvPr name="AutoShape 3" id="3"/>
          <p:cNvSpPr/>
          <p:nvPr/>
        </p:nvSpPr>
        <p:spPr>
          <a:xfrm>
            <a:off x="-882858" y="9818891"/>
            <a:ext cx="20053717" cy="0"/>
          </a:xfrm>
          <a:prstGeom prst="line">
            <a:avLst/>
          </a:prstGeom>
          <a:ln cap="flat" w="9525">
            <a:solidFill>
              <a:srgbClr val="151213"/>
            </a:solidFill>
            <a:prstDash val="solid"/>
            <a:headEnd type="none" len="sm" w="sm"/>
            <a:tailEnd type="none" len="sm" w="sm"/>
          </a:ln>
        </p:spPr>
      </p:sp>
      <p:sp>
        <p:nvSpPr>
          <p:cNvPr name="Freeform 4" id="4"/>
          <p:cNvSpPr/>
          <p:nvPr/>
        </p:nvSpPr>
        <p:spPr>
          <a:xfrm flipH="false" flipV="false" rot="0">
            <a:off x="9144000" y="2834737"/>
            <a:ext cx="8496912" cy="4641438"/>
          </a:xfrm>
          <a:custGeom>
            <a:avLst/>
            <a:gdLst/>
            <a:ahLst/>
            <a:cxnLst/>
            <a:rect r="r" b="b" t="t" l="l"/>
            <a:pathLst>
              <a:path h="4641438" w="8496912">
                <a:moveTo>
                  <a:pt x="0" y="0"/>
                </a:moveTo>
                <a:lnTo>
                  <a:pt x="8496912" y="0"/>
                </a:lnTo>
                <a:lnTo>
                  <a:pt x="8496912" y="4641438"/>
                </a:lnTo>
                <a:lnTo>
                  <a:pt x="0" y="4641438"/>
                </a:lnTo>
                <a:lnTo>
                  <a:pt x="0" y="0"/>
                </a:lnTo>
                <a:close/>
              </a:path>
            </a:pathLst>
          </a:custGeom>
          <a:blipFill>
            <a:blip r:embed="rId2"/>
            <a:stretch>
              <a:fillRect l="0" t="0" r="0" b="0"/>
            </a:stretch>
          </a:blipFill>
        </p:spPr>
      </p:sp>
      <p:sp>
        <p:nvSpPr>
          <p:cNvPr name="TextBox 5" id="5"/>
          <p:cNvSpPr txBox="true"/>
          <p:nvPr/>
        </p:nvSpPr>
        <p:spPr>
          <a:xfrm rot="0">
            <a:off x="671223" y="1152525"/>
            <a:ext cx="16230600" cy="882844"/>
          </a:xfrm>
          <a:prstGeom prst="rect">
            <a:avLst/>
          </a:prstGeom>
        </p:spPr>
        <p:txBody>
          <a:bodyPr anchor="t" rtlCol="false" tIns="0" lIns="0" bIns="0" rIns="0">
            <a:spAutoFit/>
          </a:bodyPr>
          <a:lstStyle/>
          <a:p>
            <a:pPr algn="l">
              <a:lnSpc>
                <a:spcPts val="6632"/>
              </a:lnSpc>
            </a:pPr>
            <a:r>
              <a:rPr lang="en-US" sz="6632" spc="-145">
                <a:solidFill>
                  <a:srgbClr val="151213"/>
                </a:solidFill>
                <a:latin typeface="Anton"/>
                <a:ea typeface="Anton"/>
                <a:cs typeface="Anton"/>
                <a:sym typeface="Anton"/>
              </a:rPr>
              <a:t>STAGES 1 &amp; 2</a:t>
            </a:r>
          </a:p>
        </p:txBody>
      </p:sp>
      <p:sp>
        <p:nvSpPr>
          <p:cNvPr name="TextBox 6" id="6"/>
          <p:cNvSpPr txBox="true"/>
          <p:nvPr/>
        </p:nvSpPr>
        <p:spPr>
          <a:xfrm rot="0">
            <a:off x="671223" y="2587819"/>
            <a:ext cx="7862675" cy="6736915"/>
          </a:xfrm>
          <a:prstGeom prst="rect">
            <a:avLst/>
          </a:prstGeom>
        </p:spPr>
        <p:txBody>
          <a:bodyPr anchor="t" rtlCol="false" tIns="0" lIns="0" bIns="0" rIns="0">
            <a:spAutoFit/>
          </a:bodyPr>
          <a:lstStyle/>
          <a:p>
            <a:pPr algn="just">
              <a:lnSpc>
                <a:spcPts val="3537"/>
              </a:lnSpc>
            </a:pPr>
            <a:r>
              <a:rPr lang="en-US" sz="3215" spc="-176">
                <a:solidFill>
                  <a:srgbClr val="151213"/>
                </a:solidFill>
                <a:latin typeface="Public Sans"/>
                <a:ea typeface="Public Sans"/>
                <a:cs typeface="Public Sans"/>
                <a:sym typeface="Public Sans"/>
              </a:rPr>
              <a:t>Stages 1 and 2: Understanding the Context and User ModelingProcess: Field research and ethnographic analysis in real kitchens. </a:t>
            </a:r>
          </a:p>
          <a:p>
            <a:pPr algn="just">
              <a:lnSpc>
                <a:spcPts val="3537"/>
              </a:lnSpc>
            </a:pPr>
          </a:p>
          <a:p>
            <a:pPr algn="l" marL="694273" indent="-347136" lvl="1">
              <a:lnSpc>
                <a:spcPts val="3537"/>
              </a:lnSpc>
              <a:buFont typeface="Arial"/>
              <a:buChar char="•"/>
            </a:pPr>
            <a:r>
              <a:rPr lang="en-US" b="true" sz="3215" spc="-176">
                <a:solidFill>
                  <a:srgbClr val="151213"/>
                </a:solidFill>
                <a:latin typeface="Public Sans Bold"/>
                <a:ea typeface="Public Sans Bold"/>
                <a:cs typeface="Public Sans Bold"/>
                <a:sym typeface="Public Sans Bold"/>
              </a:rPr>
              <a:t>Deliverables</a:t>
            </a:r>
            <a:r>
              <a:rPr lang="en-US" sz="3215" spc="-176">
                <a:solidFill>
                  <a:srgbClr val="151213"/>
                </a:solidFill>
                <a:latin typeface="Public Sans"/>
                <a:ea typeface="Public Sans"/>
                <a:cs typeface="Public Sans"/>
                <a:sym typeface="Public Sans"/>
              </a:rPr>
              <a:t>: Creation of user personas and definition of system requirements.</a:t>
            </a:r>
          </a:p>
          <a:p>
            <a:pPr algn="l" marL="694273" indent="-347136" lvl="1">
              <a:lnSpc>
                <a:spcPts val="3537"/>
              </a:lnSpc>
              <a:buFont typeface="Arial"/>
              <a:buChar char="•"/>
            </a:pPr>
            <a:r>
              <a:rPr lang="en-US" b="true" sz="3215" spc="-176">
                <a:solidFill>
                  <a:srgbClr val="151213"/>
                </a:solidFill>
                <a:latin typeface="Public Sans Bold"/>
                <a:ea typeface="Public Sans Bold"/>
                <a:cs typeface="Public Sans Bold"/>
                <a:sym typeface="Public Sans Bold"/>
              </a:rPr>
              <a:t>Results</a:t>
            </a:r>
            <a:r>
              <a:rPr lang="en-US" sz="3215" spc="-176">
                <a:solidFill>
                  <a:srgbClr val="151213"/>
                </a:solidFill>
                <a:latin typeface="Public Sans"/>
                <a:ea typeface="Public Sans"/>
                <a:cs typeface="Public Sans"/>
                <a:sym typeface="Public Sans"/>
              </a:rPr>
              <a:t>: Identification of key problems (busy hands, poor visibility, noise) and selection of a multimodal solution (Voice + Touch). </a:t>
            </a:r>
          </a:p>
          <a:p>
            <a:pPr algn="l" marL="694273" indent="-347136" lvl="1">
              <a:lnSpc>
                <a:spcPts val="3537"/>
              </a:lnSpc>
              <a:buFont typeface="Arial"/>
              <a:buChar char="•"/>
            </a:pPr>
            <a:r>
              <a:rPr lang="en-US" b="true" sz="3215" spc="-176">
                <a:solidFill>
                  <a:srgbClr val="151213"/>
                </a:solidFill>
                <a:latin typeface="Public Sans Bold"/>
                <a:ea typeface="Public Sans Bold"/>
                <a:cs typeface="Public Sans Bold"/>
                <a:sym typeface="Public Sans Bold"/>
              </a:rPr>
              <a:t>Transition</a:t>
            </a:r>
            <a:r>
              <a:rPr lang="en-US" sz="3215" spc="-176">
                <a:solidFill>
                  <a:srgbClr val="151213"/>
                </a:solidFill>
                <a:latin typeface="Public Sans"/>
                <a:ea typeface="Public Sans"/>
                <a:cs typeface="Public Sans"/>
                <a:sym typeface="Public Sans"/>
              </a:rPr>
              <a:t>: The identified problems and user profiles served as the direct basis for beginning to sketch the first wireframes in the next stage.</a:t>
            </a:r>
          </a:p>
          <a:p>
            <a:pPr algn="just">
              <a:lnSpc>
                <a:spcPts val="3537"/>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FEFEC"/>
        </a:solidFill>
      </p:bgPr>
    </p:bg>
    <p:spTree>
      <p:nvGrpSpPr>
        <p:cNvPr id="1" name=""/>
        <p:cNvGrpSpPr/>
        <p:nvPr/>
      </p:nvGrpSpPr>
      <p:grpSpPr>
        <a:xfrm>
          <a:off x="0" y="0"/>
          <a:ext cx="0" cy="0"/>
          <a:chOff x="0" y="0"/>
          <a:chExt cx="0" cy="0"/>
        </a:xfrm>
      </p:grpSpPr>
      <p:sp>
        <p:nvSpPr>
          <p:cNvPr name="AutoShape 2" id="2"/>
          <p:cNvSpPr/>
          <p:nvPr/>
        </p:nvSpPr>
        <p:spPr>
          <a:xfrm>
            <a:off x="-882858" y="492020"/>
            <a:ext cx="20053717" cy="0"/>
          </a:xfrm>
          <a:prstGeom prst="line">
            <a:avLst/>
          </a:prstGeom>
          <a:ln cap="flat" w="9525">
            <a:solidFill>
              <a:srgbClr val="151213"/>
            </a:solidFill>
            <a:prstDash val="solid"/>
            <a:headEnd type="none" len="sm" w="sm"/>
            <a:tailEnd type="none" len="sm" w="sm"/>
          </a:ln>
        </p:spPr>
      </p:sp>
      <p:sp>
        <p:nvSpPr>
          <p:cNvPr name="AutoShape 3" id="3"/>
          <p:cNvSpPr/>
          <p:nvPr/>
        </p:nvSpPr>
        <p:spPr>
          <a:xfrm>
            <a:off x="-882858" y="9818891"/>
            <a:ext cx="20053717" cy="0"/>
          </a:xfrm>
          <a:prstGeom prst="line">
            <a:avLst/>
          </a:prstGeom>
          <a:ln cap="flat" w="9525">
            <a:solidFill>
              <a:srgbClr val="151213"/>
            </a:solidFill>
            <a:prstDash val="solid"/>
            <a:headEnd type="none" len="sm" w="sm"/>
            <a:tailEnd type="none" len="sm" w="sm"/>
          </a:ln>
        </p:spPr>
      </p:sp>
      <p:sp>
        <p:nvSpPr>
          <p:cNvPr name="Freeform 4" id="4"/>
          <p:cNvSpPr/>
          <p:nvPr/>
        </p:nvSpPr>
        <p:spPr>
          <a:xfrm flipH="false" flipV="false" rot="0">
            <a:off x="10077422" y="1850029"/>
            <a:ext cx="4548697" cy="5061137"/>
          </a:xfrm>
          <a:custGeom>
            <a:avLst/>
            <a:gdLst/>
            <a:ahLst/>
            <a:cxnLst/>
            <a:rect r="r" b="b" t="t" l="l"/>
            <a:pathLst>
              <a:path h="5061137" w="4548697">
                <a:moveTo>
                  <a:pt x="0" y="0"/>
                </a:moveTo>
                <a:lnTo>
                  <a:pt x="4548696" y="0"/>
                </a:lnTo>
                <a:lnTo>
                  <a:pt x="4548696" y="5061137"/>
                </a:lnTo>
                <a:lnTo>
                  <a:pt x="0" y="5061137"/>
                </a:lnTo>
                <a:lnTo>
                  <a:pt x="0" y="0"/>
                </a:lnTo>
                <a:close/>
              </a:path>
            </a:pathLst>
          </a:custGeom>
          <a:blipFill>
            <a:blip r:embed="rId2"/>
            <a:stretch>
              <a:fillRect l="0" t="0" r="0" b="0"/>
            </a:stretch>
          </a:blipFill>
        </p:spPr>
      </p:sp>
      <p:sp>
        <p:nvSpPr>
          <p:cNvPr name="TextBox 5" id="5"/>
          <p:cNvSpPr txBox="true"/>
          <p:nvPr/>
        </p:nvSpPr>
        <p:spPr>
          <a:xfrm rot="0">
            <a:off x="671223" y="1152525"/>
            <a:ext cx="16230600" cy="882844"/>
          </a:xfrm>
          <a:prstGeom prst="rect">
            <a:avLst/>
          </a:prstGeom>
        </p:spPr>
        <p:txBody>
          <a:bodyPr anchor="t" rtlCol="false" tIns="0" lIns="0" bIns="0" rIns="0">
            <a:spAutoFit/>
          </a:bodyPr>
          <a:lstStyle/>
          <a:p>
            <a:pPr algn="l">
              <a:lnSpc>
                <a:spcPts val="6632"/>
              </a:lnSpc>
            </a:pPr>
            <a:r>
              <a:rPr lang="en-US" sz="6632" spc="-145">
                <a:solidFill>
                  <a:srgbClr val="151213"/>
                </a:solidFill>
                <a:latin typeface="Anton"/>
                <a:ea typeface="Anton"/>
                <a:cs typeface="Anton"/>
                <a:sym typeface="Anton"/>
              </a:rPr>
              <a:t>STAGE 3</a:t>
            </a:r>
          </a:p>
        </p:txBody>
      </p:sp>
      <p:sp>
        <p:nvSpPr>
          <p:cNvPr name="TextBox 6" id="6"/>
          <p:cNvSpPr txBox="true"/>
          <p:nvPr/>
        </p:nvSpPr>
        <p:spPr>
          <a:xfrm rot="0">
            <a:off x="671223" y="2587819"/>
            <a:ext cx="8854249" cy="6736915"/>
          </a:xfrm>
          <a:prstGeom prst="rect">
            <a:avLst/>
          </a:prstGeom>
        </p:spPr>
        <p:txBody>
          <a:bodyPr anchor="t" rtlCol="false" tIns="0" lIns="0" bIns="0" rIns="0">
            <a:spAutoFit/>
          </a:bodyPr>
          <a:lstStyle/>
          <a:p>
            <a:pPr algn="l" marL="694273" indent="-347136" lvl="1">
              <a:lnSpc>
                <a:spcPts val="3537"/>
              </a:lnSpc>
              <a:buFont typeface="Arial"/>
              <a:buChar char="•"/>
            </a:pPr>
            <a:r>
              <a:rPr lang="en-US" b="true" sz="3215" spc="-176">
                <a:solidFill>
                  <a:srgbClr val="151213"/>
                </a:solidFill>
                <a:latin typeface="Public Sans Bold"/>
                <a:ea typeface="Public Sans Bold"/>
                <a:cs typeface="Public Sans Bold"/>
                <a:sym typeface="Public Sans Bold"/>
              </a:rPr>
              <a:t>Deliverables</a:t>
            </a:r>
            <a:r>
              <a:rPr lang="en-US" sz="3215" spc="-176">
                <a:solidFill>
                  <a:srgbClr val="151213"/>
                </a:solidFill>
                <a:latin typeface="Public Sans"/>
                <a:ea typeface="Public Sans"/>
                <a:cs typeface="Public Sans"/>
                <a:sym typeface="Public Sans"/>
              </a:rPr>
              <a:t>: A three-step information architecture (Ingredients, Pairing, Execution) and the creation of prototypes ranging from low-fidelity (Lo-Fi) to high-fidelity (Hi-Fi). </a:t>
            </a:r>
          </a:p>
          <a:p>
            <a:pPr algn="l" marL="694273" indent="-347136" lvl="1">
              <a:lnSpc>
                <a:spcPts val="3537"/>
              </a:lnSpc>
              <a:buFont typeface="Arial"/>
              <a:buChar char="•"/>
            </a:pPr>
            <a:r>
              <a:rPr lang="en-US" b="true" sz="3215" spc="-176">
                <a:solidFill>
                  <a:srgbClr val="151213"/>
                </a:solidFill>
                <a:latin typeface="Public Sans Bold"/>
                <a:ea typeface="Public Sans Bold"/>
                <a:cs typeface="Public Sans Bold"/>
                <a:sym typeface="Public Sans Bold"/>
              </a:rPr>
              <a:t>Results</a:t>
            </a:r>
            <a:r>
              <a:rPr lang="en-US" sz="3215" spc="-176">
                <a:solidFill>
                  <a:srgbClr val="151213"/>
                </a:solidFill>
                <a:latin typeface="Public Sans"/>
                <a:ea typeface="Public Sans"/>
                <a:cs typeface="Public Sans"/>
                <a:sym typeface="Public Sans"/>
              </a:rPr>
              <a:t>: Interface with centralized voice controls, large typography, and dynamic calorie calculation. </a:t>
            </a:r>
          </a:p>
          <a:p>
            <a:pPr algn="l" marL="694273" indent="-347136" lvl="1">
              <a:lnSpc>
                <a:spcPts val="3537"/>
              </a:lnSpc>
              <a:buFont typeface="Arial"/>
              <a:buChar char="•"/>
            </a:pPr>
            <a:r>
              <a:rPr lang="en-US" b="true" sz="3215" spc="-176">
                <a:solidFill>
                  <a:srgbClr val="151213"/>
                </a:solidFill>
                <a:latin typeface="Public Sans Bold"/>
                <a:ea typeface="Public Sans Bold"/>
                <a:cs typeface="Public Sans Bold"/>
                <a:sym typeface="Public Sans Bold"/>
              </a:rPr>
              <a:t>Transitions:</a:t>
            </a:r>
            <a:r>
              <a:rPr lang="en-US" sz="3215" spc="-176">
                <a:solidFill>
                  <a:srgbClr val="151213"/>
                </a:solidFill>
                <a:latin typeface="Public Sans"/>
                <a:ea typeface="Public Sans"/>
                <a:cs typeface="Public Sans"/>
                <a:sym typeface="Public Sans"/>
              </a:rPr>
              <a:t> </a:t>
            </a:r>
          </a:p>
          <a:p>
            <a:pPr algn="l" marL="1388546" indent="-462849" lvl="2">
              <a:lnSpc>
                <a:spcPts val="3537"/>
              </a:lnSpc>
              <a:buFont typeface="Arial"/>
              <a:buChar char="⚬"/>
            </a:pPr>
            <a:r>
              <a:rPr lang="en-US" sz="3215" spc="-176">
                <a:solidFill>
                  <a:srgbClr val="151213"/>
                </a:solidFill>
                <a:latin typeface="Public Sans"/>
                <a:ea typeface="Public Sans"/>
                <a:cs typeface="Public Sans"/>
                <a:sym typeface="Public Sans"/>
              </a:rPr>
              <a:t>Between prototypes: We moved from a basic layout focused on thumb reach to an interactive (Hi-Fi) prototype with professional design and full multimodal functionality. </a:t>
            </a:r>
          </a:p>
          <a:p>
            <a:pPr algn="l" marL="1388546" indent="-462849" lvl="2">
              <a:lnSpc>
                <a:spcPts val="3537"/>
              </a:lnSpc>
              <a:buFont typeface="Arial"/>
              <a:buChar char="⚬"/>
            </a:pPr>
            <a:r>
              <a:rPr lang="en-US" sz="3215" spc="-176">
                <a:solidFill>
                  <a:srgbClr val="151213"/>
                </a:solidFill>
                <a:latin typeface="Public Sans"/>
                <a:ea typeface="Public Sans"/>
                <a:cs typeface="Public Sans"/>
                <a:sym typeface="Public Sans"/>
              </a:rPr>
              <a:t>Toward evaluation: The completion of the interactive design made it ready for testing.</a:t>
            </a:r>
          </a:p>
        </p:txBody>
      </p:sp>
      <p:sp>
        <p:nvSpPr>
          <p:cNvPr name="Freeform 7" id="7"/>
          <p:cNvSpPr/>
          <p:nvPr/>
        </p:nvSpPr>
        <p:spPr>
          <a:xfrm flipH="false" flipV="false" rot="0">
            <a:off x="11448292" y="5946752"/>
            <a:ext cx="6355652" cy="3535332"/>
          </a:xfrm>
          <a:custGeom>
            <a:avLst/>
            <a:gdLst/>
            <a:ahLst/>
            <a:cxnLst/>
            <a:rect r="r" b="b" t="t" l="l"/>
            <a:pathLst>
              <a:path h="3535332" w="6355652">
                <a:moveTo>
                  <a:pt x="0" y="0"/>
                </a:moveTo>
                <a:lnTo>
                  <a:pt x="6355653" y="0"/>
                </a:lnTo>
                <a:lnTo>
                  <a:pt x="6355653" y="3535331"/>
                </a:lnTo>
                <a:lnTo>
                  <a:pt x="0" y="3535331"/>
                </a:lnTo>
                <a:lnTo>
                  <a:pt x="0" y="0"/>
                </a:lnTo>
                <a:close/>
              </a:path>
            </a:pathLst>
          </a:custGeom>
          <a:blipFill>
            <a:blip r:embed="rId3"/>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FEFEC"/>
        </a:solidFill>
      </p:bgPr>
    </p:bg>
    <p:spTree>
      <p:nvGrpSpPr>
        <p:cNvPr id="1" name=""/>
        <p:cNvGrpSpPr/>
        <p:nvPr/>
      </p:nvGrpSpPr>
      <p:grpSpPr>
        <a:xfrm>
          <a:off x="0" y="0"/>
          <a:ext cx="0" cy="0"/>
          <a:chOff x="0" y="0"/>
          <a:chExt cx="0" cy="0"/>
        </a:xfrm>
      </p:grpSpPr>
      <p:sp>
        <p:nvSpPr>
          <p:cNvPr name="AutoShape 2" id="2"/>
          <p:cNvSpPr/>
          <p:nvPr/>
        </p:nvSpPr>
        <p:spPr>
          <a:xfrm>
            <a:off x="-882858" y="492020"/>
            <a:ext cx="20053717" cy="0"/>
          </a:xfrm>
          <a:prstGeom prst="line">
            <a:avLst/>
          </a:prstGeom>
          <a:ln cap="flat" w="9525">
            <a:solidFill>
              <a:srgbClr val="151213"/>
            </a:solidFill>
            <a:prstDash val="solid"/>
            <a:headEnd type="none" len="sm" w="sm"/>
            <a:tailEnd type="none" len="sm" w="sm"/>
          </a:ln>
        </p:spPr>
      </p:sp>
      <p:sp>
        <p:nvSpPr>
          <p:cNvPr name="AutoShape 3" id="3"/>
          <p:cNvSpPr/>
          <p:nvPr/>
        </p:nvSpPr>
        <p:spPr>
          <a:xfrm>
            <a:off x="-882858" y="9818891"/>
            <a:ext cx="20053717" cy="0"/>
          </a:xfrm>
          <a:prstGeom prst="line">
            <a:avLst/>
          </a:prstGeom>
          <a:ln cap="flat" w="9525">
            <a:solidFill>
              <a:srgbClr val="151213"/>
            </a:solidFill>
            <a:prstDash val="solid"/>
            <a:headEnd type="none" len="sm" w="sm"/>
            <a:tailEnd type="none" len="sm" w="sm"/>
          </a:ln>
        </p:spPr>
      </p:sp>
      <p:sp>
        <p:nvSpPr>
          <p:cNvPr name="Freeform 4" id="4"/>
          <p:cNvSpPr/>
          <p:nvPr/>
        </p:nvSpPr>
        <p:spPr>
          <a:xfrm flipH="false" flipV="false" rot="0">
            <a:off x="9592455" y="2710045"/>
            <a:ext cx="7977714" cy="4682713"/>
          </a:xfrm>
          <a:custGeom>
            <a:avLst/>
            <a:gdLst/>
            <a:ahLst/>
            <a:cxnLst/>
            <a:rect r="r" b="b" t="t" l="l"/>
            <a:pathLst>
              <a:path h="4682713" w="7977714">
                <a:moveTo>
                  <a:pt x="0" y="0"/>
                </a:moveTo>
                <a:lnTo>
                  <a:pt x="7977714" y="0"/>
                </a:lnTo>
                <a:lnTo>
                  <a:pt x="7977714" y="4682713"/>
                </a:lnTo>
                <a:lnTo>
                  <a:pt x="0" y="4682713"/>
                </a:lnTo>
                <a:lnTo>
                  <a:pt x="0" y="0"/>
                </a:lnTo>
                <a:close/>
              </a:path>
            </a:pathLst>
          </a:custGeom>
          <a:blipFill>
            <a:blip r:embed="rId2"/>
            <a:stretch>
              <a:fillRect l="-7455" t="0" r="0" b="0"/>
            </a:stretch>
          </a:blipFill>
        </p:spPr>
      </p:sp>
      <p:sp>
        <p:nvSpPr>
          <p:cNvPr name="TextBox 5" id="5"/>
          <p:cNvSpPr txBox="true"/>
          <p:nvPr/>
        </p:nvSpPr>
        <p:spPr>
          <a:xfrm rot="0">
            <a:off x="671223" y="1152525"/>
            <a:ext cx="16230600" cy="882844"/>
          </a:xfrm>
          <a:prstGeom prst="rect">
            <a:avLst/>
          </a:prstGeom>
        </p:spPr>
        <p:txBody>
          <a:bodyPr anchor="t" rtlCol="false" tIns="0" lIns="0" bIns="0" rIns="0">
            <a:spAutoFit/>
          </a:bodyPr>
          <a:lstStyle/>
          <a:p>
            <a:pPr algn="l">
              <a:lnSpc>
                <a:spcPts val="6632"/>
              </a:lnSpc>
            </a:pPr>
            <a:r>
              <a:rPr lang="en-US" sz="6632" spc="-145">
                <a:solidFill>
                  <a:srgbClr val="151213"/>
                </a:solidFill>
                <a:latin typeface="Anton"/>
                <a:ea typeface="Anton"/>
                <a:cs typeface="Anton"/>
                <a:sym typeface="Anton"/>
              </a:rPr>
              <a:t>STAGE 4</a:t>
            </a:r>
          </a:p>
        </p:txBody>
      </p:sp>
      <p:sp>
        <p:nvSpPr>
          <p:cNvPr name="TextBox 6" id="6"/>
          <p:cNvSpPr txBox="true"/>
          <p:nvPr/>
        </p:nvSpPr>
        <p:spPr>
          <a:xfrm rot="0">
            <a:off x="77673" y="2341979"/>
            <a:ext cx="8920024" cy="7184590"/>
          </a:xfrm>
          <a:prstGeom prst="rect">
            <a:avLst/>
          </a:prstGeom>
        </p:spPr>
        <p:txBody>
          <a:bodyPr anchor="t" rtlCol="false" tIns="0" lIns="0" bIns="0" rIns="0">
            <a:spAutoFit/>
          </a:bodyPr>
          <a:lstStyle/>
          <a:p>
            <a:pPr algn="l" marL="694273" indent="-347136" lvl="1">
              <a:lnSpc>
                <a:spcPts val="3537"/>
              </a:lnSpc>
              <a:buFont typeface="Arial"/>
              <a:buChar char="•"/>
            </a:pPr>
            <a:r>
              <a:rPr lang="en-US" b="true" sz="3215" spc="-176">
                <a:solidFill>
                  <a:srgbClr val="151213"/>
                </a:solidFill>
                <a:latin typeface="Public Sans Bold"/>
                <a:ea typeface="Public Sans Bold"/>
                <a:cs typeface="Public Sans Bold"/>
                <a:sym typeface="Public Sans Bold"/>
              </a:rPr>
              <a:t>Process</a:t>
            </a:r>
            <a:r>
              <a:rPr lang="en-US" sz="3215" spc="-176">
                <a:solidFill>
                  <a:srgbClr val="151213"/>
                </a:solidFill>
                <a:latin typeface="Public Sans"/>
                <a:ea typeface="Public Sans"/>
                <a:cs typeface="Public Sans"/>
                <a:sym typeface="Public Sans"/>
              </a:rPr>
              <a:t>: Predictive modeling (KLM/CogTool) and controlled real-world testing with 5 users using the Think-Aloud method and the SUS scale. </a:t>
            </a:r>
          </a:p>
          <a:p>
            <a:pPr algn="l" marL="694273" indent="-347136" lvl="1">
              <a:lnSpc>
                <a:spcPts val="3537"/>
              </a:lnSpc>
              <a:buFont typeface="Arial"/>
              <a:buChar char="•"/>
            </a:pPr>
            <a:r>
              <a:rPr lang="en-US" b="true" sz="3215" spc="-176">
                <a:solidFill>
                  <a:srgbClr val="151213"/>
                </a:solidFill>
                <a:latin typeface="Public Sans Bold"/>
                <a:ea typeface="Public Sans Bold"/>
                <a:cs typeface="Public Sans Bold"/>
                <a:sym typeface="Public Sans Bold"/>
              </a:rPr>
              <a:t>Deliverables</a:t>
            </a:r>
            <a:r>
              <a:rPr lang="en-US" sz="3215" spc="-176">
                <a:solidFill>
                  <a:srgbClr val="151213"/>
                </a:solidFill>
                <a:latin typeface="Public Sans"/>
                <a:ea typeface="Public Sans"/>
                <a:cs typeface="Public Sans"/>
                <a:sym typeface="Public Sans"/>
              </a:rPr>
              <a:t>: Collection of success metrics, execution times, and a usability error matrix. </a:t>
            </a:r>
          </a:p>
          <a:p>
            <a:pPr algn="l" marL="694273" indent="-347136" lvl="1">
              <a:lnSpc>
                <a:spcPts val="3537"/>
              </a:lnSpc>
              <a:buFont typeface="Arial"/>
              <a:buChar char="•"/>
            </a:pPr>
            <a:r>
              <a:rPr lang="en-US" b="true" sz="3215" spc="-176">
                <a:solidFill>
                  <a:srgbClr val="151213"/>
                </a:solidFill>
                <a:latin typeface="Public Sans Bold"/>
                <a:ea typeface="Public Sans Bold"/>
                <a:cs typeface="Public Sans Bold"/>
                <a:sym typeface="Public Sans Bold"/>
              </a:rPr>
              <a:t>Results</a:t>
            </a:r>
            <a:r>
              <a:rPr lang="en-US" sz="3215" spc="-176">
                <a:solidFill>
                  <a:srgbClr val="151213"/>
                </a:solidFill>
                <a:latin typeface="Public Sans"/>
                <a:ea typeface="Public Sans"/>
                <a:cs typeface="Public Sans"/>
                <a:sym typeface="Public Sans"/>
              </a:rPr>
              <a:t>: 100% success rate, completion times below the target (2.5 minutes on average), and a high satisfaction rating (79/100). </a:t>
            </a:r>
          </a:p>
          <a:p>
            <a:pPr algn="l" marL="694273" indent="-347136" lvl="1">
              <a:lnSpc>
                <a:spcPts val="3537"/>
              </a:lnSpc>
              <a:buFont typeface="Arial"/>
              <a:buChar char="•"/>
            </a:pPr>
            <a:r>
              <a:rPr lang="en-US" b="true" sz="3215" spc="-176">
                <a:solidFill>
                  <a:srgbClr val="151213"/>
                </a:solidFill>
                <a:latin typeface="Public Sans Bold"/>
                <a:ea typeface="Public Sans Bold"/>
                <a:cs typeface="Public Sans Bold"/>
                <a:sym typeface="Public Sans Bold"/>
              </a:rPr>
              <a:t>Transition </a:t>
            </a:r>
            <a:r>
              <a:rPr lang="en-US" sz="3215" spc="-176">
                <a:solidFill>
                  <a:srgbClr val="151213"/>
                </a:solidFill>
                <a:latin typeface="Public Sans"/>
                <a:ea typeface="Public Sans"/>
                <a:cs typeface="Public Sans"/>
                <a:sym typeface="Public Sans"/>
              </a:rPr>
              <a:t>(Post-evaluation): The minor errors detected (such as the lack of a visual indicator when using voice commands) led to the creation of a “Roadmap” to redesign details and schedule a second phase of testing in kitchens with real-world noise.</a:t>
            </a:r>
          </a:p>
          <a:p>
            <a:pPr algn="just">
              <a:lnSpc>
                <a:spcPts val="3537"/>
              </a:lnSpc>
            </a:pP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151213"/>
        </a:solidFill>
      </p:bgPr>
    </p:bg>
    <p:spTree>
      <p:nvGrpSpPr>
        <p:cNvPr id="1" name=""/>
        <p:cNvGrpSpPr/>
        <p:nvPr/>
      </p:nvGrpSpPr>
      <p:grpSpPr>
        <a:xfrm>
          <a:off x="0" y="0"/>
          <a:ext cx="0" cy="0"/>
          <a:chOff x="0" y="0"/>
          <a:chExt cx="0" cy="0"/>
        </a:xfrm>
      </p:grpSpPr>
      <p:sp>
        <p:nvSpPr>
          <p:cNvPr name="TextBox 2" id="2"/>
          <p:cNvSpPr txBox="true"/>
          <p:nvPr/>
        </p:nvSpPr>
        <p:spPr>
          <a:xfrm rot="0">
            <a:off x="3444280" y="2727325"/>
            <a:ext cx="11399440" cy="5203826"/>
          </a:xfrm>
          <a:prstGeom prst="rect">
            <a:avLst/>
          </a:prstGeom>
        </p:spPr>
        <p:txBody>
          <a:bodyPr anchor="t" rtlCol="false" tIns="0" lIns="0" bIns="0" rIns="0">
            <a:spAutoFit/>
          </a:bodyPr>
          <a:lstStyle/>
          <a:p>
            <a:pPr algn="ctr">
              <a:lnSpc>
                <a:spcPts val="20000"/>
              </a:lnSpc>
            </a:pPr>
            <a:r>
              <a:rPr lang="en-US" sz="20000" spc="-440">
                <a:solidFill>
                  <a:srgbClr val="EFEFEC"/>
                </a:solidFill>
                <a:latin typeface="Anton"/>
                <a:ea typeface="Anton"/>
                <a:cs typeface="Anton"/>
                <a:sym typeface="Anton"/>
              </a:rPr>
              <a:t>USABILITY TEST</a:t>
            </a:r>
          </a:p>
        </p:txBody>
      </p:sp>
      <p:sp>
        <p:nvSpPr>
          <p:cNvPr name="AutoShape 3" id="3"/>
          <p:cNvSpPr/>
          <p:nvPr/>
        </p:nvSpPr>
        <p:spPr>
          <a:xfrm>
            <a:off x="-882858" y="492020"/>
            <a:ext cx="20053717" cy="0"/>
          </a:xfrm>
          <a:prstGeom prst="line">
            <a:avLst/>
          </a:prstGeom>
          <a:ln cap="flat" w="9525">
            <a:solidFill>
              <a:srgbClr val="E4E1DD"/>
            </a:solidFill>
            <a:prstDash val="solid"/>
            <a:headEnd type="none" len="sm" w="sm"/>
            <a:tailEnd type="none" len="sm" w="sm"/>
          </a:ln>
        </p:spPr>
      </p:sp>
      <p:sp>
        <p:nvSpPr>
          <p:cNvPr name="AutoShape 4" id="4"/>
          <p:cNvSpPr/>
          <p:nvPr/>
        </p:nvSpPr>
        <p:spPr>
          <a:xfrm>
            <a:off x="-882858" y="9818891"/>
            <a:ext cx="20053717" cy="0"/>
          </a:xfrm>
          <a:prstGeom prst="line">
            <a:avLst/>
          </a:prstGeom>
          <a:ln cap="flat" w="9525">
            <a:solidFill>
              <a:srgbClr val="E4E1DD"/>
            </a:solidFill>
            <a:prstDash val="solid"/>
            <a:headEnd type="none" len="sm" w="sm"/>
            <a:tailEnd type="none" len="sm" w="sm"/>
          </a:ln>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FEFEC"/>
        </a:solidFill>
      </p:bgPr>
    </p:bg>
    <p:spTree>
      <p:nvGrpSpPr>
        <p:cNvPr id="1" name=""/>
        <p:cNvGrpSpPr/>
        <p:nvPr/>
      </p:nvGrpSpPr>
      <p:grpSpPr>
        <a:xfrm>
          <a:off x="0" y="0"/>
          <a:ext cx="0" cy="0"/>
          <a:chOff x="0" y="0"/>
          <a:chExt cx="0" cy="0"/>
        </a:xfrm>
      </p:grpSpPr>
      <p:sp>
        <p:nvSpPr>
          <p:cNvPr name="AutoShape 2" id="2"/>
          <p:cNvSpPr/>
          <p:nvPr/>
        </p:nvSpPr>
        <p:spPr>
          <a:xfrm>
            <a:off x="-882858" y="492020"/>
            <a:ext cx="20053717" cy="0"/>
          </a:xfrm>
          <a:prstGeom prst="line">
            <a:avLst/>
          </a:prstGeom>
          <a:ln cap="flat" w="9525">
            <a:solidFill>
              <a:srgbClr val="151213"/>
            </a:solidFill>
            <a:prstDash val="solid"/>
            <a:headEnd type="none" len="sm" w="sm"/>
            <a:tailEnd type="none" len="sm" w="sm"/>
          </a:ln>
        </p:spPr>
      </p:sp>
      <p:sp>
        <p:nvSpPr>
          <p:cNvPr name="AutoShape 3" id="3"/>
          <p:cNvSpPr/>
          <p:nvPr/>
        </p:nvSpPr>
        <p:spPr>
          <a:xfrm>
            <a:off x="-882858" y="9818891"/>
            <a:ext cx="20053717" cy="0"/>
          </a:xfrm>
          <a:prstGeom prst="line">
            <a:avLst/>
          </a:prstGeom>
          <a:ln cap="flat" w="9525">
            <a:solidFill>
              <a:srgbClr val="151213"/>
            </a:solidFill>
            <a:prstDash val="solid"/>
            <a:headEnd type="none" len="sm" w="sm"/>
            <a:tailEnd type="none" len="sm" w="sm"/>
          </a:ln>
        </p:spPr>
      </p:sp>
      <p:sp>
        <p:nvSpPr>
          <p:cNvPr name="Freeform 4" id="4"/>
          <p:cNvSpPr/>
          <p:nvPr/>
        </p:nvSpPr>
        <p:spPr>
          <a:xfrm flipH="false" flipV="false" rot="0">
            <a:off x="10048306" y="738770"/>
            <a:ext cx="7913846" cy="6420108"/>
          </a:xfrm>
          <a:custGeom>
            <a:avLst/>
            <a:gdLst/>
            <a:ahLst/>
            <a:cxnLst/>
            <a:rect r="r" b="b" t="t" l="l"/>
            <a:pathLst>
              <a:path h="6420108" w="7913846">
                <a:moveTo>
                  <a:pt x="0" y="0"/>
                </a:moveTo>
                <a:lnTo>
                  <a:pt x="7913846" y="0"/>
                </a:lnTo>
                <a:lnTo>
                  <a:pt x="7913846" y="6420107"/>
                </a:lnTo>
                <a:lnTo>
                  <a:pt x="0" y="6420107"/>
                </a:lnTo>
                <a:lnTo>
                  <a:pt x="0" y="0"/>
                </a:lnTo>
                <a:close/>
              </a:path>
            </a:pathLst>
          </a:custGeom>
          <a:blipFill>
            <a:blip r:embed="rId2"/>
            <a:stretch>
              <a:fillRect l="0" t="0" r="0" b="0"/>
            </a:stretch>
          </a:blipFill>
        </p:spPr>
      </p:sp>
      <p:sp>
        <p:nvSpPr>
          <p:cNvPr name="Freeform 5" id="5"/>
          <p:cNvSpPr/>
          <p:nvPr/>
        </p:nvSpPr>
        <p:spPr>
          <a:xfrm flipH="false" flipV="false" rot="0">
            <a:off x="879157" y="2514734"/>
            <a:ext cx="7931140" cy="6880264"/>
          </a:xfrm>
          <a:custGeom>
            <a:avLst/>
            <a:gdLst/>
            <a:ahLst/>
            <a:cxnLst/>
            <a:rect r="r" b="b" t="t" l="l"/>
            <a:pathLst>
              <a:path h="6880264" w="7931140">
                <a:moveTo>
                  <a:pt x="0" y="0"/>
                </a:moveTo>
                <a:lnTo>
                  <a:pt x="7931140" y="0"/>
                </a:lnTo>
                <a:lnTo>
                  <a:pt x="7931140" y="6880264"/>
                </a:lnTo>
                <a:lnTo>
                  <a:pt x="0" y="6880264"/>
                </a:lnTo>
                <a:lnTo>
                  <a:pt x="0" y="0"/>
                </a:lnTo>
                <a:close/>
              </a:path>
            </a:pathLst>
          </a:custGeom>
          <a:blipFill>
            <a:blip r:embed="rId3"/>
            <a:stretch>
              <a:fillRect l="0" t="0" r="0" b="0"/>
            </a:stretch>
          </a:blipFill>
        </p:spPr>
      </p:sp>
      <p:sp>
        <p:nvSpPr>
          <p:cNvPr name="TextBox 6" id="6"/>
          <p:cNvSpPr txBox="true"/>
          <p:nvPr/>
        </p:nvSpPr>
        <p:spPr>
          <a:xfrm rot="0">
            <a:off x="472970" y="720620"/>
            <a:ext cx="8846318" cy="1624380"/>
          </a:xfrm>
          <a:prstGeom prst="rect">
            <a:avLst/>
          </a:prstGeom>
        </p:spPr>
        <p:txBody>
          <a:bodyPr anchor="t" rtlCol="false" tIns="0" lIns="0" bIns="0" rIns="0">
            <a:spAutoFit/>
          </a:bodyPr>
          <a:lstStyle/>
          <a:p>
            <a:pPr algn="l">
              <a:lnSpc>
                <a:spcPts val="12201"/>
              </a:lnSpc>
            </a:pPr>
            <a:r>
              <a:rPr lang="en-US" sz="12201" spc="-268">
                <a:solidFill>
                  <a:srgbClr val="151213"/>
                </a:solidFill>
                <a:latin typeface="Anton"/>
                <a:ea typeface="Anton"/>
                <a:cs typeface="Anton"/>
                <a:sym typeface="Anton"/>
              </a:rPr>
              <a:t>USABILITY TESTS</a:t>
            </a:r>
          </a:p>
        </p:txBody>
      </p:sp>
      <p:sp>
        <p:nvSpPr>
          <p:cNvPr name="TextBox 7" id="7"/>
          <p:cNvSpPr txBox="true"/>
          <p:nvPr/>
        </p:nvSpPr>
        <p:spPr>
          <a:xfrm rot="0">
            <a:off x="9026880" y="7437483"/>
            <a:ext cx="9085832" cy="2040890"/>
          </a:xfrm>
          <a:prstGeom prst="rect">
            <a:avLst/>
          </a:prstGeom>
        </p:spPr>
        <p:txBody>
          <a:bodyPr anchor="t" rtlCol="false" tIns="0" lIns="0" bIns="0" rIns="0">
            <a:spAutoFit/>
          </a:bodyPr>
          <a:lstStyle/>
          <a:p>
            <a:pPr algn="ctr">
              <a:lnSpc>
                <a:spcPts val="4060"/>
              </a:lnSpc>
            </a:pPr>
            <a:r>
              <a:rPr lang="en-US" sz="2900">
                <a:solidFill>
                  <a:srgbClr val="151213"/>
                </a:solidFill>
                <a:latin typeface="Canva Sans"/>
                <a:ea typeface="Canva Sans"/>
                <a:cs typeface="Canva Sans"/>
                <a:sym typeface="Canva Sans"/>
              </a:rPr>
              <a:t>To con</a:t>
            </a:r>
            <a:r>
              <a:rPr lang="en-US" sz="2900">
                <a:solidFill>
                  <a:srgbClr val="151213"/>
                </a:solidFill>
                <a:latin typeface="Canva Sans"/>
                <a:ea typeface="Canva Sans"/>
                <a:cs typeface="Canva Sans"/>
                <a:sym typeface="Canva Sans"/>
              </a:rPr>
              <a:t>duct the tests in a controlled way, we used The standard SUS questionnaire (10 questions rated from 1 to 5) and an open-ended questions section.</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FEFEC"/>
        </a:solidFill>
      </p:bgPr>
    </p:bg>
    <p:spTree>
      <p:nvGrpSpPr>
        <p:cNvPr id="1" name=""/>
        <p:cNvGrpSpPr/>
        <p:nvPr/>
      </p:nvGrpSpPr>
      <p:grpSpPr>
        <a:xfrm>
          <a:off x="0" y="0"/>
          <a:ext cx="0" cy="0"/>
          <a:chOff x="0" y="0"/>
          <a:chExt cx="0" cy="0"/>
        </a:xfrm>
      </p:grpSpPr>
      <p:sp>
        <p:nvSpPr>
          <p:cNvPr name="AutoShape 2" id="2"/>
          <p:cNvSpPr/>
          <p:nvPr/>
        </p:nvSpPr>
        <p:spPr>
          <a:xfrm>
            <a:off x="-882858" y="492020"/>
            <a:ext cx="20053717" cy="0"/>
          </a:xfrm>
          <a:prstGeom prst="line">
            <a:avLst/>
          </a:prstGeom>
          <a:ln cap="flat" w="9525">
            <a:solidFill>
              <a:srgbClr val="151213"/>
            </a:solidFill>
            <a:prstDash val="solid"/>
            <a:headEnd type="none" len="sm" w="sm"/>
            <a:tailEnd type="none" len="sm" w="sm"/>
          </a:ln>
        </p:spPr>
      </p:sp>
      <p:sp>
        <p:nvSpPr>
          <p:cNvPr name="AutoShape 3" id="3"/>
          <p:cNvSpPr/>
          <p:nvPr/>
        </p:nvSpPr>
        <p:spPr>
          <a:xfrm>
            <a:off x="-882858" y="9818891"/>
            <a:ext cx="20053717" cy="0"/>
          </a:xfrm>
          <a:prstGeom prst="line">
            <a:avLst/>
          </a:prstGeom>
          <a:ln cap="flat" w="9525">
            <a:solidFill>
              <a:srgbClr val="151213"/>
            </a:solidFill>
            <a:prstDash val="solid"/>
            <a:headEnd type="none" len="sm" w="sm"/>
            <a:tailEnd type="none" len="sm" w="sm"/>
          </a:ln>
        </p:spPr>
      </p:sp>
      <p:sp>
        <p:nvSpPr>
          <p:cNvPr name="Freeform 4" id="4"/>
          <p:cNvSpPr/>
          <p:nvPr/>
        </p:nvSpPr>
        <p:spPr>
          <a:xfrm flipH="false" flipV="false" rot="0">
            <a:off x="6373921" y="744309"/>
            <a:ext cx="11430023" cy="8743968"/>
          </a:xfrm>
          <a:custGeom>
            <a:avLst/>
            <a:gdLst/>
            <a:ahLst/>
            <a:cxnLst/>
            <a:rect r="r" b="b" t="t" l="l"/>
            <a:pathLst>
              <a:path h="8743968" w="11430023">
                <a:moveTo>
                  <a:pt x="0" y="0"/>
                </a:moveTo>
                <a:lnTo>
                  <a:pt x="11430024" y="0"/>
                </a:lnTo>
                <a:lnTo>
                  <a:pt x="11430024" y="8743968"/>
                </a:lnTo>
                <a:lnTo>
                  <a:pt x="0" y="8743968"/>
                </a:lnTo>
                <a:lnTo>
                  <a:pt x="0" y="0"/>
                </a:lnTo>
                <a:close/>
              </a:path>
            </a:pathLst>
          </a:custGeom>
          <a:blipFill>
            <a:blip r:embed="rId2"/>
            <a:stretch>
              <a:fillRect l="0" t="0" r="0" b="0"/>
            </a:stretch>
          </a:blipFill>
        </p:spPr>
      </p:sp>
      <p:sp>
        <p:nvSpPr>
          <p:cNvPr name="TextBox 5" id="5"/>
          <p:cNvSpPr txBox="true"/>
          <p:nvPr/>
        </p:nvSpPr>
        <p:spPr>
          <a:xfrm rot="0">
            <a:off x="746250" y="2633580"/>
            <a:ext cx="4727599" cy="3167430"/>
          </a:xfrm>
          <a:prstGeom prst="rect">
            <a:avLst/>
          </a:prstGeom>
        </p:spPr>
        <p:txBody>
          <a:bodyPr anchor="t" rtlCol="false" tIns="0" lIns="0" bIns="0" rIns="0">
            <a:spAutoFit/>
          </a:bodyPr>
          <a:lstStyle/>
          <a:p>
            <a:pPr algn="l">
              <a:lnSpc>
                <a:spcPts val="12201"/>
              </a:lnSpc>
            </a:pPr>
            <a:r>
              <a:rPr lang="en-US" sz="12201" spc="-268">
                <a:solidFill>
                  <a:srgbClr val="151213"/>
                </a:solidFill>
                <a:latin typeface="Anton"/>
                <a:ea typeface="Anton"/>
                <a:cs typeface="Anton"/>
                <a:sym typeface="Anton"/>
              </a:rPr>
              <a:t>TESTS RESULTS</a:t>
            </a: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151213"/>
        </a:solidFill>
      </p:bgPr>
    </p:bg>
    <p:spTree>
      <p:nvGrpSpPr>
        <p:cNvPr id="1" name=""/>
        <p:cNvGrpSpPr/>
        <p:nvPr/>
      </p:nvGrpSpPr>
      <p:grpSpPr>
        <a:xfrm>
          <a:off x="0" y="0"/>
          <a:ext cx="0" cy="0"/>
          <a:chOff x="0" y="0"/>
          <a:chExt cx="0" cy="0"/>
        </a:xfrm>
      </p:grpSpPr>
      <p:sp>
        <p:nvSpPr>
          <p:cNvPr name="TextBox 2" id="2"/>
          <p:cNvSpPr txBox="true"/>
          <p:nvPr/>
        </p:nvSpPr>
        <p:spPr>
          <a:xfrm rot="0">
            <a:off x="3444280" y="2727325"/>
            <a:ext cx="11399440" cy="5203826"/>
          </a:xfrm>
          <a:prstGeom prst="rect">
            <a:avLst/>
          </a:prstGeom>
        </p:spPr>
        <p:txBody>
          <a:bodyPr anchor="t" rtlCol="false" tIns="0" lIns="0" bIns="0" rIns="0">
            <a:spAutoFit/>
          </a:bodyPr>
          <a:lstStyle/>
          <a:p>
            <a:pPr algn="ctr">
              <a:lnSpc>
                <a:spcPts val="20000"/>
              </a:lnSpc>
            </a:pPr>
            <a:r>
              <a:rPr lang="en-US" sz="20000" spc="-440">
                <a:solidFill>
                  <a:srgbClr val="EFEFEC"/>
                </a:solidFill>
                <a:latin typeface="Anton"/>
                <a:ea typeface="Anton"/>
                <a:cs typeface="Anton"/>
                <a:sym typeface="Anton"/>
              </a:rPr>
              <a:t>LESSONS LEARNED</a:t>
            </a:r>
          </a:p>
        </p:txBody>
      </p:sp>
      <p:sp>
        <p:nvSpPr>
          <p:cNvPr name="AutoShape 3" id="3"/>
          <p:cNvSpPr/>
          <p:nvPr/>
        </p:nvSpPr>
        <p:spPr>
          <a:xfrm>
            <a:off x="-882858" y="492020"/>
            <a:ext cx="20053717" cy="0"/>
          </a:xfrm>
          <a:prstGeom prst="line">
            <a:avLst/>
          </a:prstGeom>
          <a:ln cap="flat" w="9525">
            <a:solidFill>
              <a:srgbClr val="E4E1DD"/>
            </a:solidFill>
            <a:prstDash val="solid"/>
            <a:headEnd type="none" len="sm" w="sm"/>
            <a:tailEnd type="none" len="sm" w="sm"/>
          </a:ln>
        </p:spPr>
      </p:sp>
      <p:sp>
        <p:nvSpPr>
          <p:cNvPr name="AutoShape 4" id="4"/>
          <p:cNvSpPr/>
          <p:nvPr/>
        </p:nvSpPr>
        <p:spPr>
          <a:xfrm>
            <a:off x="-882858" y="9818891"/>
            <a:ext cx="20053717" cy="0"/>
          </a:xfrm>
          <a:prstGeom prst="line">
            <a:avLst/>
          </a:prstGeom>
          <a:ln cap="flat" w="9525">
            <a:solidFill>
              <a:srgbClr val="E4E1DD"/>
            </a:solidFill>
            <a:prstDash val="solid"/>
            <a:headEnd type="none" len="sm" w="sm"/>
            <a:tailEnd type="none" len="sm" w="sm"/>
          </a:ln>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EFEFEC"/>
        </a:solidFill>
      </p:bgPr>
    </p:bg>
    <p:spTree>
      <p:nvGrpSpPr>
        <p:cNvPr id="1" name=""/>
        <p:cNvGrpSpPr/>
        <p:nvPr/>
      </p:nvGrpSpPr>
      <p:grpSpPr>
        <a:xfrm>
          <a:off x="0" y="0"/>
          <a:ext cx="0" cy="0"/>
          <a:chOff x="0" y="0"/>
          <a:chExt cx="0" cy="0"/>
        </a:xfrm>
      </p:grpSpPr>
      <p:sp>
        <p:nvSpPr>
          <p:cNvPr name="AutoShape 2" id="2"/>
          <p:cNvSpPr/>
          <p:nvPr/>
        </p:nvSpPr>
        <p:spPr>
          <a:xfrm>
            <a:off x="-882858" y="492020"/>
            <a:ext cx="20053717" cy="0"/>
          </a:xfrm>
          <a:prstGeom prst="line">
            <a:avLst/>
          </a:prstGeom>
          <a:ln cap="flat" w="9525">
            <a:solidFill>
              <a:srgbClr val="151213"/>
            </a:solidFill>
            <a:prstDash val="solid"/>
            <a:headEnd type="none" len="sm" w="sm"/>
            <a:tailEnd type="none" len="sm" w="sm"/>
          </a:ln>
        </p:spPr>
      </p:sp>
      <p:sp>
        <p:nvSpPr>
          <p:cNvPr name="AutoShape 3" id="3"/>
          <p:cNvSpPr/>
          <p:nvPr/>
        </p:nvSpPr>
        <p:spPr>
          <a:xfrm>
            <a:off x="-882858" y="9818891"/>
            <a:ext cx="20053717" cy="0"/>
          </a:xfrm>
          <a:prstGeom prst="line">
            <a:avLst/>
          </a:prstGeom>
          <a:ln cap="flat" w="9525">
            <a:solidFill>
              <a:srgbClr val="151213"/>
            </a:solidFill>
            <a:prstDash val="solid"/>
            <a:headEnd type="none" len="sm" w="sm"/>
            <a:tailEnd type="none" len="sm" w="sm"/>
          </a:ln>
        </p:spPr>
      </p:sp>
      <p:sp>
        <p:nvSpPr>
          <p:cNvPr name="Freeform 4" id="4"/>
          <p:cNvSpPr/>
          <p:nvPr/>
        </p:nvSpPr>
        <p:spPr>
          <a:xfrm flipH="false" flipV="false" rot="0">
            <a:off x="12641103" y="2181419"/>
            <a:ext cx="3615859" cy="3940832"/>
          </a:xfrm>
          <a:custGeom>
            <a:avLst/>
            <a:gdLst/>
            <a:ahLst/>
            <a:cxnLst/>
            <a:rect r="r" b="b" t="t" l="l"/>
            <a:pathLst>
              <a:path h="3940832" w="3615859">
                <a:moveTo>
                  <a:pt x="0" y="0"/>
                </a:moveTo>
                <a:lnTo>
                  <a:pt x="3615859" y="0"/>
                </a:lnTo>
                <a:lnTo>
                  <a:pt x="3615859" y="3940832"/>
                </a:lnTo>
                <a:lnTo>
                  <a:pt x="0" y="3940832"/>
                </a:lnTo>
                <a:lnTo>
                  <a:pt x="0" y="0"/>
                </a:lnTo>
                <a:close/>
              </a:path>
            </a:pathLst>
          </a:custGeom>
          <a:blipFill>
            <a:blip r:embed="rId2"/>
            <a:stretch>
              <a:fillRect l="0" t="0" r="-63644" b="0"/>
            </a:stretch>
          </a:blipFill>
        </p:spPr>
      </p:sp>
      <p:sp>
        <p:nvSpPr>
          <p:cNvPr name="Freeform 5" id="5"/>
          <p:cNvSpPr/>
          <p:nvPr/>
        </p:nvSpPr>
        <p:spPr>
          <a:xfrm flipH="false" flipV="false" rot="0">
            <a:off x="1258414" y="5859342"/>
            <a:ext cx="5577580" cy="3714668"/>
          </a:xfrm>
          <a:custGeom>
            <a:avLst/>
            <a:gdLst/>
            <a:ahLst/>
            <a:cxnLst/>
            <a:rect r="r" b="b" t="t" l="l"/>
            <a:pathLst>
              <a:path h="3714668" w="5577580">
                <a:moveTo>
                  <a:pt x="0" y="0"/>
                </a:moveTo>
                <a:lnTo>
                  <a:pt x="5577580" y="0"/>
                </a:lnTo>
                <a:lnTo>
                  <a:pt x="5577580" y="3714668"/>
                </a:lnTo>
                <a:lnTo>
                  <a:pt x="0" y="3714668"/>
                </a:lnTo>
                <a:lnTo>
                  <a:pt x="0" y="0"/>
                </a:lnTo>
                <a:close/>
              </a:path>
            </a:pathLst>
          </a:custGeom>
          <a:blipFill>
            <a:blip r:embed="rId3"/>
            <a:stretch>
              <a:fillRect l="0" t="0" r="0" b="0"/>
            </a:stretch>
          </a:blipFill>
        </p:spPr>
      </p:sp>
      <p:sp>
        <p:nvSpPr>
          <p:cNvPr name="TextBox 6" id="6"/>
          <p:cNvSpPr txBox="true"/>
          <p:nvPr/>
        </p:nvSpPr>
        <p:spPr>
          <a:xfrm rot="0">
            <a:off x="1028700" y="791525"/>
            <a:ext cx="16230600" cy="882844"/>
          </a:xfrm>
          <a:prstGeom prst="rect">
            <a:avLst/>
          </a:prstGeom>
        </p:spPr>
        <p:txBody>
          <a:bodyPr anchor="t" rtlCol="false" tIns="0" lIns="0" bIns="0" rIns="0">
            <a:spAutoFit/>
          </a:bodyPr>
          <a:lstStyle/>
          <a:p>
            <a:pPr algn="l">
              <a:lnSpc>
                <a:spcPts val="6632"/>
              </a:lnSpc>
            </a:pPr>
            <a:r>
              <a:rPr lang="en-US" sz="6632" spc="-145">
                <a:solidFill>
                  <a:srgbClr val="151213"/>
                </a:solidFill>
                <a:latin typeface="Anton"/>
                <a:ea typeface="Anton"/>
                <a:cs typeface="Anton"/>
                <a:sym typeface="Anton"/>
              </a:rPr>
              <a:t>CONTRAST: THEORY VS PRACTICAL IMPLEMENTATION</a:t>
            </a:r>
          </a:p>
        </p:txBody>
      </p:sp>
      <p:sp>
        <p:nvSpPr>
          <p:cNvPr name="TextBox 7" id="7"/>
          <p:cNvSpPr txBox="true"/>
          <p:nvPr/>
        </p:nvSpPr>
        <p:spPr>
          <a:xfrm rot="0">
            <a:off x="472970" y="2463709"/>
            <a:ext cx="9777148" cy="3155515"/>
          </a:xfrm>
          <a:prstGeom prst="rect">
            <a:avLst/>
          </a:prstGeom>
        </p:spPr>
        <p:txBody>
          <a:bodyPr anchor="t" rtlCol="false" tIns="0" lIns="0" bIns="0" rIns="0">
            <a:spAutoFit/>
          </a:bodyPr>
          <a:lstStyle/>
          <a:p>
            <a:pPr algn="l" marL="694273" indent="-347136" lvl="1">
              <a:lnSpc>
                <a:spcPts val="3537"/>
              </a:lnSpc>
              <a:buFont typeface="Arial"/>
              <a:buChar char="•"/>
            </a:pPr>
            <a:r>
              <a:rPr lang="en-US" b="true" sz="3215" spc="-176">
                <a:solidFill>
                  <a:srgbClr val="151213"/>
                </a:solidFill>
                <a:latin typeface="Public Sans Bold"/>
                <a:ea typeface="Public Sans Bold"/>
                <a:cs typeface="Public Sans Bold"/>
                <a:sym typeface="Public Sans Bold"/>
              </a:rPr>
              <a:t>In Theory</a:t>
            </a:r>
            <a:r>
              <a:rPr lang="en-US" sz="3215" spc="-176">
                <a:solidFill>
                  <a:srgbClr val="151213"/>
                </a:solidFill>
                <a:latin typeface="Public Sans"/>
                <a:ea typeface="Public Sans"/>
                <a:cs typeface="Public Sans"/>
                <a:sym typeface="Public Sans"/>
              </a:rPr>
              <a:t>: User-Centered Design seems like a linear process where defining User Personas and scenarios magically resolves the interface.</a:t>
            </a:r>
          </a:p>
          <a:p>
            <a:pPr algn="l" marL="694273" indent="-347136" lvl="1">
              <a:lnSpc>
                <a:spcPts val="3537"/>
              </a:lnSpc>
              <a:buFont typeface="Arial"/>
              <a:buChar char="•"/>
            </a:pPr>
            <a:r>
              <a:rPr lang="en-US" b="true" sz="3215" spc="-176">
                <a:solidFill>
                  <a:srgbClr val="151213"/>
                </a:solidFill>
                <a:latin typeface="Public Sans Bold"/>
                <a:ea typeface="Public Sans Bold"/>
                <a:cs typeface="Public Sans Bold"/>
                <a:sym typeface="Public Sans Bold"/>
              </a:rPr>
              <a:t>In Practice:</a:t>
            </a:r>
            <a:r>
              <a:rPr lang="en-US" sz="3215" spc="-176">
                <a:solidFill>
                  <a:srgbClr val="151213"/>
                </a:solidFill>
                <a:latin typeface="Public Sans"/>
                <a:ea typeface="Public Sans"/>
                <a:cs typeface="Public Sans"/>
                <a:sym typeface="Public Sans"/>
              </a:rPr>
              <a:t> We encountered the reality of the "context of use". Theory provided us with the tools, but practice forced us to iterate, switch to fonts that are more readable from a distance.</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EFEFEC"/>
        </a:solidFill>
      </p:bgPr>
    </p:bg>
    <p:spTree>
      <p:nvGrpSpPr>
        <p:cNvPr id="1" name=""/>
        <p:cNvGrpSpPr/>
        <p:nvPr/>
      </p:nvGrpSpPr>
      <p:grpSpPr>
        <a:xfrm>
          <a:off x="0" y="0"/>
          <a:ext cx="0" cy="0"/>
          <a:chOff x="0" y="0"/>
          <a:chExt cx="0" cy="0"/>
        </a:xfrm>
      </p:grpSpPr>
      <p:sp>
        <p:nvSpPr>
          <p:cNvPr name="AutoShape 2" id="2"/>
          <p:cNvSpPr/>
          <p:nvPr/>
        </p:nvSpPr>
        <p:spPr>
          <a:xfrm>
            <a:off x="-882858" y="492020"/>
            <a:ext cx="20053717" cy="0"/>
          </a:xfrm>
          <a:prstGeom prst="line">
            <a:avLst/>
          </a:prstGeom>
          <a:ln cap="flat" w="9525">
            <a:solidFill>
              <a:srgbClr val="151213"/>
            </a:solidFill>
            <a:prstDash val="solid"/>
            <a:headEnd type="none" len="sm" w="sm"/>
            <a:tailEnd type="none" len="sm" w="sm"/>
          </a:ln>
        </p:spPr>
      </p:sp>
      <p:sp>
        <p:nvSpPr>
          <p:cNvPr name="AutoShape 3" id="3"/>
          <p:cNvSpPr/>
          <p:nvPr/>
        </p:nvSpPr>
        <p:spPr>
          <a:xfrm>
            <a:off x="-882858" y="9818891"/>
            <a:ext cx="20053717" cy="0"/>
          </a:xfrm>
          <a:prstGeom prst="line">
            <a:avLst/>
          </a:prstGeom>
          <a:ln cap="flat" w="9525">
            <a:solidFill>
              <a:srgbClr val="151213"/>
            </a:solidFill>
            <a:prstDash val="solid"/>
            <a:headEnd type="none" len="sm" w="sm"/>
            <a:tailEnd type="none" len="sm" w="sm"/>
          </a:ln>
        </p:spPr>
      </p:sp>
      <p:sp>
        <p:nvSpPr>
          <p:cNvPr name="Freeform 4" id="4"/>
          <p:cNvSpPr/>
          <p:nvPr/>
        </p:nvSpPr>
        <p:spPr>
          <a:xfrm flipH="false" flipV="false" rot="0">
            <a:off x="5010407" y="5128122"/>
            <a:ext cx="6145487" cy="3834083"/>
          </a:xfrm>
          <a:custGeom>
            <a:avLst/>
            <a:gdLst/>
            <a:ahLst/>
            <a:cxnLst/>
            <a:rect r="r" b="b" t="t" l="l"/>
            <a:pathLst>
              <a:path h="3834083" w="6145487">
                <a:moveTo>
                  <a:pt x="0" y="0"/>
                </a:moveTo>
                <a:lnTo>
                  <a:pt x="6145487" y="0"/>
                </a:lnTo>
                <a:lnTo>
                  <a:pt x="6145487" y="3834083"/>
                </a:lnTo>
                <a:lnTo>
                  <a:pt x="0" y="3834083"/>
                </a:lnTo>
                <a:lnTo>
                  <a:pt x="0" y="0"/>
                </a:lnTo>
                <a:close/>
              </a:path>
            </a:pathLst>
          </a:custGeom>
          <a:blipFill>
            <a:blip r:embed="rId2"/>
            <a:stretch>
              <a:fillRect l="0" t="0" r="0" b="0"/>
            </a:stretch>
          </a:blipFill>
        </p:spPr>
      </p:sp>
      <p:sp>
        <p:nvSpPr>
          <p:cNvPr name="TextBox 5" id="5"/>
          <p:cNvSpPr txBox="true"/>
          <p:nvPr/>
        </p:nvSpPr>
        <p:spPr>
          <a:xfrm rot="0">
            <a:off x="1028700" y="850085"/>
            <a:ext cx="16230600" cy="882844"/>
          </a:xfrm>
          <a:prstGeom prst="rect">
            <a:avLst/>
          </a:prstGeom>
        </p:spPr>
        <p:txBody>
          <a:bodyPr anchor="t" rtlCol="false" tIns="0" lIns="0" bIns="0" rIns="0">
            <a:spAutoFit/>
          </a:bodyPr>
          <a:lstStyle/>
          <a:p>
            <a:pPr algn="l">
              <a:lnSpc>
                <a:spcPts val="6632"/>
              </a:lnSpc>
            </a:pPr>
            <a:r>
              <a:rPr lang="en-US" sz="6632" spc="-145">
                <a:solidFill>
                  <a:srgbClr val="151213"/>
                </a:solidFill>
                <a:latin typeface="Anton"/>
                <a:ea typeface="Anton"/>
                <a:cs typeface="Anton"/>
                <a:sym typeface="Anton"/>
              </a:rPr>
              <a:t>MISTAKES MADE ALONG THE PROCESS</a:t>
            </a:r>
          </a:p>
        </p:txBody>
      </p:sp>
      <p:sp>
        <p:nvSpPr>
          <p:cNvPr name="TextBox 6" id="6"/>
          <p:cNvSpPr txBox="true"/>
          <p:nvPr/>
        </p:nvSpPr>
        <p:spPr>
          <a:xfrm rot="0">
            <a:off x="472970" y="2463709"/>
            <a:ext cx="16184250" cy="1812490"/>
          </a:xfrm>
          <a:prstGeom prst="rect">
            <a:avLst/>
          </a:prstGeom>
        </p:spPr>
        <p:txBody>
          <a:bodyPr anchor="t" rtlCol="false" tIns="0" lIns="0" bIns="0" rIns="0">
            <a:spAutoFit/>
          </a:bodyPr>
          <a:lstStyle/>
          <a:p>
            <a:pPr algn="l" marL="694273" indent="-347136" lvl="1">
              <a:lnSpc>
                <a:spcPts val="3537"/>
              </a:lnSpc>
              <a:buFont typeface="Arial"/>
              <a:buChar char="•"/>
            </a:pPr>
            <a:r>
              <a:rPr lang="en-US" b="true" sz="3215" spc="-176">
                <a:solidFill>
                  <a:srgbClr val="151213"/>
                </a:solidFill>
                <a:latin typeface="Public Sans Bold"/>
                <a:ea typeface="Public Sans Bold"/>
                <a:cs typeface="Public Sans Bold"/>
                <a:sym typeface="Public Sans Bold"/>
              </a:rPr>
              <a:t>Developer Bias (Assuming for the user):</a:t>
            </a:r>
            <a:r>
              <a:rPr lang="en-US" sz="3215" spc="-176">
                <a:solidFill>
                  <a:srgbClr val="151213"/>
                </a:solidFill>
                <a:latin typeface="Public Sans"/>
                <a:ea typeface="Public Sans"/>
                <a:cs typeface="Public Sans"/>
                <a:sym typeface="Public Sans"/>
              </a:rPr>
              <a:t> In the early deliverables, we designed flows assuming that the user would understand the iconography immediately.</a:t>
            </a:r>
          </a:p>
          <a:p>
            <a:pPr algn="l" marL="694273" indent="-347136" lvl="1">
              <a:lnSpc>
                <a:spcPts val="3537"/>
              </a:lnSpc>
              <a:buFont typeface="Arial"/>
              <a:buChar char="•"/>
            </a:pPr>
            <a:r>
              <a:rPr lang="en-US" b="true" sz="3215" spc="-176">
                <a:solidFill>
                  <a:srgbClr val="151213"/>
                </a:solidFill>
                <a:latin typeface="Public Sans Bold"/>
                <a:ea typeface="Public Sans Bold"/>
                <a:cs typeface="Public Sans Bold"/>
                <a:sym typeface="Public Sans Bold"/>
              </a:rPr>
              <a:t>Underestimating Analytical Modeling: </a:t>
            </a:r>
            <a:r>
              <a:rPr lang="en-US" sz="3215" spc="-176">
                <a:solidFill>
                  <a:srgbClr val="151213"/>
                </a:solidFill>
                <a:latin typeface="Public Sans"/>
                <a:ea typeface="Public Sans"/>
                <a:cs typeface="Public Sans"/>
                <a:sym typeface="Public Sans"/>
              </a:rPr>
              <a:t>Initially, we viewed the KLM model and the CogTool software simply as a mathematical requirement. </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EFEFEC"/>
        </a:solidFill>
      </p:bgPr>
    </p:bg>
    <p:spTree>
      <p:nvGrpSpPr>
        <p:cNvPr id="1" name=""/>
        <p:cNvGrpSpPr/>
        <p:nvPr/>
      </p:nvGrpSpPr>
      <p:grpSpPr>
        <a:xfrm>
          <a:off x="0" y="0"/>
          <a:ext cx="0" cy="0"/>
          <a:chOff x="0" y="0"/>
          <a:chExt cx="0" cy="0"/>
        </a:xfrm>
      </p:grpSpPr>
      <p:sp>
        <p:nvSpPr>
          <p:cNvPr name="AutoShape 2" id="2"/>
          <p:cNvSpPr/>
          <p:nvPr/>
        </p:nvSpPr>
        <p:spPr>
          <a:xfrm>
            <a:off x="-882858" y="492020"/>
            <a:ext cx="20053717" cy="0"/>
          </a:xfrm>
          <a:prstGeom prst="line">
            <a:avLst/>
          </a:prstGeom>
          <a:ln cap="flat" w="9525">
            <a:solidFill>
              <a:srgbClr val="151213"/>
            </a:solidFill>
            <a:prstDash val="solid"/>
            <a:headEnd type="none" len="sm" w="sm"/>
            <a:tailEnd type="none" len="sm" w="sm"/>
          </a:ln>
        </p:spPr>
      </p:sp>
      <p:sp>
        <p:nvSpPr>
          <p:cNvPr name="AutoShape 3" id="3"/>
          <p:cNvSpPr/>
          <p:nvPr/>
        </p:nvSpPr>
        <p:spPr>
          <a:xfrm>
            <a:off x="-882858" y="9818891"/>
            <a:ext cx="20053717" cy="0"/>
          </a:xfrm>
          <a:prstGeom prst="line">
            <a:avLst/>
          </a:prstGeom>
          <a:ln cap="flat" w="9525">
            <a:solidFill>
              <a:srgbClr val="151213"/>
            </a:solidFill>
            <a:prstDash val="solid"/>
            <a:headEnd type="none" len="sm" w="sm"/>
            <a:tailEnd type="none" len="sm" w="sm"/>
          </a:ln>
        </p:spPr>
      </p:sp>
      <p:sp>
        <p:nvSpPr>
          <p:cNvPr name="Freeform 4" id="4"/>
          <p:cNvSpPr/>
          <p:nvPr/>
        </p:nvSpPr>
        <p:spPr>
          <a:xfrm flipH="false" flipV="false" rot="0">
            <a:off x="10133942" y="2521237"/>
            <a:ext cx="7125358" cy="4706960"/>
          </a:xfrm>
          <a:custGeom>
            <a:avLst/>
            <a:gdLst/>
            <a:ahLst/>
            <a:cxnLst/>
            <a:rect r="r" b="b" t="t" l="l"/>
            <a:pathLst>
              <a:path h="4706960" w="7125358">
                <a:moveTo>
                  <a:pt x="0" y="0"/>
                </a:moveTo>
                <a:lnTo>
                  <a:pt x="7125358" y="0"/>
                </a:lnTo>
                <a:lnTo>
                  <a:pt x="7125358" y="4706961"/>
                </a:lnTo>
                <a:lnTo>
                  <a:pt x="0" y="4706961"/>
                </a:lnTo>
                <a:lnTo>
                  <a:pt x="0" y="0"/>
                </a:lnTo>
                <a:close/>
              </a:path>
            </a:pathLst>
          </a:custGeom>
          <a:blipFill>
            <a:blip r:embed="rId2"/>
            <a:stretch>
              <a:fillRect l="-1440" t="0" r="0" b="-10248"/>
            </a:stretch>
          </a:blipFill>
        </p:spPr>
      </p:sp>
      <p:sp>
        <p:nvSpPr>
          <p:cNvPr name="TextBox 5" id="5"/>
          <p:cNvSpPr txBox="true"/>
          <p:nvPr/>
        </p:nvSpPr>
        <p:spPr>
          <a:xfrm rot="0">
            <a:off x="1028700" y="908645"/>
            <a:ext cx="16230600" cy="882844"/>
          </a:xfrm>
          <a:prstGeom prst="rect">
            <a:avLst/>
          </a:prstGeom>
        </p:spPr>
        <p:txBody>
          <a:bodyPr anchor="t" rtlCol="false" tIns="0" lIns="0" bIns="0" rIns="0">
            <a:spAutoFit/>
          </a:bodyPr>
          <a:lstStyle/>
          <a:p>
            <a:pPr algn="l">
              <a:lnSpc>
                <a:spcPts val="6632"/>
              </a:lnSpc>
            </a:pPr>
            <a:r>
              <a:rPr lang="en-US" sz="6632" spc="-145">
                <a:solidFill>
                  <a:srgbClr val="151213"/>
                </a:solidFill>
                <a:latin typeface="Anton"/>
                <a:ea typeface="Anton"/>
                <a:cs typeface="Anton"/>
                <a:sym typeface="Anton"/>
              </a:rPr>
              <a:t>SIGNIFICANT LEARNINGS</a:t>
            </a:r>
          </a:p>
        </p:txBody>
      </p:sp>
      <p:sp>
        <p:nvSpPr>
          <p:cNvPr name="TextBox 6" id="6"/>
          <p:cNvSpPr txBox="true"/>
          <p:nvPr/>
        </p:nvSpPr>
        <p:spPr>
          <a:xfrm rot="0">
            <a:off x="472970" y="2540287"/>
            <a:ext cx="8500833" cy="4498540"/>
          </a:xfrm>
          <a:prstGeom prst="rect">
            <a:avLst/>
          </a:prstGeom>
        </p:spPr>
        <p:txBody>
          <a:bodyPr anchor="t" rtlCol="false" tIns="0" lIns="0" bIns="0" rIns="0">
            <a:spAutoFit/>
          </a:bodyPr>
          <a:lstStyle/>
          <a:p>
            <a:pPr algn="l" marL="694273" indent="-347136" lvl="1">
              <a:lnSpc>
                <a:spcPts val="3537"/>
              </a:lnSpc>
              <a:buFont typeface="Arial"/>
              <a:buChar char="•"/>
            </a:pPr>
            <a:r>
              <a:rPr lang="en-US" sz="3215" spc="-176">
                <a:solidFill>
                  <a:srgbClr val="151213"/>
                </a:solidFill>
                <a:latin typeface="Public Sans"/>
                <a:ea typeface="Public Sans"/>
                <a:cs typeface="Public Sans"/>
                <a:sym typeface="Public Sans"/>
              </a:rPr>
              <a:t>The most valuable takeaway was the adoption of the UCD (User-Centered Design) approach. We learned that usability is not an "embellishment" added at the end of a project, but the very structure upon which it is programmed.</a:t>
            </a:r>
          </a:p>
          <a:p>
            <a:pPr algn="l" marL="694273" indent="-347136" lvl="1">
              <a:lnSpc>
                <a:spcPts val="3537"/>
              </a:lnSpc>
              <a:buFont typeface="Arial"/>
              <a:buChar char="•"/>
            </a:pPr>
            <a:r>
              <a:rPr lang="en-US" sz="3215" spc="-176">
                <a:solidFill>
                  <a:srgbClr val="151213"/>
                </a:solidFill>
                <a:latin typeface="Public Sans"/>
                <a:ea typeface="Public Sans"/>
                <a:cs typeface="Public Sans"/>
                <a:sym typeface="Public Sans"/>
              </a:rPr>
              <a:t>Understanding that software must adapt to humans (and not humans bending to understand the software) completely shifted our perspective as future developers.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EFEFEC"/>
        </a:solidFill>
      </p:bgPr>
    </p:bg>
    <p:spTree>
      <p:nvGrpSpPr>
        <p:cNvPr id="1" name=""/>
        <p:cNvGrpSpPr/>
        <p:nvPr/>
      </p:nvGrpSpPr>
      <p:grpSpPr>
        <a:xfrm>
          <a:off x="0" y="0"/>
          <a:ext cx="0" cy="0"/>
          <a:chOff x="0" y="0"/>
          <a:chExt cx="0" cy="0"/>
        </a:xfrm>
      </p:grpSpPr>
      <p:sp>
        <p:nvSpPr>
          <p:cNvPr name="AutoShape 2" id="2"/>
          <p:cNvSpPr/>
          <p:nvPr/>
        </p:nvSpPr>
        <p:spPr>
          <a:xfrm>
            <a:off x="-882858" y="492020"/>
            <a:ext cx="20053717" cy="0"/>
          </a:xfrm>
          <a:prstGeom prst="line">
            <a:avLst/>
          </a:prstGeom>
          <a:ln cap="flat" w="9525">
            <a:solidFill>
              <a:srgbClr val="151213"/>
            </a:solidFill>
            <a:prstDash val="solid"/>
            <a:headEnd type="none" len="sm" w="sm"/>
            <a:tailEnd type="none" len="sm" w="sm"/>
          </a:ln>
        </p:spPr>
      </p:sp>
      <p:sp>
        <p:nvSpPr>
          <p:cNvPr name="AutoShape 3" id="3"/>
          <p:cNvSpPr/>
          <p:nvPr/>
        </p:nvSpPr>
        <p:spPr>
          <a:xfrm>
            <a:off x="-882858" y="9818891"/>
            <a:ext cx="20053717" cy="0"/>
          </a:xfrm>
          <a:prstGeom prst="line">
            <a:avLst/>
          </a:prstGeom>
          <a:ln cap="flat" w="9525">
            <a:solidFill>
              <a:srgbClr val="151213"/>
            </a:solidFill>
            <a:prstDash val="solid"/>
            <a:headEnd type="none" len="sm" w="sm"/>
            <a:tailEnd type="none" len="sm" w="sm"/>
          </a:ln>
        </p:spPr>
      </p:sp>
      <p:sp>
        <p:nvSpPr>
          <p:cNvPr name="Freeform 4" id="4"/>
          <p:cNvSpPr/>
          <p:nvPr/>
        </p:nvSpPr>
        <p:spPr>
          <a:xfrm flipH="false" flipV="false" rot="0">
            <a:off x="9495784" y="2985720"/>
            <a:ext cx="7964206" cy="4339471"/>
          </a:xfrm>
          <a:custGeom>
            <a:avLst/>
            <a:gdLst/>
            <a:ahLst/>
            <a:cxnLst/>
            <a:rect r="r" b="b" t="t" l="l"/>
            <a:pathLst>
              <a:path h="4339471" w="7964206">
                <a:moveTo>
                  <a:pt x="0" y="0"/>
                </a:moveTo>
                <a:lnTo>
                  <a:pt x="7964207" y="0"/>
                </a:lnTo>
                <a:lnTo>
                  <a:pt x="7964207" y="4339471"/>
                </a:lnTo>
                <a:lnTo>
                  <a:pt x="0" y="4339471"/>
                </a:lnTo>
                <a:lnTo>
                  <a:pt x="0" y="0"/>
                </a:lnTo>
                <a:close/>
              </a:path>
            </a:pathLst>
          </a:custGeom>
          <a:blipFill>
            <a:blip r:embed="rId2"/>
            <a:stretch>
              <a:fillRect l="-18706" t="-26593" r="-9659" b="-5807"/>
            </a:stretch>
          </a:blipFill>
        </p:spPr>
      </p:sp>
      <p:sp>
        <p:nvSpPr>
          <p:cNvPr name="TextBox 5" id="5"/>
          <p:cNvSpPr txBox="true"/>
          <p:nvPr/>
        </p:nvSpPr>
        <p:spPr>
          <a:xfrm rot="0">
            <a:off x="1028700" y="908645"/>
            <a:ext cx="16230600" cy="882844"/>
          </a:xfrm>
          <a:prstGeom prst="rect">
            <a:avLst/>
          </a:prstGeom>
        </p:spPr>
        <p:txBody>
          <a:bodyPr anchor="t" rtlCol="false" tIns="0" lIns="0" bIns="0" rIns="0">
            <a:spAutoFit/>
          </a:bodyPr>
          <a:lstStyle/>
          <a:p>
            <a:pPr algn="l">
              <a:lnSpc>
                <a:spcPts val="6632"/>
              </a:lnSpc>
            </a:pPr>
            <a:r>
              <a:rPr lang="en-US" sz="6632" spc="-145">
                <a:solidFill>
                  <a:srgbClr val="151213"/>
                </a:solidFill>
                <a:latin typeface="Anton"/>
                <a:ea typeface="Anton"/>
                <a:cs typeface="Anton"/>
                <a:sym typeface="Anton"/>
              </a:rPr>
              <a:t>EVIDENCE OF ACHIEVING COURSE OBJECTIVES</a:t>
            </a:r>
          </a:p>
        </p:txBody>
      </p:sp>
      <p:sp>
        <p:nvSpPr>
          <p:cNvPr name="TextBox 6" id="6"/>
          <p:cNvSpPr txBox="true"/>
          <p:nvPr/>
        </p:nvSpPr>
        <p:spPr>
          <a:xfrm rot="0">
            <a:off x="472970" y="2858810"/>
            <a:ext cx="8500833" cy="4050865"/>
          </a:xfrm>
          <a:prstGeom prst="rect">
            <a:avLst/>
          </a:prstGeom>
        </p:spPr>
        <p:txBody>
          <a:bodyPr anchor="t" rtlCol="false" tIns="0" lIns="0" bIns="0" rIns="0">
            <a:spAutoFit/>
          </a:bodyPr>
          <a:lstStyle/>
          <a:p>
            <a:pPr algn="l" marL="694273" indent="-347136" lvl="1">
              <a:lnSpc>
                <a:spcPts val="3537"/>
              </a:lnSpc>
              <a:buFont typeface="Arial"/>
              <a:buChar char="•"/>
            </a:pPr>
            <a:r>
              <a:rPr lang="en-US" sz="3215" spc="-176">
                <a:solidFill>
                  <a:srgbClr val="151213"/>
                </a:solidFill>
                <a:latin typeface="Public Sans"/>
                <a:ea typeface="Public Sans"/>
                <a:cs typeface="Public Sans"/>
                <a:sym typeface="Public Sans"/>
              </a:rPr>
              <a:t>We progressed from a basic, empirical software requirements specification (SRS) to a robust catalog focused on accessibility.</a:t>
            </a:r>
          </a:p>
          <a:p>
            <a:pPr algn="l" marL="694273" indent="-347136" lvl="1">
              <a:lnSpc>
                <a:spcPts val="3537"/>
              </a:lnSpc>
              <a:buFont typeface="Arial"/>
              <a:buChar char="•"/>
            </a:pPr>
            <a:r>
              <a:rPr lang="en-US" sz="3215" spc="-176">
                <a:solidFill>
                  <a:srgbClr val="151213"/>
                </a:solidFill>
                <a:latin typeface="Public Sans"/>
                <a:ea typeface="Public Sans"/>
                <a:cs typeface="Public Sans"/>
                <a:sym typeface="Public Sans"/>
              </a:rPr>
              <a:t>We successfully applied a complete design cycle: contextual research, low-fidelity sketching, ergonomic optimization, high-fidelity interactive prototyping, and the methodological simulation of usability testing in a formal results report.</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EFEFEC"/>
        </a:solidFill>
      </p:bgPr>
    </p:bg>
    <p:spTree>
      <p:nvGrpSpPr>
        <p:cNvPr id="1" name=""/>
        <p:cNvGrpSpPr/>
        <p:nvPr/>
      </p:nvGrpSpPr>
      <p:grpSpPr>
        <a:xfrm>
          <a:off x="0" y="0"/>
          <a:ext cx="0" cy="0"/>
          <a:chOff x="0" y="0"/>
          <a:chExt cx="0" cy="0"/>
        </a:xfrm>
      </p:grpSpPr>
      <p:sp>
        <p:nvSpPr>
          <p:cNvPr name="AutoShape 2" id="2"/>
          <p:cNvSpPr/>
          <p:nvPr/>
        </p:nvSpPr>
        <p:spPr>
          <a:xfrm>
            <a:off x="-882858" y="492020"/>
            <a:ext cx="20053717" cy="0"/>
          </a:xfrm>
          <a:prstGeom prst="line">
            <a:avLst/>
          </a:prstGeom>
          <a:ln cap="flat" w="9525">
            <a:solidFill>
              <a:srgbClr val="151213"/>
            </a:solidFill>
            <a:prstDash val="solid"/>
            <a:headEnd type="none" len="sm" w="sm"/>
            <a:tailEnd type="none" len="sm" w="sm"/>
          </a:ln>
        </p:spPr>
      </p:sp>
      <p:sp>
        <p:nvSpPr>
          <p:cNvPr name="AutoShape 3" id="3"/>
          <p:cNvSpPr/>
          <p:nvPr/>
        </p:nvSpPr>
        <p:spPr>
          <a:xfrm>
            <a:off x="-882858" y="9818891"/>
            <a:ext cx="20053717" cy="0"/>
          </a:xfrm>
          <a:prstGeom prst="line">
            <a:avLst/>
          </a:prstGeom>
          <a:ln cap="flat" w="9525">
            <a:solidFill>
              <a:srgbClr val="151213"/>
            </a:solidFill>
            <a:prstDash val="solid"/>
            <a:headEnd type="none" len="sm" w="sm"/>
            <a:tailEnd type="none" len="sm" w="sm"/>
          </a:ln>
        </p:spPr>
      </p:sp>
      <p:sp>
        <p:nvSpPr>
          <p:cNvPr name="Freeform 4" id="4"/>
          <p:cNvSpPr/>
          <p:nvPr/>
        </p:nvSpPr>
        <p:spPr>
          <a:xfrm flipH="false" flipV="false" rot="0">
            <a:off x="9925013" y="2915439"/>
            <a:ext cx="6657442" cy="5552307"/>
          </a:xfrm>
          <a:custGeom>
            <a:avLst/>
            <a:gdLst/>
            <a:ahLst/>
            <a:cxnLst/>
            <a:rect r="r" b="b" t="t" l="l"/>
            <a:pathLst>
              <a:path h="5552307" w="6657442">
                <a:moveTo>
                  <a:pt x="0" y="0"/>
                </a:moveTo>
                <a:lnTo>
                  <a:pt x="6657443" y="0"/>
                </a:lnTo>
                <a:lnTo>
                  <a:pt x="6657443" y="5552307"/>
                </a:lnTo>
                <a:lnTo>
                  <a:pt x="0" y="5552307"/>
                </a:lnTo>
                <a:lnTo>
                  <a:pt x="0" y="0"/>
                </a:lnTo>
                <a:close/>
              </a:path>
            </a:pathLst>
          </a:custGeom>
          <a:blipFill>
            <a:blip r:embed="rId2"/>
            <a:stretch>
              <a:fillRect l="0" t="0" r="0" b="0"/>
            </a:stretch>
          </a:blipFill>
        </p:spPr>
      </p:sp>
      <p:sp>
        <p:nvSpPr>
          <p:cNvPr name="TextBox 5" id="5"/>
          <p:cNvSpPr txBox="true"/>
          <p:nvPr/>
        </p:nvSpPr>
        <p:spPr>
          <a:xfrm rot="0">
            <a:off x="472970" y="908645"/>
            <a:ext cx="16786330" cy="1721044"/>
          </a:xfrm>
          <a:prstGeom prst="rect">
            <a:avLst/>
          </a:prstGeom>
        </p:spPr>
        <p:txBody>
          <a:bodyPr anchor="t" rtlCol="false" tIns="0" lIns="0" bIns="0" rIns="0">
            <a:spAutoFit/>
          </a:bodyPr>
          <a:lstStyle/>
          <a:p>
            <a:pPr algn="l">
              <a:lnSpc>
                <a:spcPts val="6632"/>
              </a:lnSpc>
            </a:pPr>
            <a:r>
              <a:rPr lang="en-US" sz="6632" spc="-145">
                <a:solidFill>
                  <a:srgbClr val="151213"/>
                </a:solidFill>
                <a:latin typeface="Anton"/>
                <a:ea typeface="Anton"/>
                <a:cs typeface="Anton"/>
                <a:sym typeface="Anton"/>
              </a:rPr>
              <a:t> ACQUISITION OF ADDITIONAL SKILLS (SOFT AND TECHNICAL SKILLS)</a:t>
            </a:r>
          </a:p>
        </p:txBody>
      </p:sp>
      <p:sp>
        <p:nvSpPr>
          <p:cNvPr name="TextBox 6" id="6"/>
          <p:cNvSpPr txBox="true"/>
          <p:nvPr/>
        </p:nvSpPr>
        <p:spPr>
          <a:xfrm rot="0">
            <a:off x="472970" y="3292757"/>
            <a:ext cx="8500833" cy="5393890"/>
          </a:xfrm>
          <a:prstGeom prst="rect">
            <a:avLst/>
          </a:prstGeom>
        </p:spPr>
        <p:txBody>
          <a:bodyPr anchor="t" rtlCol="false" tIns="0" lIns="0" bIns="0" rIns="0">
            <a:spAutoFit/>
          </a:bodyPr>
          <a:lstStyle/>
          <a:p>
            <a:pPr algn="l" marL="694273" indent="-347136" lvl="1">
              <a:lnSpc>
                <a:spcPts val="3537"/>
              </a:lnSpc>
              <a:buFont typeface="Arial"/>
              <a:buChar char="•"/>
            </a:pPr>
            <a:r>
              <a:rPr lang="en-US" b="true" sz="3215" spc="-176">
                <a:solidFill>
                  <a:srgbClr val="151213"/>
                </a:solidFill>
                <a:latin typeface="Public Sans Bold"/>
                <a:ea typeface="Public Sans Bold"/>
                <a:cs typeface="Public Sans Bold"/>
                <a:sym typeface="Public Sans Bold"/>
              </a:rPr>
              <a:t>Simulation and Technical Testing:</a:t>
            </a:r>
            <a:r>
              <a:rPr lang="en-US" sz="3215" spc="-176">
                <a:solidFill>
                  <a:srgbClr val="151213"/>
                </a:solidFill>
                <a:latin typeface="Public Sans"/>
                <a:ea typeface="Public Sans"/>
                <a:cs typeface="Public Sans"/>
                <a:sym typeface="Public Sans"/>
              </a:rPr>
              <a:t> We learned how to structure cross-referenced checklists and observation methodologies.</a:t>
            </a:r>
          </a:p>
          <a:p>
            <a:pPr algn="l" marL="694273" indent="-347136" lvl="1">
              <a:lnSpc>
                <a:spcPts val="3537"/>
              </a:lnSpc>
              <a:buFont typeface="Arial"/>
              <a:buChar char="•"/>
            </a:pPr>
            <a:r>
              <a:rPr lang="en-US" b="true" sz="3215" spc="-176">
                <a:solidFill>
                  <a:srgbClr val="151213"/>
                </a:solidFill>
                <a:latin typeface="Public Sans Bold"/>
                <a:ea typeface="Public Sans Bold"/>
                <a:cs typeface="Public Sans Bold"/>
                <a:sym typeface="Public Sans Bold"/>
              </a:rPr>
              <a:t>Student Project Management:</a:t>
            </a:r>
            <a:r>
              <a:rPr lang="en-US" sz="3215" spc="-176">
                <a:solidFill>
                  <a:srgbClr val="151213"/>
                </a:solidFill>
                <a:latin typeface="Public Sans"/>
                <a:ea typeface="Public Sans"/>
                <a:cs typeface="Public Sans"/>
                <a:sym typeface="Public Sans"/>
              </a:rPr>
              <a:t> Balancing responsibilities among the 5 members taught us to coordinate research, design, and documentation tasks in parallel under real-time constraints.</a:t>
            </a:r>
          </a:p>
          <a:p>
            <a:pPr algn="l" marL="694273" indent="-347136" lvl="1">
              <a:lnSpc>
                <a:spcPts val="3537"/>
              </a:lnSpc>
              <a:buFont typeface="Arial"/>
              <a:buChar char="•"/>
            </a:pPr>
            <a:r>
              <a:rPr lang="en-US" b="true" sz="3215" spc="-176">
                <a:solidFill>
                  <a:srgbClr val="151213"/>
                </a:solidFill>
                <a:latin typeface="Public Sans Bold"/>
                <a:ea typeface="Public Sans Bold"/>
                <a:cs typeface="Public Sans Bold"/>
                <a:sym typeface="Public Sans Bold"/>
              </a:rPr>
              <a:t>Visual Communication and Synthesis:</a:t>
            </a:r>
            <a:r>
              <a:rPr lang="en-US" sz="3215" spc="-176">
                <a:solidFill>
                  <a:srgbClr val="151213"/>
                </a:solidFill>
                <a:latin typeface="Public Sans"/>
                <a:ea typeface="Public Sans"/>
                <a:cs typeface="Public Sans"/>
                <a:sym typeface="Public Sans"/>
              </a:rPr>
              <a:t> Creating the final poster and design report forced us to transform complex technical data into clear visual arguments.</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EFEFEC"/>
        </a:solidFill>
      </p:bgPr>
    </p:bg>
    <p:spTree>
      <p:nvGrpSpPr>
        <p:cNvPr id="1" name=""/>
        <p:cNvGrpSpPr/>
        <p:nvPr/>
      </p:nvGrpSpPr>
      <p:grpSpPr>
        <a:xfrm>
          <a:off x="0" y="0"/>
          <a:ext cx="0" cy="0"/>
          <a:chOff x="0" y="0"/>
          <a:chExt cx="0" cy="0"/>
        </a:xfrm>
      </p:grpSpPr>
      <p:sp>
        <p:nvSpPr>
          <p:cNvPr name="Freeform 2" id="2"/>
          <p:cNvSpPr/>
          <p:nvPr/>
        </p:nvSpPr>
        <p:spPr>
          <a:xfrm flipH="false" flipV="false" rot="0">
            <a:off x="472970" y="8057333"/>
            <a:ext cx="1200967" cy="1200967"/>
          </a:xfrm>
          <a:custGeom>
            <a:avLst/>
            <a:gdLst/>
            <a:ahLst/>
            <a:cxnLst/>
            <a:rect r="r" b="b" t="t" l="l"/>
            <a:pathLst>
              <a:path h="1200967" w="1200967">
                <a:moveTo>
                  <a:pt x="0" y="0"/>
                </a:moveTo>
                <a:lnTo>
                  <a:pt x="1200967" y="0"/>
                </a:lnTo>
                <a:lnTo>
                  <a:pt x="1200967" y="1200967"/>
                </a:lnTo>
                <a:lnTo>
                  <a:pt x="0" y="12009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558254" y="1921120"/>
            <a:ext cx="11171492" cy="6409026"/>
          </a:xfrm>
          <a:prstGeom prst="rect">
            <a:avLst/>
          </a:prstGeom>
        </p:spPr>
        <p:txBody>
          <a:bodyPr anchor="t" rtlCol="false" tIns="0" lIns="0" bIns="0" rIns="0">
            <a:spAutoFit/>
          </a:bodyPr>
          <a:lstStyle/>
          <a:p>
            <a:pPr algn="ctr">
              <a:lnSpc>
                <a:spcPts val="24698"/>
              </a:lnSpc>
            </a:pPr>
            <a:r>
              <a:rPr lang="en-US" sz="24698" spc="-543">
                <a:solidFill>
                  <a:srgbClr val="151213"/>
                </a:solidFill>
                <a:latin typeface="Anton"/>
                <a:ea typeface="Anton"/>
                <a:cs typeface="Anton"/>
                <a:sym typeface="Anton"/>
              </a:rPr>
              <a:t>THANK</a:t>
            </a:r>
          </a:p>
          <a:p>
            <a:pPr algn="ctr">
              <a:lnSpc>
                <a:spcPts val="24698"/>
              </a:lnSpc>
            </a:pPr>
            <a:r>
              <a:rPr lang="en-US" sz="24698" spc="-543">
                <a:solidFill>
                  <a:srgbClr val="151213"/>
                </a:solidFill>
                <a:latin typeface="Anton"/>
                <a:ea typeface="Anton"/>
                <a:cs typeface="Anton"/>
                <a:sym typeface="Anton"/>
              </a:rPr>
              <a:t>YOU</a:t>
            </a:r>
          </a:p>
        </p:txBody>
      </p:sp>
      <p:sp>
        <p:nvSpPr>
          <p:cNvPr name="AutoShape 4" id="4"/>
          <p:cNvSpPr/>
          <p:nvPr/>
        </p:nvSpPr>
        <p:spPr>
          <a:xfrm>
            <a:off x="-882858" y="492020"/>
            <a:ext cx="20053717" cy="0"/>
          </a:xfrm>
          <a:prstGeom prst="line">
            <a:avLst/>
          </a:prstGeom>
          <a:ln cap="flat" w="9525">
            <a:solidFill>
              <a:srgbClr val="151213"/>
            </a:solidFill>
            <a:prstDash val="solid"/>
            <a:headEnd type="none" len="sm" w="sm"/>
            <a:tailEnd type="none" len="sm" w="sm"/>
          </a:ln>
        </p:spPr>
      </p:sp>
      <p:sp>
        <p:nvSpPr>
          <p:cNvPr name="AutoShape 5" id="5"/>
          <p:cNvSpPr/>
          <p:nvPr/>
        </p:nvSpPr>
        <p:spPr>
          <a:xfrm>
            <a:off x="-882858" y="9818891"/>
            <a:ext cx="20053717" cy="0"/>
          </a:xfrm>
          <a:prstGeom prst="line">
            <a:avLst/>
          </a:prstGeom>
          <a:ln cap="flat" w="9525">
            <a:solidFill>
              <a:srgbClr val="151213"/>
            </a:solidFill>
            <a:prstDash val="solid"/>
            <a:headEnd type="none" len="sm" w="sm"/>
            <a:tailEnd type="none" len="sm" w="sm"/>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DAHKTjDtNAQ</dc:identifier>
  <dcterms:modified xsi:type="dcterms:W3CDTF">2011-08-01T06:04:30Z</dcterms:modified>
  <cp:revision>1</cp:revision>
  <dc:title>Beige Bold Modern Ad Campaign Creative Brief Business Presentation</dc:title>
</cp:coreProperties>
</file>